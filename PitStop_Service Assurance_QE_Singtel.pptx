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60" r:id="rId5"/>
  </p:sldMasterIdLst>
  <p:notesMasterIdLst>
    <p:notesMasterId r:id="rId22"/>
  </p:notesMasterIdLst>
  <p:sldIdLst>
    <p:sldId id="2147480954" r:id="rId6"/>
    <p:sldId id="2147480959" r:id="rId7"/>
    <p:sldId id="2147480957" r:id="rId8"/>
    <p:sldId id="2147480930" r:id="rId9"/>
    <p:sldId id="2147480961" r:id="rId10"/>
    <p:sldId id="2147480962" r:id="rId11"/>
    <p:sldId id="2147480963" r:id="rId12"/>
    <p:sldId id="2147480955" r:id="rId13"/>
    <p:sldId id="2147480964" r:id="rId14"/>
    <p:sldId id="2147480965" r:id="rId15"/>
    <p:sldId id="2147480966" r:id="rId16"/>
    <p:sldId id="2147480956" r:id="rId17"/>
    <p:sldId id="2147480967" r:id="rId18"/>
    <p:sldId id="2147480968" r:id="rId19"/>
    <p:sldId id="2147480969" r:id="rId20"/>
    <p:sldId id="214748093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2F2F2"/>
    <a:srgbClr val="92400E"/>
    <a:srgbClr val="F0F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162" autoAdjust="0"/>
  </p:normalViewPr>
  <p:slideViewPr>
    <p:cSldViewPr snapToGrid="0" snapToObjects="1">
      <p:cViewPr>
        <p:scale>
          <a:sx n="90" d="100"/>
          <a:sy n="90" d="100"/>
        </p:scale>
        <p:origin x="6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07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5D1B7-14D6-714A-6CA1-22A32E7F3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F57B7-C995-0DC2-ACB5-5353E490BFEB}"/>
              </a:ext>
            </a:extLst>
          </p:cNvPr>
          <p:cNvSpPr>
            <a:spLocks noGrp="1" noRot="1" noChangeAspect="1"/>
          </p:cNvSpPr>
          <p:nvPr>
            <p:ph type="sldImg"/>
          </p:nvPr>
        </p:nvSpPr>
        <p:spPr>
          <a:xfrm>
            <a:off x="93663" y="288925"/>
            <a:ext cx="4964112" cy="2792413"/>
          </a:xfrm>
        </p:spPr>
        <p:txBody>
          <a:bodyPr/>
          <a:lstStyle/>
          <a:p>
            <a:endParaRPr lang="en-SG"/>
          </a:p>
        </p:txBody>
      </p:sp>
      <p:sp>
        <p:nvSpPr>
          <p:cNvPr id="3" name="Notes Placeholder 2">
            <a:extLst>
              <a:ext uri="{FF2B5EF4-FFF2-40B4-BE49-F238E27FC236}">
                <a16:creationId xmlns:a16="http://schemas.microsoft.com/office/drawing/2014/main" id="{3842A90C-EE2C-7679-C0EE-178756D315AA}"/>
              </a:ext>
            </a:extLst>
          </p:cNvPr>
          <p:cNvSpPr>
            <a:spLocks noGrp="1"/>
          </p:cNvSpPr>
          <p:nvPr>
            <p:ph type="body" idx="1"/>
          </p:nvPr>
        </p:nvSpPr>
        <p:spPr/>
        <p:txBody>
          <a:bodyPr/>
          <a:lstStyle/>
          <a:p>
            <a:endParaRPr lang="en-US"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C637F00-33CB-BDD8-47B6-A1DAA961D44B}"/>
              </a:ext>
            </a:extLst>
          </p:cNvPr>
          <p:cNvSpPr>
            <a:spLocks noGrp="1"/>
          </p:cNvSpPr>
          <p:nvPr>
            <p:ph type="sldNum" sz="quarter" idx="5"/>
          </p:nvPr>
        </p:nvSpPr>
        <p:spPr/>
        <p:txBody>
          <a:bodyPr/>
          <a:lstStyle/>
          <a:p>
            <a:pPr marL="0" marR="0" lvl="0" indent="0" algn="r" defTabSz="723653"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a:ea typeface="+mn-ea"/>
                <a:cs typeface="+mn-cs"/>
              </a:rPr>
              <a:pPr marL="0" marR="0" lvl="0" indent="0" algn="r" defTabSz="723653"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134512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C15C7-C66C-12FE-5EBA-603633EA6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5E0DD-71E7-6E87-5490-BF3DFC827DE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0697CFB-8FD8-8E8B-EB19-0A178E8AE5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4024A9-8DD9-801F-C489-4024EF0807F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15224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FD39D-0957-BC22-FEAE-9A30189DA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7A696-CD02-B9B7-3BE3-D58DBC911D34}"/>
              </a:ext>
            </a:extLst>
          </p:cNvPr>
          <p:cNvSpPr>
            <a:spLocks noGrp="1" noRot="1" noChangeAspect="1"/>
          </p:cNvSpPr>
          <p:nvPr>
            <p:ph type="sldImg"/>
          </p:nvPr>
        </p:nvSpPr>
        <p:spPr>
          <a:xfrm>
            <a:off x="93663" y="288925"/>
            <a:ext cx="4964112" cy="2792413"/>
          </a:xfrm>
        </p:spPr>
        <p:txBody>
          <a:bodyPr/>
          <a:lstStyle/>
          <a:p>
            <a:endParaRPr lang="en-SG"/>
          </a:p>
        </p:txBody>
      </p:sp>
      <p:sp>
        <p:nvSpPr>
          <p:cNvPr id="3" name="Notes Placeholder 2">
            <a:extLst>
              <a:ext uri="{FF2B5EF4-FFF2-40B4-BE49-F238E27FC236}">
                <a16:creationId xmlns:a16="http://schemas.microsoft.com/office/drawing/2014/main" id="{37395584-58A9-DDEC-E176-37FF5944F802}"/>
              </a:ext>
            </a:extLst>
          </p:cNvPr>
          <p:cNvSpPr>
            <a:spLocks noGrp="1"/>
          </p:cNvSpPr>
          <p:nvPr>
            <p:ph type="body" idx="1"/>
          </p:nvPr>
        </p:nvSpPr>
        <p:spPr/>
        <p:txBody>
          <a:bodyPr/>
          <a:lstStyle/>
          <a:p>
            <a:endParaRPr lang="en-US"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ACF3C4C-2CEC-038A-E934-FE683ED8E51E}"/>
              </a:ext>
            </a:extLst>
          </p:cNvPr>
          <p:cNvSpPr>
            <a:spLocks noGrp="1"/>
          </p:cNvSpPr>
          <p:nvPr>
            <p:ph type="sldNum" sz="quarter" idx="5"/>
          </p:nvPr>
        </p:nvSpPr>
        <p:spPr/>
        <p:txBody>
          <a:bodyPr/>
          <a:lstStyle/>
          <a:p>
            <a:pPr marL="0" marR="0" lvl="0" indent="0" algn="r" defTabSz="723653"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a:ea typeface="+mn-ea"/>
                <a:cs typeface="+mn-cs"/>
              </a:rPr>
              <a:pPr marL="0" marR="0" lvl="0" indent="0" algn="r" defTabSz="723653"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1906622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330D-84BF-D5F1-A8D4-5E18A15B0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C22F3-72F8-E4EF-F16B-488F847F5B1D}"/>
              </a:ext>
            </a:extLst>
          </p:cNvPr>
          <p:cNvSpPr>
            <a:spLocks noGrp="1" noRot="1" noChangeAspect="1"/>
          </p:cNvSpPr>
          <p:nvPr>
            <p:ph type="sldImg"/>
          </p:nvPr>
        </p:nvSpPr>
        <p:spPr>
          <a:xfrm>
            <a:off x="93663" y="288925"/>
            <a:ext cx="4964112" cy="2792413"/>
          </a:xfrm>
        </p:spPr>
        <p:txBody>
          <a:bodyPr/>
          <a:lstStyle/>
          <a:p>
            <a:endParaRPr lang="en-SG"/>
          </a:p>
        </p:txBody>
      </p:sp>
      <p:sp>
        <p:nvSpPr>
          <p:cNvPr id="3" name="Notes Placeholder 2">
            <a:extLst>
              <a:ext uri="{FF2B5EF4-FFF2-40B4-BE49-F238E27FC236}">
                <a16:creationId xmlns:a16="http://schemas.microsoft.com/office/drawing/2014/main" id="{FC19E9B0-261E-9465-0F72-FEE509364E07}"/>
              </a:ext>
            </a:extLst>
          </p:cNvPr>
          <p:cNvSpPr>
            <a:spLocks noGrp="1"/>
          </p:cNvSpPr>
          <p:nvPr>
            <p:ph type="body" idx="1"/>
          </p:nvPr>
        </p:nvSpPr>
        <p:spPr/>
        <p:txBody>
          <a:bodyPr/>
          <a:lstStyle/>
          <a:p>
            <a:endParaRPr lang="en-US"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B44D805-1E5A-3A85-91DC-FBA8E5BCBDBA}"/>
              </a:ext>
            </a:extLst>
          </p:cNvPr>
          <p:cNvSpPr>
            <a:spLocks noGrp="1"/>
          </p:cNvSpPr>
          <p:nvPr>
            <p:ph type="sldNum" sz="quarter" idx="5"/>
          </p:nvPr>
        </p:nvSpPr>
        <p:spPr/>
        <p:txBody>
          <a:bodyPr/>
          <a:lstStyle/>
          <a:p>
            <a:pPr marL="0" marR="0" lvl="0" indent="0" algn="r" defTabSz="723653"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a:ea typeface="+mn-ea"/>
                <a:cs typeface="+mn-cs"/>
              </a:rPr>
              <a:pPr marL="0" marR="0" lvl="0" indent="0" algn="r" defTabSz="723653"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9718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8401B-D5C7-5746-7A26-B52BD1C63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367A22-EC89-9917-A757-A54E2FA1A26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5C5D2FE9-F330-814D-8072-0FAD03E472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66AA9A-236B-87B6-CAB9-BC0CFA4FC1A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39149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973A-268F-DD20-8744-0C2102F73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412A6-5473-72DC-E961-931EDFEAB518}"/>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7DA1CF91-BD2C-8A49-0866-607933E39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030E13-7059-B51F-69F3-72BDCBBF95D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64298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962B2-19C1-1071-FC5C-0E65B8AAE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D7D1C-99A7-839D-72C2-81407043CAD2}"/>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B126DF1E-BCBE-D786-562E-0195B4900D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FA1C1B-8602-5654-709B-5D0BC2DB05C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94753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23855-32F9-72BD-D65D-4E2FB4922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BB0FD-FDDA-9CD8-B5A7-00705E6B4361}"/>
              </a:ext>
            </a:extLst>
          </p:cNvPr>
          <p:cNvSpPr>
            <a:spLocks noGrp="1" noRot="1" noChangeAspect="1"/>
          </p:cNvSpPr>
          <p:nvPr>
            <p:ph type="sldImg"/>
          </p:nvPr>
        </p:nvSpPr>
        <p:spPr>
          <a:xfrm>
            <a:off x="93663" y="288925"/>
            <a:ext cx="4964112" cy="2792413"/>
          </a:xfrm>
        </p:spPr>
        <p:txBody>
          <a:bodyPr/>
          <a:lstStyle/>
          <a:p>
            <a:endParaRPr lang="en-SG"/>
          </a:p>
        </p:txBody>
      </p:sp>
      <p:sp>
        <p:nvSpPr>
          <p:cNvPr id="3" name="Notes Placeholder 2">
            <a:extLst>
              <a:ext uri="{FF2B5EF4-FFF2-40B4-BE49-F238E27FC236}">
                <a16:creationId xmlns:a16="http://schemas.microsoft.com/office/drawing/2014/main" id="{532D38B7-5740-40E1-9F27-B1A4679F3E25}"/>
              </a:ext>
            </a:extLst>
          </p:cNvPr>
          <p:cNvSpPr>
            <a:spLocks noGrp="1"/>
          </p:cNvSpPr>
          <p:nvPr>
            <p:ph type="body" idx="1"/>
          </p:nvPr>
        </p:nvSpPr>
        <p:spPr/>
        <p:txBody>
          <a:bodyPr/>
          <a:lstStyle/>
          <a:p>
            <a:endParaRPr lang="en-US"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BB5A591-D320-DEDF-207B-5803A83EFA9D}"/>
              </a:ext>
            </a:extLst>
          </p:cNvPr>
          <p:cNvSpPr>
            <a:spLocks noGrp="1"/>
          </p:cNvSpPr>
          <p:nvPr>
            <p:ph type="sldNum" sz="quarter" idx="5"/>
          </p:nvPr>
        </p:nvSpPr>
        <p:spPr/>
        <p:txBody>
          <a:bodyPr/>
          <a:lstStyle/>
          <a:p>
            <a:pPr marL="0" marR="0" lvl="0" indent="0" algn="r" defTabSz="723653"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a:ea typeface="+mn-ea"/>
                <a:cs typeface="+mn-cs"/>
              </a:rPr>
              <a:pPr marL="0" marR="0" lvl="0" indent="0" algn="r" defTabSz="723653"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906739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6DB4-BEC5-105B-E177-65430E090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D603C-1A22-A47C-2581-4E0ED439BB3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5BD2A69-7AB6-DFF1-7FFF-19E429377A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D458D1-E8D3-22D6-F11B-C419D66CD9C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2332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DDF4D-5347-B1F1-4733-F0659BBC2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4D69F-09A9-ABA6-632A-9B65A57F1AB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7161B71-3779-246D-A30C-8969E768E8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F22124-6A1A-4F5B-2E24-DD3B135CBD5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92210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10A53-EF74-A40A-1C8D-34A79B93E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5F5B9-CA01-A0BB-615C-6DC5354218FF}"/>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50D3A8E-DF16-1A5F-42B0-1CB38B4C63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34052D-4A01-090F-B0F3-8D67C6FB5BE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79097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22C2-3939-E83A-2EBE-7A217C257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F6FED-A762-8E89-AE60-534D34F35E9E}"/>
              </a:ext>
            </a:extLst>
          </p:cNvPr>
          <p:cNvSpPr>
            <a:spLocks noGrp="1" noRot="1" noChangeAspect="1"/>
          </p:cNvSpPr>
          <p:nvPr>
            <p:ph type="sldImg"/>
          </p:nvPr>
        </p:nvSpPr>
        <p:spPr>
          <a:xfrm>
            <a:off x="93663" y="288925"/>
            <a:ext cx="4964112" cy="2792413"/>
          </a:xfrm>
        </p:spPr>
        <p:txBody>
          <a:bodyPr/>
          <a:lstStyle/>
          <a:p>
            <a:endParaRPr lang="en-SG"/>
          </a:p>
        </p:txBody>
      </p:sp>
      <p:sp>
        <p:nvSpPr>
          <p:cNvPr id="3" name="Notes Placeholder 2">
            <a:extLst>
              <a:ext uri="{FF2B5EF4-FFF2-40B4-BE49-F238E27FC236}">
                <a16:creationId xmlns:a16="http://schemas.microsoft.com/office/drawing/2014/main" id="{0E664E1B-AE95-2B0E-36DC-4F0E7C002285}"/>
              </a:ext>
            </a:extLst>
          </p:cNvPr>
          <p:cNvSpPr>
            <a:spLocks noGrp="1"/>
          </p:cNvSpPr>
          <p:nvPr>
            <p:ph type="body" idx="1"/>
          </p:nvPr>
        </p:nvSpPr>
        <p:spPr/>
        <p:txBody>
          <a:bodyPr/>
          <a:lstStyle/>
          <a:p>
            <a:endParaRPr lang="en-US" sz="110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88797EE-3DD1-532A-C02F-4D9448344007}"/>
              </a:ext>
            </a:extLst>
          </p:cNvPr>
          <p:cNvSpPr>
            <a:spLocks noGrp="1"/>
          </p:cNvSpPr>
          <p:nvPr>
            <p:ph type="sldNum" sz="quarter" idx="5"/>
          </p:nvPr>
        </p:nvSpPr>
        <p:spPr/>
        <p:txBody>
          <a:bodyPr/>
          <a:lstStyle/>
          <a:p>
            <a:pPr marL="0" marR="0" lvl="0" indent="0" algn="r" defTabSz="723653"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a:ea typeface="+mn-ea"/>
                <a:cs typeface="+mn-cs"/>
              </a:rPr>
              <a:pPr marL="0" marR="0" lvl="0" indent="0" algn="r" defTabSz="723653"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188003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7D438-D131-D20E-6547-979E92C11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29A15-39AF-D8FF-63A8-B2C998BCF2C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284E83A8-2BD0-6B7F-66C1-0BFB5840C5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D7A66C-67BC-FEA5-1951-E18DAA80E46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27924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C30CE-5133-4644-3A07-D8953829E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C6C1E-26E6-7090-93CC-F9D12D5E6B6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3A1A6B2-6BB8-E76A-221A-B59D1B3A37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1E46F1-EBED-66AB-3E03-2E4609B27B7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50296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BFF18-88F1-0278-E732-6C05619A7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ACE3E-C572-C590-9309-BE515829214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A3875AC-A4E5-B2E6-A46F-6B88F509AE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09C17E-145F-6046-DD78-C4593EA236F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8179616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9.png"/><Relationship Id="rId4"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Slide_Left_Btm_HP_Grey">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75EAB5D-E61D-044E-5704-E803416002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09349" y="90223"/>
            <a:ext cx="596503" cy="324313"/>
          </a:xfrm>
          <a:prstGeom prst="rect">
            <a:avLst/>
          </a:prstGeom>
        </p:spPr>
      </p:pic>
    </p:spTree>
    <p:extLst>
      <p:ext uri="{BB962C8B-B14F-4D97-AF65-F5344CB8AC3E}">
        <p14:creationId xmlns:p14="http://schemas.microsoft.com/office/powerpoint/2010/main" val="973625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with Frame 2">
    <p:spTree>
      <p:nvGrpSpPr>
        <p:cNvPr id="1" name=""/>
        <p:cNvGrpSpPr/>
        <p:nvPr/>
      </p:nvGrpSpPr>
      <p:grpSpPr>
        <a:xfrm>
          <a:off x="0" y="0"/>
          <a:ext cx="0" cy="0"/>
          <a:chOff x="0" y="0"/>
          <a:chExt cx="0" cy="0"/>
        </a:xfrm>
      </p:grpSpPr>
      <p:sp>
        <p:nvSpPr>
          <p:cNvPr id="4" name="Graphic 1">
            <a:extLst>
              <a:ext uri="{FF2B5EF4-FFF2-40B4-BE49-F238E27FC236}">
                <a16:creationId xmlns:a16="http://schemas.microsoft.com/office/drawing/2014/main" id="{DEDFF2D4-A8BF-D453-600D-6CBCB40EF7B0}"/>
              </a:ext>
            </a:extLst>
          </p:cNvPr>
          <p:cNvSpPr/>
          <p:nvPr userDrawn="1"/>
        </p:nvSpPr>
        <p:spPr>
          <a:xfrm>
            <a:off x="0" y="1530563"/>
            <a:ext cx="1195382" cy="2809611"/>
          </a:xfrm>
          <a:custGeom>
            <a:avLst/>
            <a:gdLst>
              <a:gd name="connsiteX0" fmla="*/ 1522679 w 1593842"/>
              <a:gd name="connsiteY0" fmla="*/ 1539022 h 3746148"/>
              <a:gd name="connsiteX1" fmla="*/ 1420034 w 1593842"/>
              <a:gd name="connsiteY1" fmla="*/ 979670 h 3746148"/>
              <a:gd name="connsiteX2" fmla="*/ 0 w 1593842"/>
              <a:gd name="connsiteY2" fmla="*/ 0 h 3746148"/>
              <a:gd name="connsiteX3" fmla="*/ 0 w 1593842"/>
              <a:gd name="connsiteY3" fmla="*/ 1079857 h 3746148"/>
              <a:gd name="connsiteX4" fmla="*/ 179939 w 1593842"/>
              <a:gd name="connsiteY4" fmla="*/ 1201632 h 3746148"/>
              <a:gd name="connsiteX5" fmla="*/ 287593 w 1593842"/>
              <a:gd name="connsiteY5" fmla="*/ 1760042 h 3746148"/>
              <a:gd name="connsiteX6" fmla="*/ 0 w 1593842"/>
              <a:gd name="connsiteY6" fmla="*/ 2185003 h 3746148"/>
              <a:gd name="connsiteX7" fmla="*/ 0 w 1593842"/>
              <a:gd name="connsiteY7" fmla="*/ 3746149 h 3746148"/>
              <a:gd name="connsiteX8" fmla="*/ 1522679 w 1593842"/>
              <a:gd name="connsiteY8" fmla="*/ 1539022 h 3746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3842" h="3746148">
                <a:moveTo>
                  <a:pt x="1522679" y="1539022"/>
                </a:moveTo>
                <a:cubicBezTo>
                  <a:pt x="1648792" y="1356215"/>
                  <a:pt x="1602840" y="1105789"/>
                  <a:pt x="1420034" y="979670"/>
                </a:cubicBezTo>
                <a:lnTo>
                  <a:pt x="0" y="0"/>
                </a:lnTo>
                <a:lnTo>
                  <a:pt x="0" y="1079857"/>
                </a:lnTo>
                <a:lnTo>
                  <a:pt x="179939" y="1201632"/>
                </a:lnTo>
                <a:cubicBezTo>
                  <a:pt x="363867" y="1326102"/>
                  <a:pt x="412066" y="1576110"/>
                  <a:pt x="287593" y="1760042"/>
                </a:cubicBezTo>
                <a:lnTo>
                  <a:pt x="0" y="2185003"/>
                </a:lnTo>
                <a:lnTo>
                  <a:pt x="0" y="3746149"/>
                </a:lnTo>
                <a:lnTo>
                  <a:pt x="1522679" y="1539022"/>
                </a:lnTo>
                <a:close/>
              </a:path>
            </a:pathLst>
          </a:custGeom>
          <a:blipFill dpi="0" rotWithShape="1">
            <a:blip r:embed="rId2">
              <a:extLst>
                <a:ext uri="{28A0092B-C50C-407E-A947-70E740481C1C}">
                  <a14:useLocalDpi xmlns:a14="http://schemas.microsoft.com/office/drawing/2010/main" val="0"/>
                </a:ext>
              </a:extLst>
            </a:blip>
            <a:srcRect/>
            <a:stretch>
              <a:fillRect/>
            </a:stretch>
          </a:blipFill>
          <a:ln w="5722" cap="flat">
            <a:noFill/>
            <a:prstDash val="solid"/>
            <a:miter/>
          </a:ln>
        </p:spPr>
        <p:txBody>
          <a:bodyPr rtlCol="0" anchor="ctr"/>
          <a:lstStyle/>
          <a:p>
            <a:endParaRPr lang="en-SG" sz="1350"/>
          </a:p>
        </p:txBody>
      </p:sp>
    </p:spTree>
    <p:extLst>
      <p:ext uri="{BB962C8B-B14F-4D97-AF65-F5344CB8AC3E}">
        <p14:creationId xmlns:p14="http://schemas.microsoft.com/office/powerpoint/2010/main" val="1264024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8C40A0FA-7E15-1BF9-E097-10DB699BB839}"/>
              </a:ext>
            </a:extLst>
          </p:cNvPr>
          <p:cNvSpPr>
            <a:spLocks noGrp="1"/>
          </p:cNvSpPr>
          <p:nvPr>
            <p:ph type="body" sz="quarter" idx="22" hasCustomPrompt="1"/>
          </p:nvPr>
        </p:nvSpPr>
        <p:spPr>
          <a:xfrm>
            <a:off x="537062" y="4570770"/>
            <a:ext cx="8219986" cy="373264"/>
          </a:xfrm>
          <a:prstGeom prst="rect">
            <a:avLst/>
          </a:prstGeom>
        </p:spPr>
        <p:txBody>
          <a:bodyPr anchor="t">
            <a:noAutofit/>
          </a:bodyPr>
          <a:lstStyle>
            <a:lvl1pPr marL="0" indent="0">
              <a:buNone/>
              <a:defRPr sz="750" b="0">
                <a:solidFill>
                  <a:schemeClr val="tx1"/>
                </a:solidFill>
              </a:defRPr>
            </a:lvl1pPr>
          </a:lstStyle>
          <a:p>
            <a:pPr lvl="0"/>
            <a:r>
              <a:rPr lang="en-US"/>
              <a:t>Disclaimer text or additional footnotes and references</a:t>
            </a:r>
            <a:endParaRPr lang="en-SG"/>
          </a:p>
        </p:txBody>
      </p:sp>
      <p:pic>
        <p:nvPicPr>
          <p:cNvPr id="10" name="Graphic 9">
            <a:extLst>
              <a:ext uri="{FF2B5EF4-FFF2-40B4-BE49-F238E27FC236}">
                <a16:creationId xmlns:a16="http://schemas.microsoft.com/office/drawing/2014/main" id="{F92B0402-E590-CDDC-245B-0FA3F596FED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90031" y="1970743"/>
            <a:ext cx="1202014" cy="1202014"/>
          </a:xfrm>
          <a:prstGeom prst="rect">
            <a:avLst/>
          </a:prstGeom>
        </p:spPr>
      </p:pic>
    </p:spTree>
    <p:extLst>
      <p:ext uri="{BB962C8B-B14F-4D97-AF65-F5344CB8AC3E}">
        <p14:creationId xmlns:p14="http://schemas.microsoft.com/office/powerpoint/2010/main" val="2195512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Layout_Right_HP">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B24BE95-35AB-44D9-6B9E-CED93DEB16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09349" y="90223"/>
            <a:ext cx="596503" cy="324313"/>
          </a:xfrm>
          <a:prstGeom prst="rect">
            <a:avLst/>
          </a:prstGeom>
        </p:spPr>
      </p:pic>
      <p:sp>
        <p:nvSpPr>
          <p:cNvPr id="11" name="Прямоугольник 13">
            <a:extLst>
              <a:ext uri="{FF2B5EF4-FFF2-40B4-BE49-F238E27FC236}">
                <a16:creationId xmlns:a16="http://schemas.microsoft.com/office/drawing/2014/main" id="{909D9073-44E0-0770-07D2-CE7EF77BC2CF}"/>
              </a:ext>
            </a:extLst>
          </p:cNvPr>
          <p:cNvSpPr/>
          <p:nvPr userDrawn="1"/>
        </p:nvSpPr>
        <p:spPr>
          <a:xfrm>
            <a:off x="8752561" y="4821788"/>
            <a:ext cx="272832" cy="178960"/>
          </a:xfrm>
          <a:prstGeom prst="rect">
            <a:avLst/>
          </a:prstGeom>
        </p:spPr>
        <p:txBody>
          <a:bodyPr wrap="none">
            <a:spAutoFit/>
          </a:bodyPr>
          <a:lstStyle/>
          <a:p>
            <a:pPr algn="ctr"/>
            <a:fld id="{149B6D55-4680-4DC5-B665-330CCBA60EFE}" type="slidenum">
              <a:rPr lang="ru-RU" sz="563" b="1" i="0" baseline="0" smtClean="0">
                <a:solidFill>
                  <a:schemeClr val="tx1"/>
                </a:solidFill>
                <a:latin typeface="Arial" panose="020B0604020202020204" pitchFamily="34" charset="0"/>
                <a:ea typeface="Karla" pitchFamily="2" charset="0"/>
                <a:cs typeface="Arial" panose="020B0604020202020204" pitchFamily="34" charset="0"/>
              </a:rPr>
              <a:pPr algn="ctr"/>
              <a:t>‹#›</a:t>
            </a:fld>
            <a:endParaRPr lang="ru-RU" sz="788" b="1" i="0" baseline="0">
              <a:solidFill>
                <a:schemeClr val="tx1"/>
              </a:solidFill>
              <a:latin typeface="Arial" panose="020B0604020202020204" pitchFamily="34" charset="0"/>
              <a:ea typeface="Karla" pitchFamily="2" charset="0"/>
              <a:cs typeface="Arial" panose="020B0604020202020204" pitchFamily="34" charset="0"/>
            </a:endParaRPr>
          </a:p>
        </p:txBody>
      </p:sp>
      <p:sp>
        <p:nvSpPr>
          <p:cNvPr id="2" name="Text Placeholder 21">
            <a:extLst>
              <a:ext uri="{FF2B5EF4-FFF2-40B4-BE49-F238E27FC236}">
                <a16:creationId xmlns:a16="http://schemas.microsoft.com/office/drawing/2014/main" id="{D100C743-3074-AD81-7888-989B21F2DEB4}"/>
              </a:ext>
            </a:extLst>
          </p:cNvPr>
          <p:cNvSpPr>
            <a:spLocks noGrp="1"/>
          </p:cNvSpPr>
          <p:nvPr>
            <p:ph type="body" sz="quarter" idx="22" hasCustomPrompt="1"/>
          </p:nvPr>
        </p:nvSpPr>
        <p:spPr>
          <a:xfrm>
            <a:off x="359569" y="4867921"/>
            <a:ext cx="4199335" cy="108012"/>
          </a:xfrm>
          <a:prstGeom prst="rect">
            <a:avLst/>
          </a:prstGeom>
        </p:spPr>
        <p:txBody>
          <a:bodyPr lIns="0" tIns="0" rIns="0" bIns="0" anchor="ctr">
            <a:noAutofit/>
          </a:bodyPr>
          <a:lstStyle>
            <a:lvl1pPr marL="0" indent="0">
              <a:lnSpc>
                <a:spcPct val="100000"/>
              </a:lnSpc>
              <a:buNone/>
              <a:defRPr sz="750" b="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Insert footnote liner in Arial 10pt</a:t>
            </a:r>
            <a:endParaRPr lang="en-SG"/>
          </a:p>
        </p:txBody>
      </p:sp>
      <p:sp>
        <p:nvSpPr>
          <p:cNvPr id="3" name="Text Placeholder 21">
            <a:extLst>
              <a:ext uri="{FF2B5EF4-FFF2-40B4-BE49-F238E27FC236}">
                <a16:creationId xmlns:a16="http://schemas.microsoft.com/office/drawing/2014/main" id="{4A59DDCA-CFEB-6F45-0F7B-8B2AF8DCE5BC}"/>
              </a:ext>
            </a:extLst>
          </p:cNvPr>
          <p:cNvSpPr>
            <a:spLocks noGrp="1"/>
          </p:cNvSpPr>
          <p:nvPr>
            <p:ph type="body" sz="quarter" idx="23" hasCustomPrompt="1"/>
          </p:nvPr>
        </p:nvSpPr>
        <p:spPr>
          <a:xfrm>
            <a:off x="359569" y="127447"/>
            <a:ext cx="4212431" cy="124708"/>
          </a:xfrm>
          <a:prstGeom prst="rect">
            <a:avLst/>
          </a:prstGeom>
        </p:spPr>
        <p:txBody>
          <a:bodyPr lIns="0" tIns="0" rIns="0" bIns="0" anchor="ctr">
            <a:noAutofit/>
          </a:bodyPr>
          <a:lstStyle>
            <a:lvl1pPr marL="0" indent="0" algn="l">
              <a:lnSpc>
                <a:spcPct val="100000"/>
              </a:lnSpc>
              <a:buNone/>
              <a:defRPr sz="750" b="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Insert section header in Arial 10pt</a:t>
            </a:r>
            <a:endParaRPr lang="en-SG"/>
          </a:p>
        </p:txBody>
      </p:sp>
    </p:spTree>
    <p:extLst>
      <p:ext uri="{BB962C8B-B14F-4D97-AF65-F5344CB8AC3E}">
        <p14:creationId xmlns:p14="http://schemas.microsoft.com/office/powerpoint/2010/main" val="196538587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EAA15-3BC4-534A-D939-2815E299B85E}"/>
              </a:ext>
            </a:extLst>
          </p:cNvPr>
          <p:cNvSpPr>
            <a:spLocks noGrp="1"/>
          </p:cNvSpPr>
          <p:nvPr>
            <p:ph type="title" hasCustomPrompt="1"/>
          </p:nvPr>
        </p:nvSpPr>
        <p:spPr>
          <a:xfrm>
            <a:off x="536885" y="152555"/>
            <a:ext cx="8030126" cy="401801"/>
          </a:xfrm>
        </p:spPr>
        <p:txBody>
          <a:bodyPr anchor="b"/>
          <a:lstStyle>
            <a:lvl1pPr>
              <a:defRPr sz="2250" spc="0">
                <a:solidFill>
                  <a:schemeClr val="tx1"/>
                </a:solidFill>
              </a:defRPr>
            </a:lvl1pPr>
          </a:lstStyle>
          <a:p>
            <a:r>
              <a:rPr lang="en-US"/>
              <a:t>Titles in Segoe UI 30pt one line maximum. </a:t>
            </a:r>
          </a:p>
        </p:txBody>
      </p:sp>
    </p:spTree>
    <p:extLst>
      <p:ext uri="{BB962C8B-B14F-4D97-AF65-F5344CB8AC3E}">
        <p14:creationId xmlns:p14="http://schemas.microsoft.com/office/powerpoint/2010/main" val="759811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47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650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Introduction/Table of content Picture">
    <p:spTree>
      <p:nvGrpSpPr>
        <p:cNvPr id="1" name=""/>
        <p:cNvGrpSpPr/>
        <p:nvPr/>
      </p:nvGrpSpPr>
      <p:grpSpPr>
        <a:xfrm>
          <a:off x="0" y="0"/>
          <a:ext cx="0" cy="0"/>
          <a:chOff x="0" y="0"/>
          <a:chExt cx="0" cy="0"/>
        </a:xfrm>
      </p:grpSpPr>
      <p:sp>
        <p:nvSpPr>
          <p:cNvPr id="23" name="Content"/>
          <p:cNvSpPr>
            <a:spLocks noGrp="1"/>
          </p:cNvSpPr>
          <p:nvPr>
            <p:ph type="body" sz="quarter" idx="16" hasCustomPrompt="1"/>
          </p:nvPr>
        </p:nvSpPr>
        <p:spPr>
          <a:xfrm>
            <a:off x="405740" y="1217701"/>
            <a:ext cx="6920433" cy="3428119"/>
          </a:xfrm>
        </p:spPr>
        <p:txBody>
          <a:bodyPr/>
          <a:lstStyle>
            <a:lvl1pPr marL="162000" indent="-162000">
              <a:spcBef>
                <a:spcPts val="675"/>
              </a:spcBef>
              <a:spcAft>
                <a:spcPts val="0"/>
              </a:spcAft>
              <a:buClr>
                <a:schemeClr val="tx1"/>
              </a:buClr>
              <a:buFont typeface="Arial" panose="020B0604020202020204" pitchFamily="34" charset="0"/>
              <a:buChar char="•"/>
              <a:tabLst>
                <a:tab pos="3382566" algn="r"/>
              </a:tabLst>
              <a:defRPr lang="en-US" sz="1350" b="1" kern="1200" noProof="0" dirty="0" smtClean="0">
                <a:solidFill>
                  <a:srgbClr val="E40230"/>
                </a:solidFill>
                <a:latin typeface="Avenir Next LT Pro" panose="020B0604020202020204" pitchFamily="34" charset="0"/>
                <a:ea typeface="+mn-ea"/>
                <a:cs typeface="+mn-cs"/>
              </a:defRPr>
            </a:lvl1pPr>
            <a:lvl2pPr marL="162000" indent="0">
              <a:buFont typeface="Arial" panose="020B0604020202020204" pitchFamily="34" charset="0"/>
              <a:buNone/>
              <a:tabLst>
                <a:tab pos="3382566" algn="r"/>
              </a:tabLst>
              <a:defRPr b="0">
                <a:solidFill>
                  <a:schemeClr val="tx1"/>
                </a:solidFill>
              </a:defRPr>
            </a:lvl2pPr>
            <a:lvl3pPr marL="324000" indent="-162000">
              <a:spcAft>
                <a:spcPts val="0"/>
              </a:spcAft>
              <a:buFont typeface="Arial" panose="020B0604020202020204" pitchFamily="34" charset="0"/>
              <a:buChar char="•"/>
              <a:tabLst>
                <a:tab pos="3382566" algn="r"/>
              </a:tabLst>
              <a:defRPr/>
            </a:lvl3pPr>
            <a:lvl4pPr>
              <a:defRPr/>
            </a:lvl4pPr>
          </a:lstStyle>
          <a:p>
            <a:pPr lvl="0"/>
            <a:r>
              <a:rPr lang="en-US" noProof="0"/>
              <a:t>Text </a:t>
            </a:r>
            <a:r>
              <a:rPr lang="en-US" noProof="0" err="1"/>
              <a:t>Avenir</a:t>
            </a:r>
            <a:r>
              <a:rPr lang="en-US" noProof="0"/>
              <a:t> Bold 18 </a:t>
            </a:r>
            <a:r>
              <a:rPr lang="en-US" noProof="0" err="1"/>
              <a:t>pt</a:t>
            </a:r>
            <a:endParaRPr lang="en-US" noProof="0"/>
          </a:p>
          <a:p>
            <a:pPr lvl="1"/>
            <a:r>
              <a:rPr lang="en-US" noProof="0"/>
              <a:t>Text </a:t>
            </a:r>
            <a:r>
              <a:rPr lang="en-US" noProof="0" err="1"/>
              <a:t>Avenir</a:t>
            </a:r>
            <a:r>
              <a:rPr lang="en-US" noProof="0"/>
              <a:t> 18 </a:t>
            </a:r>
            <a:r>
              <a:rPr lang="en-US" noProof="0" err="1"/>
              <a:t>pt</a:t>
            </a:r>
            <a:endParaRPr lang="en-US" noProof="0"/>
          </a:p>
          <a:p>
            <a:pPr lvl="2"/>
            <a:r>
              <a:rPr lang="en-US" noProof="0"/>
              <a:t>Text </a:t>
            </a:r>
            <a:r>
              <a:rPr lang="en-US" noProof="0" err="1"/>
              <a:t>Avenir</a:t>
            </a:r>
            <a:r>
              <a:rPr lang="en-US" noProof="0"/>
              <a:t> 18 </a:t>
            </a:r>
            <a:r>
              <a:rPr lang="en-US" noProof="0" err="1"/>
              <a:t>pt</a:t>
            </a:r>
            <a:endParaRPr lang="en-US" noProof="0"/>
          </a:p>
          <a:p>
            <a:pPr lvl="0"/>
            <a:r>
              <a:rPr lang="en-US" noProof="0"/>
              <a:t>Text </a:t>
            </a:r>
            <a:r>
              <a:rPr lang="en-US" noProof="0" err="1"/>
              <a:t>Avenir</a:t>
            </a:r>
            <a:r>
              <a:rPr lang="en-US" noProof="0"/>
              <a:t> Bold 18 </a:t>
            </a:r>
            <a:r>
              <a:rPr lang="en-US" noProof="0" err="1"/>
              <a:t>pt</a:t>
            </a:r>
            <a:endParaRPr lang="en-US" noProof="0"/>
          </a:p>
          <a:p>
            <a:pPr lvl="1"/>
            <a:r>
              <a:rPr lang="en-US" noProof="0"/>
              <a:t>Text </a:t>
            </a:r>
            <a:r>
              <a:rPr lang="en-US" noProof="0" err="1"/>
              <a:t>Avenir</a:t>
            </a:r>
            <a:r>
              <a:rPr lang="en-US" noProof="0"/>
              <a:t> 18 </a:t>
            </a:r>
            <a:r>
              <a:rPr lang="en-US" noProof="0" err="1"/>
              <a:t>pt</a:t>
            </a:r>
            <a:endParaRPr lang="en-US" noProof="0"/>
          </a:p>
          <a:p>
            <a:pPr lvl="2"/>
            <a:r>
              <a:rPr lang="en-US" noProof="0"/>
              <a:t>Text </a:t>
            </a:r>
            <a:r>
              <a:rPr lang="en-US" noProof="0" err="1"/>
              <a:t>Avenir</a:t>
            </a:r>
            <a:r>
              <a:rPr lang="en-US" noProof="0"/>
              <a:t> 18 </a:t>
            </a:r>
            <a:r>
              <a:rPr lang="en-US" noProof="0" err="1"/>
              <a:t>pt</a:t>
            </a:r>
            <a:endParaRPr lang="en-US" noProof="0"/>
          </a:p>
        </p:txBody>
      </p:sp>
      <p:sp>
        <p:nvSpPr>
          <p:cNvPr id="16" name="Headline">
            <a:extLst>
              <a:ext uri="{FF2B5EF4-FFF2-40B4-BE49-F238E27FC236}">
                <a16:creationId xmlns:a16="http://schemas.microsoft.com/office/drawing/2014/main" id="{A10C2F32-02B9-4FE1-B890-A65BB4F75444}"/>
              </a:ext>
            </a:extLst>
          </p:cNvPr>
          <p:cNvSpPr>
            <a:spLocks noGrp="1"/>
          </p:cNvSpPr>
          <p:nvPr>
            <p:ph type="title" hasCustomPrompt="1"/>
          </p:nvPr>
        </p:nvSpPr>
        <p:spPr>
          <a:xfrm>
            <a:off x="405740" y="230583"/>
            <a:ext cx="6920434" cy="624685"/>
          </a:xfrm>
        </p:spPr>
        <p:txBody>
          <a:bodyPr/>
          <a:lstStyle>
            <a:lvl1pPr>
              <a:defRPr>
                <a:latin typeface="Segoe UI" panose="020B0502040204020203" pitchFamily="34" charset="0"/>
                <a:cs typeface="Segoe UI" panose="020B0502040204020203" pitchFamily="34" charset="0"/>
              </a:defRPr>
            </a:lvl1pPr>
          </a:lstStyle>
          <a:p>
            <a:r>
              <a:rPr lang="en-US"/>
              <a:t>Table of Contents</a:t>
            </a:r>
            <a:br>
              <a:rPr lang="en-US"/>
            </a:br>
            <a:r>
              <a:rPr lang="en-US"/>
              <a:t>Title Segoe UI 28 </a:t>
            </a:r>
            <a:r>
              <a:rPr lang="en-US" err="1"/>
              <a:t>pt</a:t>
            </a:r>
            <a:endParaRPr lang="en-US" noProof="0"/>
          </a:p>
        </p:txBody>
      </p:sp>
    </p:spTree>
    <p:extLst>
      <p:ext uri="{BB962C8B-B14F-4D97-AF65-F5344CB8AC3E}">
        <p14:creationId xmlns:p14="http://schemas.microsoft.com/office/powerpoint/2010/main" val="2333220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lide_Left_Btm_HP_Grey">
    <p:spTree>
      <p:nvGrpSpPr>
        <p:cNvPr id="1" name=""/>
        <p:cNvGrpSpPr/>
        <p:nvPr/>
      </p:nvGrpSpPr>
      <p:grpSpPr>
        <a:xfrm>
          <a:off x="0" y="0"/>
          <a:ext cx="0" cy="0"/>
          <a:chOff x="0" y="0"/>
          <a:chExt cx="0" cy="0"/>
        </a:xfrm>
      </p:grpSpPr>
      <p:sp>
        <p:nvSpPr>
          <p:cNvPr id="6" name="Graphic 4">
            <a:extLst>
              <a:ext uri="{FF2B5EF4-FFF2-40B4-BE49-F238E27FC236}">
                <a16:creationId xmlns:a16="http://schemas.microsoft.com/office/drawing/2014/main" id="{94BD59B2-6963-1768-0F0E-5A83773E7E90}"/>
              </a:ext>
            </a:extLst>
          </p:cNvPr>
          <p:cNvSpPr/>
          <p:nvPr/>
        </p:nvSpPr>
        <p:spPr>
          <a:xfrm flipV="1">
            <a:off x="-6778" y="-6537"/>
            <a:ext cx="5628046" cy="5150849"/>
          </a:xfrm>
          <a:custGeom>
            <a:avLst/>
            <a:gdLst>
              <a:gd name="connsiteX0" fmla="*/ 286969 w 7641945"/>
              <a:gd name="connsiteY0" fmla="*/ 608762 h 6858000"/>
              <a:gd name="connsiteX1" fmla="*/ 497967 w 7641945"/>
              <a:gd name="connsiteY1" fmla="*/ 374371 h 6858000"/>
              <a:gd name="connsiteX2" fmla="*/ 7641946 w 7641945"/>
              <a:gd name="connsiteY2" fmla="*/ 0 h 6858000"/>
              <a:gd name="connsiteX3" fmla="*/ 0 w 7641945"/>
              <a:gd name="connsiteY3" fmla="*/ 0 h 6858000"/>
              <a:gd name="connsiteX4" fmla="*/ 0 w 7641945"/>
              <a:gd name="connsiteY4" fmla="*/ 6858000 h 6858000"/>
              <a:gd name="connsiteX5" fmla="*/ 614477 w 7641945"/>
              <a:gd name="connsiteY5" fmla="*/ 6858000 h 6858000"/>
              <a:gd name="connsiteX6" fmla="*/ 286969 w 7641945"/>
              <a:gd name="connsiteY6" fmla="*/ 608762 h 6858000"/>
              <a:gd name="connsiteX0" fmla="*/ 286969 w 7641946"/>
              <a:gd name="connsiteY0" fmla="*/ 608762 h 6858000"/>
              <a:gd name="connsiteX1" fmla="*/ 497967 w 7641946"/>
              <a:gd name="connsiteY1" fmla="*/ 374371 h 6858000"/>
              <a:gd name="connsiteX2" fmla="*/ 7641946 w 7641946"/>
              <a:gd name="connsiteY2" fmla="*/ 0 h 6858000"/>
              <a:gd name="connsiteX3" fmla="*/ 108857 w 7641946"/>
              <a:gd name="connsiteY3" fmla="*/ 58057 h 6858000"/>
              <a:gd name="connsiteX4" fmla="*/ 0 w 7641946"/>
              <a:gd name="connsiteY4" fmla="*/ 6858000 h 6858000"/>
              <a:gd name="connsiteX5" fmla="*/ 614477 w 7641946"/>
              <a:gd name="connsiteY5" fmla="*/ 6858000 h 6858000"/>
              <a:gd name="connsiteX6" fmla="*/ 286969 w 7641946"/>
              <a:gd name="connsiteY6" fmla="*/ 608762 h 6858000"/>
              <a:gd name="connsiteX0" fmla="*/ 286969 w 7641946"/>
              <a:gd name="connsiteY0" fmla="*/ 608762 h 6858000"/>
              <a:gd name="connsiteX1" fmla="*/ 497967 w 7641946"/>
              <a:gd name="connsiteY1" fmla="*/ 374371 h 6858000"/>
              <a:gd name="connsiteX2" fmla="*/ 7641946 w 7641946"/>
              <a:gd name="connsiteY2" fmla="*/ 0 h 6858000"/>
              <a:gd name="connsiteX3" fmla="*/ 246742 w 7641946"/>
              <a:gd name="connsiteY3" fmla="*/ 130628 h 6858000"/>
              <a:gd name="connsiteX4" fmla="*/ 0 w 7641946"/>
              <a:gd name="connsiteY4" fmla="*/ 6858000 h 6858000"/>
              <a:gd name="connsiteX5" fmla="*/ 614477 w 7641946"/>
              <a:gd name="connsiteY5" fmla="*/ 6858000 h 6858000"/>
              <a:gd name="connsiteX6" fmla="*/ 286969 w 7641946"/>
              <a:gd name="connsiteY6" fmla="*/ 608762 h 6858000"/>
              <a:gd name="connsiteX0" fmla="*/ 286969 w 7641946"/>
              <a:gd name="connsiteY0" fmla="*/ 608762 h 6858000"/>
              <a:gd name="connsiteX1" fmla="*/ 497967 w 7641946"/>
              <a:gd name="connsiteY1" fmla="*/ 374371 h 6858000"/>
              <a:gd name="connsiteX2" fmla="*/ 7641946 w 7641946"/>
              <a:gd name="connsiteY2" fmla="*/ 0 h 6858000"/>
              <a:gd name="connsiteX3" fmla="*/ 159657 w 7641946"/>
              <a:gd name="connsiteY3" fmla="*/ 43542 h 6858000"/>
              <a:gd name="connsiteX4" fmla="*/ 0 w 7641946"/>
              <a:gd name="connsiteY4" fmla="*/ 6858000 h 6858000"/>
              <a:gd name="connsiteX5" fmla="*/ 614477 w 7641946"/>
              <a:gd name="connsiteY5" fmla="*/ 6858000 h 6858000"/>
              <a:gd name="connsiteX6" fmla="*/ 286969 w 7641946"/>
              <a:gd name="connsiteY6" fmla="*/ 608762 h 6858000"/>
              <a:gd name="connsiteX0" fmla="*/ 286969 w 7663718"/>
              <a:gd name="connsiteY0" fmla="*/ 565220 h 6814458"/>
              <a:gd name="connsiteX1" fmla="*/ 497967 w 7663718"/>
              <a:gd name="connsiteY1" fmla="*/ 330829 h 6814458"/>
              <a:gd name="connsiteX2" fmla="*/ 7663718 w 7663718"/>
              <a:gd name="connsiteY2" fmla="*/ 1 h 6814458"/>
              <a:gd name="connsiteX3" fmla="*/ 159657 w 7663718"/>
              <a:gd name="connsiteY3" fmla="*/ 0 h 6814458"/>
              <a:gd name="connsiteX4" fmla="*/ 0 w 7663718"/>
              <a:gd name="connsiteY4" fmla="*/ 6814458 h 6814458"/>
              <a:gd name="connsiteX5" fmla="*/ 614477 w 7663718"/>
              <a:gd name="connsiteY5" fmla="*/ 6814458 h 6814458"/>
              <a:gd name="connsiteX6" fmla="*/ 286969 w 7663718"/>
              <a:gd name="connsiteY6" fmla="*/ 565220 h 6814458"/>
              <a:gd name="connsiteX0" fmla="*/ 286969 w 7663718"/>
              <a:gd name="connsiteY0" fmla="*/ 565220 h 6875418"/>
              <a:gd name="connsiteX1" fmla="*/ 497967 w 7663718"/>
              <a:gd name="connsiteY1" fmla="*/ 330829 h 6875418"/>
              <a:gd name="connsiteX2" fmla="*/ 7663718 w 7663718"/>
              <a:gd name="connsiteY2" fmla="*/ 1 h 6875418"/>
              <a:gd name="connsiteX3" fmla="*/ 159657 w 7663718"/>
              <a:gd name="connsiteY3" fmla="*/ 0 h 6875418"/>
              <a:gd name="connsiteX4" fmla="*/ 0 w 7663718"/>
              <a:gd name="connsiteY4" fmla="*/ 6814458 h 6875418"/>
              <a:gd name="connsiteX5" fmla="*/ 622097 w 7663718"/>
              <a:gd name="connsiteY5" fmla="*/ 6875418 h 6875418"/>
              <a:gd name="connsiteX6" fmla="*/ 286969 w 7663718"/>
              <a:gd name="connsiteY6" fmla="*/ 565220 h 6875418"/>
              <a:gd name="connsiteX0" fmla="*/ 127312 w 7504061"/>
              <a:gd name="connsiteY0" fmla="*/ 565220 h 6875418"/>
              <a:gd name="connsiteX1" fmla="*/ 338310 w 7504061"/>
              <a:gd name="connsiteY1" fmla="*/ 330829 h 6875418"/>
              <a:gd name="connsiteX2" fmla="*/ 7504061 w 7504061"/>
              <a:gd name="connsiteY2" fmla="*/ 1 h 6875418"/>
              <a:gd name="connsiteX3" fmla="*/ 0 w 7504061"/>
              <a:gd name="connsiteY3" fmla="*/ 0 h 6875418"/>
              <a:gd name="connsiteX4" fmla="*/ 7983 w 7504061"/>
              <a:gd name="connsiteY4" fmla="*/ 6867798 h 6875418"/>
              <a:gd name="connsiteX5" fmla="*/ 462440 w 7504061"/>
              <a:gd name="connsiteY5" fmla="*/ 6875418 h 6875418"/>
              <a:gd name="connsiteX6" fmla="*/ 127312 w 7504061"/>
              <a:gd name="connsiteY6" fmla="*/ 565220 h 6875418"/>
              <a:gd name="connsiteX0" fmla="*/ 127312 w 7504061"/>
              <a:gd name="connsiteY0" fmla="*/ 565220 h 6867798"/>
              <a:gd name="connsiteX1" fmla="*/ 338310 w 7504061"/>
              <a:gd name="connsiteY1" fmla="*/ 330829 h 6867798"/>
              <a:gd name="connsiteX2" fmla="*/ 7504061 w 7504061"/>
              <a:gd name="connsiteY2" fmla="*/ 1 h 6867798"/>
              <a:gd name="connsiteX3" fmla="*/ 0 w 7504061"/>
              <a:gd name="connsiteY3" fmla="*/ 0 h 6867798"/>
              <a:gd name="connsiteX4" fmla="*/ 7983 w 7504061"/>
              <a:gd name="connsiteY4" fmla="*/ 6867798 h 6867798"/>
              <a:gd name="connsiteX5" fmla="*/ 462440 w 7504061"/>
              <a:gd name="connsiteY5" fmla="*/ 6852558 h 6867798"/>
              <a:gd name="connsiteX6" fmla="*/ 127312 w 7504061"/>
              <a:gd name="connsiteY6" fmla="*/ 565220 h 686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04061" h="6867798">
                <a:moveTo>
                  <a:pt x="127312" y="565220"/>
                </a:moveTo>
                <a:cubicBezTo>
                  <a:pt x="120835" y="442233"/>
                  <a:pt x="215323" y="337306"/>
                  <a:pt x="338310" y="330829"/>
                </a:cubicBezTo>
                <a:lnTo>
                  <a:pt x="7504061" y="1"/>
                </a:lnTo>
                <a:lnTo>
                  <a:pt x="0" y="0"/>
                </a:lnTo>
                <a:lnTo>
                  <a:pt x="7983" y="6867798"/>
                </a:lnTo>
                <a:lnTo>
                  <a:pt x="462440" y="6852558"/>
                </a:lnTo>
                <a:lnTo>
                  <a:pt x="127312" y="565220"/>
                </a:lnTo>
                <a:close/>
              </a:path>
            </a:pathLst>
          </a:custGeom>
          <a:solidFill>
            <a:srgbClr val="F2F2F2"/>
          </a:solidFill>
          <a:ln w="0" cap="flat">
            <a:noFill/>
            <a:prstDash val="solid"/>
            <a:miter/>
          </a:ln>
        </p:spPr>
        <p:txBody>
          <a:bodyPr rtlCol="0" anchor="ctr"/>
          <a:lstStyle/>
          <a:p>
            <a:endParaRPr lang="en-SG" sz="1350"/>
          </a:p>
        </p:txBody>
      </p:sp>
      <p:pic>
        <p:nvPicPr>
          <p:cNvPr id="2" name="Graphic 1">
            <a:extLst>
              <a:ext uri="{FF2B5EF4-FFF2-40B4-BE49-F238E27FC236}">
                <a16:creationId xmlns:a16="http://schemas.microsoft.com/office/drawing/2014/main" id="{4F61E42C-E4D0-E56E-7E43-CE645CDBD4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60545" y="394302"/>
            <a:ext cx="596503" cy="324313"/>
          </a:xfrm>
          <a:prstGeom prst="rect">
            <a:avLst/>
          </a:prstGeom>
        </p:spPr>
      </p:pic>
      <p:sp>
        <p:nvSpPr>
          <p:cNvPr id="5" name="Text Placeholder 21">
            <a:extLst>
              <a:ext uri="{FF2B5EF4-FFF2-40B4-BE49-F238E27FC236}">
                <a16:creationId xmlns:a16="http://schemas.microsoft.com/office/drawing/2014/main" id="{D27B52A1-488F-8515-C70F-7D168B58D262}"/>
              </a:ext>
            </a:extLst>
          </p:cNvPr>
          <p:cNvSpPr>
            <a:spLocks noGrp="1"/>
          </p:cNvSpPr>
          <p:nvPr>
            <p:ph type="body" sz="quarter" idx="22" hasCustomPrompt="1"/>
          </p:nvPr>
        </p:nvSpPr>
        <p:spPr>
          <a:xfrm>
            <a:off x="359569" y="4867921"/>
            <a:ext cx="4199335" cy="108012"/>
          </a:xfrm>
          <a:prstGeom prst="rect">
            <a:avLst/>
          </a:prstGeom>
        </p:spPr>
        <p:txBody>
          <a:bodyPr lIns="0" tIns="0" rIns="0" bIns="0" anchor="ctr">
            <a:noAutofit/>
          </a:bodyPr>
          <a:lstStyle>
            <a:lvl1pPr marL="0" indent="0">
              <a:lnSpc>
                <a:spcPct val="100000"/>
              </a:lnSpc>
              <a:buNone/>
              <a:defRPr sz="750" b="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Insert footnote liner in Arial 10pt</a:t>
            </a:r>
            <a:endParaRPr lang="en-SG"/>
          </a:p>
        </p:txBody>
      </p:sp>
      <p:sp>
        <p:nvSpPr>
          <p:cNvPr id="7" name="Text Placeholder 21">
            <a:extLst>
              <a:ext uri="{FF2B5EF4-FFF2-40B4-BE49-F238E27FC236}">
                <a16:creationId xmlns:a16="http://schemas.microsoft.com/office/drawing/2014/main" id="{7049C6F3-840B-B227-8F65-FE30B5D7D62A}"/>
              </a:ext>
            </a:extLst>
          </p:cNvPr>
          <p:cNvSpPr>
            <a:spLocks noGrp="1"/>
          </p:cNvSpPr>
          <p:nvPr>
            <p:ph type="body" sz="quarter" idx="23" hasCustomPrompt="1"/>
          </p:nvPr>
        </p:nvSpPr>
        <p:spPr>
          <a:xfrm>
            <a:off x="359569" y="127447"/>
            <a:ext cx="4212431" cy="124708"/>
          </a:xfrm>
          <a:prstGeom prst="rect">
            <a:avLst/>
          </a:prstGeom>
        </p:spPr>
        <p:txBody>
          <a:bodyPr lIns="0" tIns="0" rIns="0" bIns="0" anchor="ctr">
            <a:noAutofit/>
          </a:bodyPr>
          <a:lstStyle>
            <a:lvl1pPr marL="0" indent="0" algn="l">
              <a:lnSpc>
                <a:spcPct val="100000"/>
              </a:lnSpc>
              <a:buNone/>
              <a:defRPr sz="750" b="0">
                <a:solidFill>
                  <a:schemeClr val="tx1">
                    <a:lumMod val="50000"/>
                    <a:lumOff val="50000"/>
                  </a:schemeClr>
                </a:solidFill>
                <a:latin typeface="Arial" panose="020B0604020202020204" pitchFamily="34" charset="0"/>
                <a:cs typeface="Arial" panose="020B0604020202020204" pitchFamily="34" charset="0"/>
              </a:defRPr>
            </a:lvl1pPr>
          </a:lstStyle>
          <a:p>
            <a:pPr lvl="0"/>
            <a:r>
              <a:rPr lang="en-US"/>
              <a:t>Insert section header in Arial 10pt</a:t>
            </a:r>
            <a:endParaRPr lang="en-SG"/>
          </a:p>
        </p:txBody>
      </p:sp>
    </p:spTree>
    <p:extLst>
      <p:ext uri="{BB962C8B-B14F-4D97-AF65-F5344CB8AC3E}">
        <p14:creationId xmlns:p14="http://schemas.microsoft.com/office/powerpoint/2010/main" val="84398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782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GB"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010981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656512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GB"/>
              <a:t>Click to edit Master title style</a:t>
            </a:r>
            <a:endParaRPr lang="en-GB"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65169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628650" y="1369219"/>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4629150" y="1369219"/>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09/08/2026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69500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GB"/>
              <a:t>Click to edit Master title style</a:t>
            </a:r>
            <a:endParaRPr lang="en-GB"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09/08/2026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735264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09/08/2026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322791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09/08/2026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1326702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GB"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5386083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GB"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GB"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1703314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3798058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09/08/2026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1464087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EB26EF7-4F90-CB58-B856-821CD84496E5}"/>
              </a:ext>
            </a:extLst>
          </p:cNvPr>
          <p:cNvGraphicFramePr>
            <a:graphicFrameLocks noChangeAspect="1"/>
          </p:cNvGraphicFramePr>
          <p:nvPr userDrawn="1">
            <p:custDataLst>
              <p:tags r:id="rId1"/>
            </p:custDataLst>
            <p:extLst>
              <p:ext uri="{D42A27DB-BD31-4B8C-83A1-F6EECF244321}">
                <p14:modId xmlns:p14="http://schemas.microsoft.com/office/powerpoint/2010/main" val="229400322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2" name="think-cell data - do not delete" hidden="1">
                        <a:extLst>
                          <a:ext uri="{FF2B5EF4-FFF2-40B4-BE49-F238E27FC236}">
                            <a16:creationId xmlns:a16="http://schemas.microsoft.com/office/drawing/2014/main" id="{7EB26EF7-4F90-CB58-B856-821CD84496E5}"/>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userDrawn="1"/>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SG" sz="525">
                <a:solidFill>
                  <a:schemeClr val="bg1">
                    <a:lumMod val="50000"/>
                  </a:schemeClr>
                </a:solidFill>
                <a:latin typeface="Segoe UI" panose="020B0502040204020203" pitchFamily="34" charset="0"/>
                <a:sym typeface="Trebuchet MS" panose="020B0603020202020204" pitchFamily="34" charset="0"/>
              </a:rPr>
              <a:t>Copyright © 2023 by Boston Consulting Group. All rights reserved.</a:t>
            </a:r>
            <a:endParaRPr lang="en-US" sz="525">
              <a:solidFill>
                <a:schemeClr val="bg1">
                  <a:lumMod val="50000"/>
                </a:schemeClr>
              </a:solidFill>
              <a:latin typeface="Segoe UI" panose="020B0502040204020203" pitchFamily="34" charset="0"/>
              <a:sym typeface="Trebuchet MS" panose="020B0603020202020204" pitchFamily="34" charset="0"/>
            </a:endParaRPr>
          </a:p>
        </p:txBody>
      </p:sp>
      <p:pic>
        <p:nvPicPr>
          <p:cNvPr id="4" name="Picture 3">
            <a:extLst>
              <a:ext uri="{FF2B5EF4-FFF2-40B4-BE49-F238E27FC236}">
                <a16:creationId xmlns:a16="http://schemas.microsoft.com/office/drawing/2014/main" id="{ACA417A3-994E-FF18-1AF5-D3CAE95E50D6}"/>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2220" y="1249"/>
            <a:ext cx="9139560" cy="5141003"/>
          </a:xfrm>
          <a:prstGeom prst="rect">
            <a:avLst/>
          </a:prstGeom>
        </p:spPr>
      </p:pic>
      <p:sp>
        <p:nvSpPr>
          <p:cNvPr id="6" name="Text Placeholder 21">
            <a:extLst>
              <a:ext uri="{FF2B5EF4-FFF2-40B4-BE49-F238E27FC236}">
                <a16:creationId xmlns:a16="http://schemas.microsoft.com/office/drawing/2014/main" id="{69748FA9-6109-884E-F790-8863D6A12C82}"/>
              </a:ext>
            </a:extLst>
          </p:cNvPr>
          <p:cNvSpPr>
            <a:spLocks noGrp="1"/>
          </p:cNvSpPr>
          <p:nvPr>
            <p:ph type="body" sz="quarter" idx="22" hasCustomPrompt="1"/>
          </p:nvPr>
        </p:nvSpPr>
        <p:spPr>
          <a:xfrm>
            <a:off x="736998" y="4605764"/>
            <a:ext cx="7670006" cy="432048"/>
          </a:xfrm>
          <a:prstGeom prst="rect">
            <a:avLst/>
          </a:prstGeom>
        </p:spPr>
        <p:txBody>
          <a:bodyPr lIns="0" tIns="0" rIns="0" bIns="0" anchor="ctr">
            <a:noAutofit/>
          </a:bodyPr>
          <a:lstStyle>
            <a:lvl1pPr marL="0" indent="0">
              <a:lnSpc>
                <a:spcPct val="100000"/>
              </a:lnSpc>
              <a:buNone/>
              <a:defRPr sz="750" b="0">
                <a:solidFill>
                  <a:schemeClr val="tx1"/>
                </a:solidFill>
                <a:latin typeface="Arial" panose="020B0604020202020204" pitchFamily="34" charset="0"/>
                <a:cs typeface="Arial" panose="020B0604020202020204" pitchFamily="34" charset="0"/>
              </a:defRPr>
            </a:lvl1pPr>
          </a:lstStyle>
          <a:p>
            <a:pPr lvl="0"/>
            <a:r>
              <a:rPr lang="en-US"/>
              <a:t>Disclaimer liner in Arial 10pt.</a:t>
            </a:r>
          </a:p>
        </p:txBody>
      </p:sp>
    </p:spTree>
    <p:extLst>
      <p:ext uri="{BB962C8B-B14F-4D97-AF65-F5344CB8AC3E}">
        <p14:creationId xmlns:p14="http://schemas.microsoft.com/office/powerpoint/2010/main" val="81663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D698954-A790-4F5E-B5BF-D3E3CF3FABF0}"/>
              </a:ext>
            </a:extLst>
          </p:cNvPr>
          <p:cNvGraphicFramePr>
            <a:graphicFrameLocks/>
          </p:cNvGraphicFramePr>
          <p:nvPr userDrawn="1">
            <p:custDataLst>
              <p:tags r:id="rId12"/>
            </p:custDataLst>
            <p:extLst>
              <p:ext uri="{D42A27DB-BD31-4B8C-83A1-F6EECF244321}">
                <p14:modId xmlns:p14="http://schemas.microsoft.com/office/powerpoint/2010/main" val="386403475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13" imgW="415" imgH="416" progId="TCLayout.ActiveDocument.1">
                  <p:embed/>
                </p:oleObj>
              </mc:Choice>
              <mc:Fallback>
                <p:oleObj name="think-cell Slide" r:id="rId13" imgW="415" imgH="416" progId="TCLayout.ActiveDocument.1">
                  <p:embed/>
                  <p:pic>
                    <p:nvPicPr>
                      <p:cNvPr id="5" name="Object 4" hidden="1">
                        <a:extLst>
                          <a:ext uri="{FF2B5EF4-FFF2-40B4-BE49-F238E27FC236}">
                            <a16:creationId xmlns:a16="http://schemas.microsoft.com/office/drawing/2014/main" id="{0D698954-A790-4F5E-B5BF-D3E3CF3FABF0}"/>
                          </a:ext>
                        </a:extLst>
                      </p:cNvPr>
                      <p:cNvPicPr/>
                      <p:nvPr/>
                    </p:nvPicPr>
                    <p:blipFill>
                      <a:blip r:embed="rId14"/>
                      <a:stretch>
                        <a:fillRect/>
                      </a:stretch>
                    </p:blipFill>
                    <p:spPr>
                      <a:xfrm>
                        <a:off x="1191" y="1191"/>
                        <a:ext cx="1191" cy="1191"/>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35D37BE-289C-C013-58E7-AC7EBE43219F}"/>
              </a:ext>
            </a:extLst>
          </p:cNvPr>
          <p:cNvSpPr>
            <a:spLocks noGrp="1"/>
          </p:cNvSpPr>
          <p:nvPr>
            <p:ph type="title"/>
          </p:nvPr>
        </p:nvSpPr>
        <p:spPr>
          <a:xfrm>
            <a:off x="536884" y="273845"/>
            <a:ext cx="8030126" cy="523061"/>
          </a:xfrm>
          <a:prstGeom prst="rect">
            <a:avLst/>
          </a:prstGeom>
        </p:spPr>
        <p:txBody>
          <a:bodyPr vert="horz" lIns="91440" tIns="45720" rIns="91440" bIns="45720" rtlCol="0" anchor="b">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0D4A003-14C0-F3E2-9153-1E29983FC6C5}"/>
              </a:ext>
            </a:extLst>
          </p:cNvPr>
          <p:cNvSpPr>
            <a:spLocks noGrp="1"/>
          </p:cNvSpPr>
          <p:nvPr>
            <p:ph type="body" idx="1"/>
          </p:nvPr>
        </p:nvSpPr>
        <p:spPr>
          <a:xfrm>
            <a:off x="536884" y="796906"/>
            <a:ext cx="8030125" cy="3584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8" name="Прямоугольник 13">
            <a:extLst>
              <a:ext uri="{FF2B5EF4-FFF2-40B4-BE49-F238E27FC236}">
                <a16:creationId xmlns:a16="http://schemas.microsoft.com/office/drawing/2014/main" id="{289D66F6-AA54-CE54-05B1-CAEE54983BEC}"/>
              </a:ext>
            </a:extLst>
          </p:cNvPr>
          <p:cNvSpPr/>
          <p:nvPr userDrawn="1"/>
        </p:nvSpPr>
        <p:spPr>
          <a:xfrm>
            <a:off x="8749356" y="4821788"/>
            <a:ext cx="279244" cy="178960"/>
          </a:xfrm>
          <a:prstGeom prst="rect">
            <a:avLst/>
          </a:prstGeom>
        </p:spPr>
        <p:txBody>
          <a:bodyPr wrap="none">
            <a:spAutoFit/>
          </a:bodyPr>
          <a:lstStyle/>
          <a:p>
            <a:pPr algn="ctr"/>
            <a:fld id="{149B6D55-4680-4DC5-B665-330CCBA60EFE}" type="slidenum">
              <a:rPr lang="ru-RU" sz="563" b="1" i="0" baseline="0" smtClean="0">
                <a:solidFill>
                  <a:schemeClr val="tx1"/>
                </a:solidFill>
                <a:latin typeface="+mj-lt"/>
                <a:ea typeface="Karla" pitchFamily="2" charset="0"/>
                <a:cs typeface="Poppins Light" panose="02000000000000000000" pitchFamily="2" charset="0"/>
              </a:rPr>
              <a:pPr algn="ctr"/>
              <a:t>‹#›</a:t>
            </a:fld>
            <a:endParaRPr lang="ru-RU" sz="788" b="1" i="0" baseline="0">
              <a:solidFill>
                <a:schemeClr val="tx1"/>
              </a:solidFill>
              <a:latin typeface="+mj-lt"/>
              <a:ea typeface="Karla" pitchFamily="2" charset="0"/>
              <a:cs typeface="Poppins Light" panose="02000000000000000000" pitchFamily="2" charset="0"/>
            </a:endParaRPr>
          </a:p>
        </p:txBody>
      </p:sp>
    </p:spTree>
    <p:extLst>
      <p:ext uri="{BB962C8B-B14F-4D97-AF65-F5344CB8AC3E}">
        <p14:creationId xmlns:p14="http://schemas.microsoft.com/office/powerpoint/2010/main" val="158569432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73" r:id="rId10"/>
  </p:sldLayoutIdLst>
  <p:hf hdr="0" ftr="0" dt="0"/>
  <p:txStyles>
    <p:titleStyle>
      <a:lvl1pPr algn="l" defTabSz="685800" rtl="0" eaLnBrk="1" latinLnBrk="0" hangingPunct="1">
        <a:lnSpc>
          <a:spcPct val="90000"/>
        </a:lnSpc>
        <a:spcBef>
          <a:spcPct val="0"/>
        </a:spcBef>
        <a:buNone/>
        <a:defRPr sz="225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5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71">
          <p15:clr>
            <a:srgbClr val="F26B43"/>
          </p15:clr>
        </p15:guide>
        <p15:guide id="2" orient="horz" pos="2160">
          <p15:clr>
            <a:srgbClr val="F26B43"/>
          </p15:clr>
        </p15:guide>
        <p15:guide id="3" pos="597">
          <p15:clr>
            <a:srgbClr val="F26B43"/>
          </p15:clr>
        </p15:guide>
        <p15:guide id="4" pos="7355">
          <p15:clr>
            <a:srgbClr val="F26B43"/>
          </p15:clr>
        </p15:guide>
        <p15:guide id="5" pos="1980">
          <p15:clr>
            <a:srgbClr val="F26B43"/>
          </p15:clr>
        </p15:guide>
        <p15:guide id="6" orient="horz" pos="618">
          <p15:clr>
            <a:srgbClr val="F26B43"/>
          </p15:clr>
        </p15:guide>
        <p15:guide id="7" pos="279">
          <p15:clr>
            <a:srgbClr val="F26B43"/>
          </p15:clr>
        </p15:guide>
        <p15:guide id="8" pos="3772">
          <p15:clr>
            <a:srgbClr val="F26B43"/>
          </p15:clr>
        </p15:guide>
        <p15:guide id="9" pos="3863">
          <p15:clr>
            <a:srgbClr val="F26B43"/>
          </p15:clr>
        </p15:guide>
        <p15:guide id="10" pos="5564">
          <p15:clr>
            <a:srgbClr val="F26B43"/>
          </p15:clr>
        </p15:guide>
        <p15:guide id="11" pos="5655">
          <p15:clr>
            <a:srgbClr val="F26B43"/>
          </p15:clr>
        </p15:guide>
        <p15:guide id="12" orient="horz" pos="3997">
          <p15:clr>
            <a:srgbClr val="F26B43"/>
          </p15:clr>
        </p15:guide>
        <p15:guide id="13" orient="horz" pos="3680">
          <p15:clr>
            <a:srgbClr val="F26B43"/>
          </p15:clr>
        </p15:guide>
        <p15:guide id="14" pos="7015">
          <p15:clr>
            <a:srgbClr val="F26B43"/>
          </p15:clr>
        </p15:guide>
        <p15:guide id="15" orient="horz" pos="30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846CE7D5-CF57-46EF-B807-FDD0502418D4}" type="datetimeFigureOut">
              <a:rPr lang="en-GB" smtClean="0"/>
              <a:t>09/08/2026</a:t>
            </a:fld>
            <a:endParaRPr lang="en-GB"/>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814711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GB"/>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xml"/><Relationship Id="rId7" Type="http://schemas.openxmlformats.org/officeDocument/2006/relationships/image" Target="../media/image12.emf"/><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oleObject" Target="../embeddings/oleObject3.bin"/><Relationship Id="rId5" Type="http://schemas.openxmlformats.org/officeDocument/2006/relationships/image" Target="../media/image11.emf"/><Relationship Id="rId4" Type="http://schemas.openxmlformats.org/officeDocument/2006/relationships/image" Target="../media/image10.jpeg"/><Relationship Id="rId9" Type="http://schemas.openxmlformats.org/officeDocument/2006/relationships/image" Target="../media/image14.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3.xml"/><Relationship Id="rId7" Type="http://schemas.openxmlformats.org/officeDocument/2006/relationships/image" Target="../media/image12.emf"/><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oleObject" Target="../embeddings/oleObject3.bin"/><Relationship Id="rId5" Type="http://schemas.openxmlformats.org/officeDocument/2006/relationships/image" Target="../media/image11.emf"/><Relationship Id="rId4" Type="http://schemas.openxmlformats.org/officeDocument/2006/relationships/image" Target="../media/image10.jpe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4.xml"/><Relationship Id="rId7" Type="http://schemas.openxmlformats.org/officeDocument/2006/relationships/image" Target="../media/image12.emf"/><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oleObject" Target="../embeddings/oleObject3.bin"/><Relationship Id="rId5" Type="http://schemas.openxmlformats.org/officeDocument/2006/relationships/image" Target="../media/image11.emf"/><Relationship Id="rId4" Type="http://schemas.openxmlformats.org/officeDocument/2006/relationships/image" Target="../media/image10.jpe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8.gif"/><Relationship Id="rId5" Type="http://schemas.openxmlformats.org/officeDocument/2006/relationships/image" Target="../media/image17.gif"/><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23.svg"/><Relationship Id="rId11" Type="http://schemas.openxmlformats.org/officeDocument/2006/relationships/image" Target="../media/image28.gif"/><Relationship Id="rId5" Type="http://schemas.openxmlformats.org/officeDocument/2006/relationships/image" Target="../media/image22.png"/><Relationship Id="rId10" Type="http://schemas.openxmlformats.org/officeDocument/2006/relationships/image" Target="../media/image27.gif"/><Relationship Id="rId4" Type="http://schemas.openxmlformats.org/officeDocument/2006/relationships/image" Target="../media/image21.svg"/><Relationship Id="rId9" Type="http://schemas.openxmlformats.org/officeDocument/2006/relationships/image" Target="../media/image26.gif"/></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8.xml"/><Relationship Id="rId7" Type="http://schemas.openxmlformats.org/officeDocument/2006/relationships/image" Target="../media/image12.emf"/><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oleObject" Target="../embeddings/oleObject3.bin"/><Relationship Id="rId5" Type="http://schemas.openxmlformats.org/officeDocument/2006/relationships/image" Target="../media/image11.emf"/><Relationship Id="rId4" Type="http://schemas.openxmlformats.org/officeDocument/2006/relationships/image" Target="../media/image10.jpeg"/><Relationship Id="rId9"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2.xml"/><Relationship Id="rId7" Type="http://schemas.openxmlformats.org/officeDocument/2006/relationships/image" Target="../media/image12.emf"/><Relationship Id="rId2" Type="http://schemas.openxmlformats.org/officeDocument/2006/relationships/slideLayout" Target="../slideLayouts/slideLayout6.xml"/><Relationship Id="rId1" Type="http://schemas.openxmlformats.org/officeDocument/2006/relationships/tags" Target="../tags/tag7.xml"/><Relationship Id="rId6" Type="http://schemas.openxmlformats.org/officeDocument/2006/relationships/oleObject" Target="../embeddings/oleObject3.bin"/><Relationship Id="rId5" Type="http://schemas.openxmlformats.org/officeDocument/2006/relationships/image" Target="../media/image11.emf"/><Relationship Id="rId4" Type="http://schemas.openxmlformats.org/officeDocument/2006/relationships/image" Target="../media/image10.jpeg"/><Relationship Id="rId9"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5C93-A21C-89F3-6AA3-ACB620C2F12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DF839C9-4BEB-9A58-BCB8-CCE3F110EF44}"/>
              </a:ext>
            </a:extLst>
          </p:cNvPr>
          <p:cNvPicPr>
            <a:picLocks noChangeAspect="1"/>
          </p:cNvPicPr>
          <p:nvPr/>
        </p:nvPicPr>
        <p:blipFill rotWithShape="1">
          <a:blip r:embed="rId4">
            <a:extLst>
              <a:ext uri="{28A0092B-C50C-407E-A947-70E740481C1C}">
                <a14:useLocalDpi xmlns:a14="http://schemas.microsoft.com/office/drawing/2010/main" val="0"/>
              </a:ext>
            </a:extLst>
          </a:blip>
          <a:srcRect l="35428" t="13546" r="5325" b="13546"/>
          <a:stretch>
            <a:fillRect/>
          </a:stretch>
        </p:blipFill>
        <p:spPr>
          <a:xfrm>
            <a:off x="3923928" y="0"/>
            <a:ext cx="5220072" cy="5143500"/>
          </a:xfrm>
          <a:prstGeom prst="rect">
            <a:avLst/>
          </a:prstGeom>
        </p:spPr>
      </p:pic>
      <p:pic>
        <p:nvPicPr>
          <p:cNvPr id="4" name="Picture 3">
            <a:extLst>
              <a:ext uri="{FF2B5EF4-FFF2-40B4-BE49-F238E27FC236}">
                <a16:creationId xmlns:a16="http://schemas.microsoft.com/office/drawing/2014/main" id="{4407D554-C1C7-2A3C-FF96-C1275BDFCA78}"/>
              </a:ext>
            </a:extLst>
          </p:cNvPr>
          <p:cNvPicPr>
            <a:picLocks noChangeAspect="1"/>
          </p:cNvPicPr>
          <p:nvPr/>
        </p:nvPicPr>
        <p:blipFill>
          <a:blip r:embed="rId5"/>
          <a:srcRect l="20826" r="3539" b="36309"/>
          <a:stretch>
            <a:fillRect/>
          </a:stretch>
        </p:blipFill>
        <p:spPr>
          <a:xfrm>
            <a:off x="0" y="-7403"/>
            <a:ext cx="9157161" cy="5150903"/>
          </a:xfrm>
          <a:prstGeom prst="rect">
            <a:avLst/>
          </a:prstGeom>
        </p:spPr>
      </p:pic>
      <p:graphicFrame>
        <p:nvGraphicFramePr>
          <p:cNvPr id="6" name="think-cell data - do not delete" hidden="1">
            <a:extLst>
              <a:ext uri="{FF2B5EF4-FFF2-40B4-BE49-F238E27FC236}">
                <a16:creationId xmlns:a16="http://schemas.microsoft.com/office/drawing/2014/main" id="{DB972416-DD06-4FB5-B964-9195DD6EB678}"/>
              </a:ext>
            </a:extLst>
          </p:cNvPr>
          <p:cNvGraphicFramePr>
            <a:graphicFrameLocks/>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think-cell data - do not delete" hidden="1">
                        <a:extLst>
                          <a:ext uri="{FF2B5EF4-FFF2-40B4-BE49-F238E27FC236}">
                            <a16:creationId xmlns:a16="http://schemas.microsoft.com/office/drawing/2014/main" id="{ABD1268C-9665-9C97-93CF-BD9371FDE52A}"/>
                          </a:ext>
                        </a:extLst>
                      </p:cNvPr>
                      <p:cNvPicPr/>
                      <p:nvPr/>
                    </p:nvPicPr>
                    <p:blipFill>
                      <a:blip r:embed="rId7"/>
                      <a:stretch>
                        <a:fillRect/>
                      </a:stretch>
                    </p:blipFill>
                    <p:spPr>
                      <a:xfrm>
                        <a:off x="1191" y="1191"/>
                        <a:ext cx="1191" cy="1191"/>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F4926E8D-61F0-12E1-2192-CDF40F3237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901" y="316095"/>
            <a:ext cx="928686" cy="504974"/>
          </a:xfrm>
          <a:prstGeom prst="rect">
            <a:avLst/>
          </a:prstGeom>
        </p:spPr>
      </p:pic>
      <p:sp>
        <p:nvSpPr>
          <p:cNvPr id="13" name="Title 2">
            <a:extLst>
              <a:ext uri="{FF2B5EF4-FFF2-40B4-BE49-F238E27FC236}">
                <a16:creationId xmlns:a16="http://schemas.microsoft.com/office/drawing/2014/main" id="{A1F458F8-D115-1080-4F1E-1B81715A4646}"/>
              </a:ext>
            </a:extLst>
          </p:cNvPr>
          <p:cNvSpPr txBox="1">
            <a:spLocks/>
          </p:cNvSpPr>
          <p:nvPr/>
        </p:nvSpPr>
        <p:spPr>
          <a:xfrm>
            <a:off x="95367" y="2014319"/>
            <a:ext cx="4787917" cy="324961"/>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2000" dirty="0">
                <a:solidFill>
                  <a:srgbClr val="EC1B3D"/>
                </a:solidFill>
                <a:latin typeface="Aptos" panose="020B0004020202020204" pitchFamily="34" charset="0"/>
                <a:cs typeface="Arial" panose="020B0604020202020204" pitchFamily="34" charset="0"/>
              </a:rPr>
              <a:t>PITSTOP 6 – Service Assurance - QE </a:t>
            </a:r>
            <a:endParaRPr lang="en-US" sz="2000" dirty="0">
              <a:solidFill>
                <a:srgbClr val="231F20"/>
              </a:solidFill>
              <a:latin typeface="Aptos" panose="020B0004020202020204" pitchFamily="34" charset="0"/>
              <a:cs typeface="Arial" panose="020B0604020202020204" pitchFamily="34" charset="0"/>
            </a:endParaRPr>
          </a:p>
        </p:txBody>
      </p:sp>
      <p:sp>
        <p:nvSpPr>
          <p:cNvPr id="14" name="Title 2">
            <a:extLst>
              <a:ext uri="{FF2B5EF4-FFF2-40B4-BE49-F238E27FC236}">
                <a16:creationId xmlns:a16="http://schemas.microsoft.com/office/drawing/2014/main" id="{BA8BFDDF-171C-0CE9-FDAD-8DF5D021010F}"/>
              </a:ext>
            </a:extLst>
          </p:cNvPr>
          <p:cNvSpPr txBox="1">
            <a:spLocks/>
          </p:cNvSpPr>
          <p:nvPr/>
        </p:nvSpPr>
        <p:spPr>
          <a:xfrm>
            <a:off x="95367" y="2515977"/>
            <a:ext cx="4337112" cy="253916"/>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1500" dirty="0">
                <a:solidFill>
                  <a:srgbClr val="000000"/>
                </a:solidFill>
                <a:latin typeface="Aptos" panose="020B0004020202020204" pitchFamily="34" charset="0"/>
                <a:cs typeface="Arial" panose="020B0604020202020204" pitchFamily="34" charset="0"/>
              </a:rPr>
              <a:t>Gaurav Rohra</a:t>
            </a:r>
          </a:p>
        </p:txBody>
      </p:sp>
    </p:spTree>
    <p:extLst>
      <p:ext uri="{BB962C8B-B14F-4D97-AF65-F5344CB8AC3E}">
        <p14:creationId xmlns:p14="http://schemas.microsoft.com/office/powerpoint/2010/main" val="37426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6AC33-C54C-3AF1-52CF-06EDA7536EBC}"/>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030DE08A-2333-2BC5-50C3-F82AF0482F3E}"/>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D2AB7A12-94EF-3490-C909-13DAC24F6D3E}"/>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Service Assurance – Quality Engineering</a:t>
            </a:r>
            <a:endParaRPr lang="en-SG" sz="1800" b="1" dirty="0">
              <a:solidFill>
                <a:srgbClr val="FFFFFF"/>
              </a:solidFill>
              <a:latin typeface="Calibri" pitchFamily="34" charset="0"/>
              <a:ea typeface="Calibri" pitchFamily="34" charset="-122"/>
              <a:cs typeface="Calibri" pitchFamily="34" charset="-120"/>
            </a:endParaRPr>
          </a:p>
        </p:txBody>
      </p:sp>
      <p:sp>
        <p:nvSpPr>
          <p:cNvPr id="29" name="Freeform: Shape 28">
            <a:extLst>
              <a:ext uri="{FF2B5EF4-FFF2-40B4-BE49-F238E27FC236}">
                <a16:creationId xmlns:a16="http://schemas.microsoft.com/office/drawing/2014/main" id="{B5CB17E7-92D7-3592-C8DA-AE3F010C591C}"/>
              </a:ext>
            </a:extLst>
          </p:cNvPr>
          <p:cNvSpPr/>
          <p:nvPr/>
        </p:nvSpPr>
        <p:spPr>
          <a:xfrm>
            <a:off x="308610" y="780893"/>
            <a:ext cx="4270534" cy="1953369"/>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0" name="Freeform: Shape 29">
            <a:extLst>
              <a:ext uri="{FF2B5EF4-FFF2-40B4-BE49-F238E27FC236}">
                <a16:creationId xmlns:a16="http://schemas.microsoft.com/office/drawing/2014/main" id="{4F2E3610-3431-CBF1-1403-A3E4E092BDB4}"/>
              </a:ext>
            </a:extLst>
          </p:cNvPr>
          <p:cNvSpPr/>
          <p:nvPr/>
        </p:nvSpPr>
        <p:spPr>
          <a:xfrm>
            <a:off x="308611" y="780893"/>
            <a:ext cx="4270533" cy="1953369"/>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ln>
            <a:solidFill>
              <a:srgbClr val="C00000"/>
            </a:solidFill>
          </a:ln>
        </p:spPr>
        <p:style>
          <a:lnRef idx="2">
            <a:schemeClr val="accent1"/>
          </a:lnRef>
          <a:fillRef idx="0">
            <a:schemeClr val="accent1"/>
          </a:fillRef>
          <a:effectRef idx="1">
            <a:schemeClr val="accent1"/>
          </a:effectRef>
          <a:fontRef idx="minor">
            <a:schemeClr val="tx1"/>
          </a:fontRef>
        </p:style>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Freeform: Shape 30">
            <a:extLst>
              <a:ext uri="{FF2B5EF4-FFF2-40B4-BE49-F238E27FC236}">
                <a16:creationId xmlns:a16="http://schemas.microsoft.com/office/drawing/2014/main" id="{54DEDF17-A6B9-3508-101A-91E8A072E144}"/>
              </a:ext>
            </a:extLst>
          </p:cNvPr>
          <p:cNvSpPr/>
          <p:nvPr/>
        </p:nvSpPr>
        <p:spPr>
          <a:xfrm>
            <a:off x="308610" y="780892"/>
            <a:ext cx="57066" cy="1953369"/>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 2">
            <a:extLst>
              <a:ext uri="{FF2B5EF4-FFF2-40B4-BE49-F238E27FC236}">
                <a16:creationId xmlns:a16="http://schemas.microsoft.com/office/drawing/2014/main" id="{0062805E-6E2B-5976-49CC-A18220923CC4}"/>
              </a:ext>
            </a:extLst>
          </p:cNvPr>
          <p:cNvSpPr/>
          <p:nvPr/>
        </p:nvSpPr>
        <p:spPr>
          <a:xfrm>
            <a:off x="631214" y="919155"/>
            <a:ext cx="2300883"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Achievements</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33" name="Freeform: Shape 32">
            <a:extLst>
              <a:ext uri="{FF2B5EF4-FFF2-40B4-BE49-F238E27FC236}">
                <a16:creationId xmlns:a16="http://schemas.microsoft.com/office/drawing/2014/main" id="{3383FC98-BFFB-45D8-666B-1B14D4FCC5BC}"/>
              </a:ext>
            </a:extLst>
          </p:cNvPr>
          <p:cNvSpPr/>
          <p:nvPr/>
        </p:nvSpPr>
        <p:spPr>
          <a:xfrm>
            <a:off x="4717488" y="780893"/>
            <a:ext cx="4183625" cy="1953369"/>
          </a:xfrm>
          <a:custGeom>
            <a:avLst/>
            <a:gdLst>
              <a:gd name="csX0" fmla="*/ 76090 w 3512840"/>
              <a:gd name="csY0" fmla="*/ 0 h 2604492"/>
              <a:gd name="csX1" fmla="*/ 3455035 w 3512840"/>
              <a:gd name="csY1" fmla="*/ 0 h 2604492"/>
              <a:gd name="csX2" fmla="*/ 3512840 w 3512840"/>
              <a:gd name="csY2" fmla="*/ 57770 h 2604492"/>
              <a:gd name="csX3" fmla="*/ 3512840 w 3512840"/>
              <a:gd name="csY3" fmla="*/ 2546723 h 2604492"/>
              <a:gd name="csX4" fmla="*/ 3455035 w 3512840"/>
              <a:gd name="csY4" fmla="*/ 2604492 h 2604492"/>
              <a:gd name="csX5" fmla="*/ 76090 w 3512840"/>
              <a:gd name="csY5" fmla="*/ 2604492 h 2604492"/>
              <a:gd name="csX6" fmla="*/ 0 w 3512840"/>
              <a:gd name="csY6" fmla="*/ 2528449 h 2604492"/>
              <a:gd name="csX7" fmla="*/ 0 w 3512840"/>
              <a:gd name="csY7" fmla="*/ 76044 h 2604492"/>
              <a:gd name="csX8" fmla="*/ 76090 w 35128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840" h="2604492">
                <a:moveTo>
                  <a:pt x="76090" y="0"/>
                </a:moveTo>
                <a:lnTo>
                  <a:pt x="3455035" y="0"/>
                </a:lnTo>
                <a:cubicBezTo>
                  <a:pt x="3486960" y="0"/>
                  <a:pt x="3512840" y="25864"/>
                  <a:pt x="3512840" y="57770"/>
                </a:cubicBezTo>
                <a:lnTo>
                  <a:pt x="3512840" y="2546723"/>
                </a:lnTo>
                <a:cubicBezTo>
                  <a:pt x="3512840" y="2578628"/>
                  <a:pt x="3486960" y="2604492"/>
                  <a:pt x="3455035" y="2604492"/>
                </a:cubicBezTo>
                <a:lnTo>
                  <a:pt x="76090" y="2604492"/>
                </a:lnTo>
                <a:cubicBezTo>
                  <a:pt x="34067" y="2604492"/>
                  <a:pt x="0" y="2570446"/>
                  <a:pt x="0" y="2528449"/>
                </a:cubicBezTo>
                <a:lnTo>
                  <a:pt x="0" y="76044"/>
                </a:lnTo>
                <a:cubicBezTo>
                  <a:pt x="0" y="34046"/>
                  <a:pt x="34067" y="0"/>
                  <a:pt x="76090" y="0"/>
                </a:cubicBezTo>
              </a:path>
            </a:pathLst>
          </a:custGeom>
          <a:solidFill>
            <a:schemeClr val="bg1">
              <a:lumMod val="95000"/>
            </a:schemeClr>
          </a:solidFill>
          <a:ln w="6327" cap="flat">
            <a:solidFill>
              <a:srgbClr val="C00000"/>
            </a:solid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4" name="Freeform: Shape 33">
            <a:extLst>
              <a:ext uri="{FF2B5EF4-FFF2-40B4-BE49-F238E27FC236}">
                <a16:creationId xmlns:a16="http://schemas.microsoft.com/office/drawing/2014/main" id="{BF87E695-C51D-0D98-AE0E-27CFBFB4AD15}"/>
              </a:ext>
            </a:extLst>
          </p:cNvPr>
          <p:cNvSpPr/>
          <p:nvPr/>
        </p:nvSpPr>
        <p:spPr>
          <a:xfrm>
            <a:off x="4717489" y="780893"/>
            <a:ext cx="4183625" cy="1953369"/>
          </a:xfrm>
          <a:custGeom>
            <a:avLst/>
            <a:gdLst>
              <a:gd name="csX0" fmla="*/ 22288 w 3512840"/>
              <a:gd name="csY0" fmla="*/ 22274 h 2604492"/>
              <a:gd name="csX1" fmla="*/ 76090 w 3512840"/>
              <a:gd name="csY1" fmla="*/ 0 h 2604492"/>
              <a:gd name="csX2" fmla="*/ 3455035 w 3512840"/>
              <a:gd name="csY2" fmla="*/ 0 h 2604492"/>
              <a:gd name="csX3" fmla="*/ 3512840 w 3512840"/>
              <a:gd name="csY3" fmla="*/ 57770 h 2604492"/>
              <a:gd name="csX4" fmla="*/ 3512840 w 3512840"/>
              <a:gd name="csY4" fmla="*/ 2546723 h 2604492"/>
              <a:gd name="csX5" fmla="*/ 3455035 w 3512840"/>
              <a:gd name="csY5" fmla="*/ 2604492 h 2604492"/>
              <a:gd name="csX6" fmla="*/ 76090 w 3512840"/>
              <a:gd name="csY6" fmla="*/ 2604492 h 2604492"/>
              <a:gd name="csX7" fmla="*/ 0 w 3512840"/>
              <a:gd name="csY7" fmla="*/ 2528449 h 2604492"/>
              <a:gd name="csX8" fmla="*/ 0 w 3512840"/>
              <a:gd name="csY8" fmla="*/ 76044 h 2604492"/>
              <a:gd name="csX9" fmla="*/ 22288 w 35128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840" h="2604492">
                <a:moveTo>
                  <a:pt x="22288" y="22274"/>
                </a:moveTo>
                <a:cubicBezTo>
                  <a:pt x="36557" y="8013"/>
                  <a:pt x="55910" y="1"/>
                  <a:pt x="76090" y="0"/>
                </a:cubicBezTo>
                <a:lnTo>
                  <a:pt x="3455035" y="0"/>
                </a:lnTo>
                <a:cubicBezTo>
                  <a:pt x="3486960" y="0"/>
                  <a:pt x="3512840" y="25864"/>
                  <a:pt x="3512840" y="57770"/>
                </a:cubicBezTo>
                <a:lnTo>
                  <a:pt x="3512840" y="2546723"/>
                </a:lnTo>
                <a:cubicBezTo>
                  <a:pt x="3512840" y="2578628"/>
                  <a:pt x="3486960" y="2604492"/>
                  <a:pt x="3455035" y="2604492"/>
                </a:cubicBezTo>
                <a:lnTo>
                  <a:pt x="76090" y="2604492"/>
                </a:lnTo>
                <a:cubicBezTo>
                  <a:pt x="34067" y="2604492"/>
                  <a:pt x="0" y="2570446"/>
                  <a:pt x="0" y="2528449"/>
                </a:cubicBezTo>
                <a:lnTo>
                  <a:pt x="0" y="76044"/>
                </a:lnTo>
                <a:cubicBezTo>
                  <a:pt x="1" y="55876"/>
                  <a:pt x="8018" y="36535"/>
                  <a:pt x="22288" y="22274"/>
                </a:cubicBezTo>
              </a:path>
            </a:pathLst>
          </a:custGeom>
          <a:noFill/>
          <a:ln w="37962" cap="flat">
            <a:solidFill>
              <a:srgbClr val="C00000"/>
            </a:solid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6073A538-5CC1-DD83-AA20-CB647F105D7B}"/>
              </a:ext>
            </a:extLst>
          </p:cNvPr>
          <p:cNvSpPr/>
          <p:nvPr/>
        </p:nvSpPr>
        <p:spPr>
          <a:xfrm>
            <a:off x="4717488" y="780892"/>
            <a:ext cx="57068" cy="1953369"/>
          </a:xfrm>
          <a:custGeom>
            <a:avLst/>
            <a:gdLst>
              <a:gd name="csX0" fmla="*/ 57805 w 76090"/>
              <a:gd name="csY0" fmla="*/ 0 h 2604492"/>
              <a:gd name="csX1" fmla="*/ 76090 w 76090"/>
              <a:gd name="csY1" fmla="*/ 0 h 2604492"/>
              <a:gd name="csX2" fmla="*/ 76090 w 76090"/>
              <a:gd name="csY2" fmla="*/ 0 h 2604492"/>
              <a:gd name="csX3" fmla="*/ 76090 w 76090"/>
              <a:gd name="csY3" fmla="*/ 2604492 h 2604492"/>
              <a:gd name="csX4" fmla="*/ 76090 w 76090"/>
              <a:gd name="csY4" fmla="*/ 2604492 h 2604492"/>
              <a:gd name="csX5" fmla="*/ 57805 w 76090"/>
              <a:gd name="csY5" fmla="*/ 2604492 h 2604492"/>
              <a:gd name="csX6" fmla="*/ 0 w 76090"/>
              <a:gd name="csY6" fmla="*/ 2546723 h 2604492"/>
              <a:gd name="csX7" fmla="*/ 0 w 76090"/>
              <a:gd name="csY7" fmla="*/ 57770 h 2604492"/>
              <a:gd name="csX8" fmla="*/ 57805 w 7609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90" h="2604492">
                <a:moveTo>
                  <a:pt x="57805" y="0"/>
                </a:moveTo>
                <a:lnTo>
                  <a:pt x="76090" y="0"/>
                </a:lnTo>
                <a:lnTo>
                  <a:pt x="76090" y="0"/>
                </a:lnTo>
                <a:lnTo>
                  <a:pt x="76090" y="2604492"/>
                </a:lnTo>
                <a:lnTo>
                  <a:pt x="76090" y="2604492"/>
                </a:lnTo>
                <a:lnTo>
                  <a:pt x="57805" y="2604492"/>
                </a:lnTo>
                <a:cubicBezTo>
                  <a:pt x="25880" y="2604492"/>
                  <a:pt x="0" y="2578628"/>
                  <a:pt x="0" y="2546723"/>
                </a:cubicBezTo>
                <a:lnTo>
                  <a:pt x="0" y="57770"/>
                </a:lnTo>
                <a:cubicBezTo>
                  <a:pt x="0" y="25864"/>
                  <a:pt x="25880" y="0"/>
                  <a:pt x="57805"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Text 4">
            <a:extLst>
              <a:ext uri="{FF2B5EF4-FFF2-40B4-BE49-F238E27FC236}">
                <a16:creationId xmlns:a16="http://schemas.microsoft.com/office/drawing/2014/main" id="{E6D9363B-17FA-1ED3-02E4-0A0EFB52B73A}"/>
              </a:ext>
            </a:extLst>
          </p:cNvPr>
          <p:cNvSpPr/>
          <p:nvPr/>
        </p:nvSpPr>
        <p:spPr>
          <a:xfrm>
            <a:off x="5166556" y="919155"/>
            <a:ext cx="2300957"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Capability</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43AB82C5-D0FF-5A31-033A-97C51343E66C}"/>
              </a:ext>
            </a:extLst>
          </p:cNvPr>
          <p:cNvSpPr/>
          <p:nvPr/>
        </p:nvSpPr>
        <p:spPr>
          <a:xfrm>
            <a:off x="308610" y="2787182"/>
            <a:ext cx="4270534" cy="1953369"/>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solidFill>
              <a:srgbClr val="C00000"/>
            </a:solid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8" name="Freeform: Shape 37">
            <a:extLst>
              <a:ext uri="{FF2B5EF4-FFF2-40B4-BE49-F238E27FC236}">
                <a16:creationId xmlns:a16="http://schemas.microsoft.com/office/drawing/2014/main" id="{DF070C2A-5C62-5608-9B33-1F7554750D79}"/>
              </a:ext>
            </a:extLst>
          </p:cNvPr>
          <p:cNvSpPr/>
          <p:nvPr/>
        </p:nvSpPr>
        <p:spPr>
          <a:xfrm>
            <a:off x="308611" y="2787182"/>
            <a:ext cx="4270533" cy="1953369"/>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00000"/>
            </a:solid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9" name="Freeform: Shape 38">
            <a:extLst>
              <a:ext uri="{FF2B5EF4-FFF2-40B4-BE49-F238E27FC236}">
                <a16:creationId xmlns:a16="http://schemas.microsoft.com/office/drawing/2014/main" id="{44532AAC-EC8B-1AD3-33B1-F5CE9A787D42}"/>
              </a:ext>
            </a:extLst>
          </p:cNvPr>
          <p:cNvSpPr/>
          <p:nvPr/>
        </p:nvSpPr>
        <p:spPr>
          <a:xfrm>
            <a:off x="308610" y="2787181"/>
            <a:ext cx="57066" cy="1953369"/>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Text 6">
            <a:extLst>
              <a:ext uri="{FF2B5EF4-FFF2-40B4-BE49-F238E27FC236}">
                <a16:creationId xmlns:a16="http://schemas.microsoft.com/office/drawing/2014/main" id="{CF394834-7CA7-2F53-C40C-C81D43639A8B}"/>
              </a:ext>
            </a:extLst>
          </p:cNvPr>
          <p:cNvSpPr/>
          <p:nvPr/>
        </p:nvSpPr>
        <p:spPr>
          <a:xfrm>
            <a:off x="688281" y="2925444"/>
            <a:ext cx="2300883"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Value Add</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C0573D02-3689-B1F2-852B-2E4D5D3884E9}"/>
              </a:ext>
            </a:extLst>
          </p:cNvPr>
          <p:cNvSpPr/>
          <p:nvPr/>
        </p:nvSpPr>
        <p:spPr>
          <a:xfrm>
            <a:off x="4717488" y="2787181"/>
            <a:ext cx="4183625" cy="1953369"/>
          </a:xfrm>
          <a:custGeom>
            <a:avLst/>
            <a:gdLst>
              <a:gd name="csX0" fmla="*/ 76090 w 3512840"/>
              <a:gd name="csY0" fmla="*/ 0 h 2604492"/>
              <a:gd name="csX1" fmla="*/ 3455035 w 3512840"/>
              <a:gd name="csY1" fmla="*/ 0 h 2604492"/>
              <a:gd name="csX2" fmla="*/ 3512840 w 3512840"/>
              <a:gd name="csY2" fmla="*/ 57770 h 2604492"/>
              <a:gd name="csX3" fmla="*/ 3512840 w 3512840"/>
              <a:gd name="csY3" fmla="*/ 2546723 h 2604492"/>
              <a:gd name="csX4" fmla="*/ 3455035 w 3512840"/>
              <a:gd name="csY4" fmla="*/ 2604492 h 2604492"/>
              <a:gd name="csX5" fmla="*/ 76090 w 3512840"/>
              <a:gd name="csY5" fmla="*/ 2604492 h 2604492"/>
              <a:gd name="csX6" fmla="*/ 0 w 3512840"/>
              <a:gd name="csY6" fmla="*/ 2528449 h 2604492"/>
              <a:gd name="csX7" fmla="*/ 0 w 3512840"/>
              <a:gd name="csY7" fmla="*/ 76044 h 2604492"/>
              <a:gd name="csX8" fmla="*/ 76090 w 35128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840" h="2604492">
                <a:moveTo>
                  <a:pt x="76090" y="0"/>
                </a:moveTo>
                <a:lnTo>
                  <a:pt x="3455035" y="0"/>
                </a:lnTo>
                <a:cubicBezTo>
                  <a:pt x="3486960" y="0"/>
                  <a:pt x="3512840" y="25864"/>
                  <a:pt x="3512840" y="57770"/>
                </a:cubicBezTo>
                <a:lnTo>
                  <a:pt x="3512840" y="2546723"/>
                </a:lnTo>
                <a:cubicBezTo>
                  <a:pt x="3512840" y="2578628"/>
                  <a:pt x="3486960" y="2604492"/>
                  <a:pt x="3455035" y="2604492"/>
                </a:cubicBezTo>
                <a:lnTo>
                  <a:pt x="76090" y="2604492"/>
                </a:lnTo>
                <a:cubicBezTo>
                  <a:pt x="34067" y="2604492"/>
                  <a:pt x="0" y="2570446"/>
                  <a:pt x="0" y="2528449"/>
                </a:cubicBezTo>
                <a:lnTo>
                  <a:pt x="0" y="76044"/>
                </a:lnTo>
                <a:cubicBezTo>
                  <a:pt x="0" y="34046"/>
                  <a:pt x="34067" y="0"/>
                  <a:pt x="76090" y="0"/>
                </a:cubicBezTo>
              </a:path>
            </a:pathLst>
          </a:custGeom>
          <a:solidFill>
            <a:schemeClr val="bg1">
              <a:lumMod val="95000"/>
            </a:schemeClr>
          </a:solidFill>
          <a:ln w="6327" cap="flat">
            <a:noFill/>
            <a:prstDash val="solid"/>
            <a:miter/>
          </a:ln>
        </p:spPr>
        <p:txBody>
          <a:bodyPr/>
          <a:lstStyle/>
          <a:p>
            <a:pPr>
              <a:defRPr/>
            </a:pP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A5207A25-1D8B-32A7-C90E-8F459A0E7F58}"/>
              </a:ext>
            </a:extLst>
          </p:cNvPr>
          <p:cNvSpPr/>
          <p:nvPr/>
        </p:nvSpPr>
        <p:spPr>
          <a:xfrm>
            <a:off x="4717488" y="2787181"/>
            <a:ext cx="4183625" cy="1953369"/>
          </a:xfrm>
          <a:custGeom>
            <a:avLst/>
            <a:gdLst>
              <a:gd name="csX0" fmla="*/ 22288 w 3512840"/>
              <a:gd name="csY0" fmla="*/ 22274 h 2604492"/>
              <a:gd name="csX1" fmla="*/ 76090 w 3512840"/>
              <a:gd name="csY1" fmla="*/ 0 h 2604492"/>
              <a:gd name="csX2" fmla="*/ 3455035 w 3512840"/>
              <a:gd name="csY2" fmla="*/ 0 h 2604492"/>
              <a:gd name="csX3" fmla="*/ 3512840 w 3512840"/>
              <a:gd name="csY3" fmla="*/ 57770 h 2604492"/>
              <a:gd name="csX4" fmla="*/ 3512840 w 3512840"/>
              <a:gd name="csY4" fmla="*/ 2546723 h 2604492"/>
              <a:gd name="csX5" fmla="*/ 3455035 w 3512840"/>
              <a:gd name="csY5" fmla="*/ 2604492 h 2604492"/>
              <a:gd name="csX6" fmla="*/ 76090 w 3512840"/>
              <a:gd name="csY6" fmla="*/ 2604492 h 2604492"/>
              <a:gd name="csX7" fmla="*/ 0 w 3512840"/>
              <a:gd name="csY7" fmla="*/ 2528449 h 2604492"/>
              <a:gd name="csX8" fmla="*/ 0 w 3512840"/>
              <a:gd name="csY8" fmla="*/ 76044 h 2604492"/>
              <a:gd name="csX9" fmla="*/ 22288 w 35128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840" h="2604492">
                <a:moveTo>
                  <a:pt x="22288" y="22274"/>
                </a:moveTo>
                <a:cubicBezTo>
                  <a:pt x="36557" y="8013"/>
                  <a:pt x="55910" y="1"/>
                  <a:pt x="76090" y="0"/>
                </a:cubicBezTo>
                <a:lnTo>
                  <a:pt x="3455035" y="0"/>
                </a:lnTo>
                <a:cubicBezTo>
                  <a:pt x="3486960" y="0"/>
                  <a:pt x="3512840" y="25864"/>
                  <a:pt x="3512840" y="57770"/>
                </a:cubicBezTo>
                <a:lnTo>
                  <a:pt x="3512840" y="2546723"/>
                </a:lnTo>
                <a:cubicBezTo>
                  <a:pt x="3512840" y="2578628"/>
                  <a:pt x="3486960" y="2604492"/>
                  <a:pt x="3455035" y="2604492"/>
                </a:cubicBezTo>
                <a:lnTo>
                  <a:pt x="76090" y="2604492"/>
                </a:lnTo>
                <a:cubicBezTo>
                  <a:pt x="34067" y="2604492"/>
                  <a:pt x="0" y="2570446"/>
                  <a:pt x="0" y="2528449"/>
                </a:cubicBezTo>
                <a:lnTo>
                  <a:pt x="0" y="76044"/>
                </a:lnTo>
                <a:cubicBezTo>
                  <a:pt x="1" y="55876"/>
                  <a:pt x="8018" y="36535"/>
                  <a:pt x="22288" y="22274"/>
                </a:cubicBezTo>
              </a:path>
            </a:pathLst>
          </a:custGeom>
          <a:noFill/>
          <a:ln w="37962" cap="flat">
            <a:solidFill>
              <a:srgbClr val="C00000"/>
            </a:solid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F3D6063E-CC39-84D9-6199-3015C66053A2}"/>
              </a:ext>
            </a:extLst>
          </p:cNvPr>
          <p:cNvSpPr/>
          <p:nvPr/>
        </p:nvSpPr>
        <p:spPr>
          <a:xfrm>
            <a:off x="4717487" y="2787180"/>
            <a:ext cx="57068" cy="1953369"/>
          </a:xfrm>
          <a:custGeom>
            <a:avLst/>
            <a:gdLst>
              <a:gd name="csX0" fmla="*/ 57805 w 76090"/>
              <a:gd name="csY0" fmla="*/ 0 h 2604492"/>
              <a:gd name="csX1" fmla="*/ 76090 w 76090"/>
              <a:gd name="csY1" fmla="*/ 0 h 2604492"/>
              <a:gd name="csX2" fmla="*/ 76090 w 76090"/>
              <a:gd name="csY2" fmla="*/ 0 h 2604492"/>
              <a:gd name="csX3" fmla="*/ 76090 w 76090"/>
              <a:gd name="csY3" fmla="*/ 2604492 h 2604492"/>
              <a:gd name="csX4" fmla="*/ 76090 w 76090"/>
              <a:gd name="csY4" fmla="*/ 2604492 h 2604492"/>
              <a:gd name="csX5" fmla="*/ 57805 w 76090"/>
              <a:gd name="csY5" fmla="*/ 2604492 h 2604492"/>
              <a:gd name="csX6" fmla="*/ 0 w 76090"/>
              <a:gd name="csY6" fmla="*/ 2546723 h 2604492"/>
              <a:gd name="csX7" fmla="*/ 0 w 76090"/>
              <a:gd name="csY7" fmla="*/ 57770 h 2604492"/>
              <a:gd name="csX8" fmla="*/ 57805 w 7609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90" h="2604492">
                <a:moveTo>
                  <a:pt x="57805" y="0"/>
                </a:moveTo>
                <a:lnTo>
                  <a:pt x="76090" y="0"/>
                </a:lnTo>
                <a:lnTo>
                  <a:pt x="76090" y="0"/>
                </a:lnTo>
                <a:lnTo>
                  <a:pt x="76090" y="2604492"/>
                </a:lnTo>
                <a:lnTo>
                  <a:pt x="76090" y="2604492"/>
                </a:lnTo>
                <a:lnTo>
                  <a:pt x="57805" y="2604492"/>
                </a:lnTo>
                <a:cubicBezTo>
                  <a:pt x="25880" y="2604492"/>
                  <a:pt x="0" y="2578628"/>
                  <a:pt x="0" y="2546723"/>
                </a:cubicBezTo>
                <a:lnTo>
                  <a:pt x="0" y="57770"/>
                </a:lnTo>
                <a:cubicBezTo>
                  <a:pt x="0" y="25864"/>
                  <a:pt x="25880" y="0"/>
                  <a:pt x="57805"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4" name="Text 4">
            <a:extLst>
              <a:ext uri="{FF2B5EF4-FFF2-40B4-BE49-F238E27FC236}">
                <a16:creationId xmlns:a16="http://schemas.microsoft.com/office/drawing/2014/main" id="{4AD4A701-7341-E822-5725-D97D21AC0FE4}"/>
              </a:ext>
            </a:extLst>
          </p:cNvPr>
          <p:cNvSpPr/>
          <p:nvPr/>
        </p:nvSpPr>
        <p:spPr>
          <a:xfrm>
            <a:off x="5166556" y="2925443"/>
            <a:ext cx="2300957"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Going Forward/ How we align with FY27 Strategy</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7AC97678-7F7F-70F9-D54E-D1B7D5EB3B19}"/>
              </a:ext>
            </a:extLst>
          </p:cNvPr>
          <p:cNvSpPr txBox="1"/>
          <p:nvPr/>
        </p:nvSpPr>
        <p:spPr>
          <a:xfrm>
            <a:off x="308610" y="722557"/>
            <a:ext cx="184261" cy="646331"/>
          </a:xfrm>
          <a:prstGeom prst="rect">
            <a:avLst/>
          </a:prstGeom>
          <a:noFill/>
        </p:spPr>
        <p:txBody>
          <a:bodyPr wrap="square" rtlCol="0">
            <a:spAutoFit/>
          </a:bodyPr>
          <a:lstStyle/>
          <a:p>
            <a:r>
              <a:rPr lang="en-US" sz="3600"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1</a:t>
            </a:r>
            <a:endParaRPr lang="en-US" sz="1013"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E2BB9848-95B4-905D-AA33-0AF30DA73D5F}"/>
              </a:ext>
            </a:extLst>
          </p:cNvPr>
          <p:cNvSpPr txBox="1"/>
          <p:nvPr/>
        </p:nvSpPr>
        <p:spPr>
          <a:xfrm>
            <a:off x="4774555" y="722557"/>
            <a:ext cx="184261" cy="646331"/>
          </a:xfrm>
          <a:prstGeom prst="rect">
            <a:avLst/>
          </a:prstGeom>
          <a:noFill/>
        </p:spPr>
        <p:txBody>
          <a:bodyPr wrap="square" rtlCol="0">
            <a:spAutoFit/>
          </a:bodyPr>
          <a:lstStyle/>
          <a:p>
            <a:r>
              <a:rPr lang="en-US" sz="3600"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3</a:t>
            </a:r>
            <a:endParaRPr lang="en-US" sz="1013"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47A36AE9-E2D2-4938-17D8-DE7EBECEF364}"/>
              </a:ext>
            </a:extLst>
          </p:cNvPr>
          <p:cNvSpPr txBox="1"/>
          <p:nvPr/>
        </p:nvSpPr>
        <p:spPr>
          <a:xfrm>
            <a:off x="308610" y="2720416"/>
            <a:ext cx="184261" cy="646331"/>
          </a:xfrm>
          <a:prstGeom prst="rect">
            <a:avLst/>
          </a:prstGeom>
          <a:noFill/>
        </p:spPr>
        <p:txBody>
          <a:bodyPr wrap="square" rtlCol="0">
            <a:spAutoFit/>
          </a:bodyPr>
          <a:lstStyle/>
          <a:p>
            <a:r>
              <a:rPr lang="en-US" sz="3600"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2</a:t>
            </a:r>
            <a:endParaRPr lang="en-US" sz="1013"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BE4B5C2D-78D2-9F14-34C0-666F1CBA4202}"/>
              </a:ext>
            </a:extLst>
          </p:cNvPr>
          <p:cNvSpPr txBox="1"/>
          <p:nvPr/>
        </p:nvSpPr>
        <p:spPr>
          <a:xfrm>
            <a:off x="4774555" y="2720416"/>
            <a:ext cx="184261" cy="646331"/>
          </a:xfrm>
          <a:prstGeom prst="rect">
            <a:avLst/>
          </a:prstGeom>
          <a:noFill/>
        </p:spPr>
        <p:txBody>
          <a:bodyPr wrap="square" rtlCol="0">
            <a:spAutoFit/>
          </a:bodyPr>
          <a:lstStyle/>
          <a:p>
            <a:r>
              <a:rPr lang="en-US" sz="3600"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rPr>
              <a:t>4</a:t>
            </a:r>
            <a:endParaRPr lang="en-US" sz="1013"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TextBox 48">
            <a:extLst>
              <a:ext uri="{FF2B5EF4-FFF2-40B4-BE49-F238E27FC236}">
                <a16:creationId xmlns:a16="http://schemas.microsoft.com/office/drawing/2014/main" id="{E2D784EF-06BD-73D1-E2F7-64D98808504D}"/>
              </a:ext>
            </a:extLst>
          </p:cNvPr>
          <p:cNvSpPr txBox="1"/>
          <p:nvPr/>
        </p:nvSpPr>
        <p:spPr>
          <a:xfrm>
            <a:off x="590930" y="1211282"/>
            <a:ext cx="3988214" cy="1450397"/>
          </a:xfrm>
          <a:prstGeom prst="rect">
            <a:avLst/>
          </a:prstGeom>
          <a:noFill/>
        </p:spPr>
        <p:txBody>
          <a:bodyPr wrap="square">
            <a:spAutoFit/>
          </a:bodyPr>
          <a:lstStyle/>
          <a:p>
            <a:pPr marL="214313" indent="-214313">
              <a:lnSpc>
                <a:spcPct val="150000"/>
              </a:lnSpc>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QE CoE involved in majority of deliverables across CIT, EIT and EP. </a:t>
            </a:r>
          </a:p>
          <a:p>
            <a:pPr marL="214313" indent="-214313">
              <a:lnSpc>
                <a:spcPct val="150000"/>
              </a:lnSpc>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Regression Automation across divisions</a:t>
            </a:r>
          </a:p>
          <a:p>
            <a:pPr marL="214313" indent="-214313">
              <a:lnSpc>
                <a:spcPct val="150000"/>
              </a:lnSpc>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Delivered various Mission Critical Projects like, </a:t>
            </a:r>
            <a:r>
              <a:rPr lang="en-SG" sz="1050" kern="0" dirty="0">
                <a:latin typeface="Calibri" panose="020F0502020204030204" pitchFamily="34" charset="0"/>
                <a:ea typeface="Calibri" panose="020F0502020204030204" pitchFamily="34" charset="0"/>
                <a:cs typeface="Calibri" panose="020F0502020204030204" pitchFamily="34" charset="0"/>
              </a:rPr>
              <a:t>NCSOM Upgrade, Provisioning Flow Simplification, </a:t>
            </a:r>
            <a:r>
              <a:rPr lang="en-US" sz="1050" kern="0" dirty="0">
                <a:latin typeface="Calibri" panose="020F0502020204030204" pitchFamily="34" charset="0"/>
                <a:ea typeface="Calibri" panose="020F0502020204030204" pitchFamily="34" charset="0"/>
                <a:cs typeface="Calibri" panose="020F0502020204030204" pitchFamily="34" charset="0"/>
              </a:rPr>
              <a:t>Project Fusion, </a:t>
            </a:r>
            <a:r>
              <a:rPr lang="en-SG" sz="1050" kern="0" dirty="0">
                <a:latin typeface="Calibri" panose="020F0502020204030204" pitchFamily="34" charset="0"/>
                <a:ea typeface="Calibri" panose="020F0502020204030204" pitchFamily="34" charset="0"/>
                <a:cs typeface="Calibri" panose="020F0502020204030204" pitchFamily="34" charset="0"/>
              </a:rPr>
              <a:t>EIPAAS API, Project PCS, Roaming Using Local </a:t>
            </a:r>
            <a:r>
              <a:rPr lang="en-SG" sz="1050" kern="0" dirty="0" err="1">
                <a:latin typeface="Calibri" panose="020F0502020204030204" pitchFamily="34" charset="0"/>
                <a:ea typeface="Calibri" panose="020F0502020204030204" pitchFamily="34" charset="0"/>
                <a:cs typeface="Calibri" panose="020F0502020204030204" pitchFamily="34" charset="0"/>
              </a:rPr>
              <a:t>TimeZone</a:t>
            </a:r>
            <a:endParaRPr lang="en-US" sz="1050" kern="0" dirty="0">
              <a:latin typeface="Calibri" panose="020F0502020204030204" pitchFamily="34" charset="0"/>
              <a:ea typeface="Calibri" panose="020F0502020204030204" pitchFamily="34" charset="0"/>
              <a:cs typeface="Calibri" panose="020F0502020204030204" pitchFamily="34" charset="0"/>
            </a:endParaRPr>
          </a:p>
          <a:p>
            <a:pPr marL="214313" indent="-214313">
              <a:buFont typeface="Arial" panose="020B0604020202020204" pitchFamily="34" charset="0"/>
              <a:buChar char="•"/>
            </a:pPr>
            <a:endParaRPr lang="en-US" sz="950" kern="0" dirty="0">
              <a:latin typeface="Calibri" panose="020F0502020204030204" pitchFamily="34" charset="0"/>
              <a:ea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042CD0F0-B0B0-214C-DE77-57BFD6E9C9BE}"/>
              </a:ext>
            </a:extLst>
          </p:cNvPr>
          <p:cNvSpPr txBox="1"/>
          <p:nvPr/>
        </p:nvSpPr>
        <p:spPr>
          <a:xfrm>
            <a:off x="631214" y="3217571"/>
            <a:ext cx="3826486" cy="1384995"/>
          </a:xfrm>
          <a:prstGeom prst="rect">
            <a:avLst/>
          </a:prstGeom>
          <a:noFill/>
        </p:spPr>
        <p:txBody>
          <a:bodyPr wrap="square">
            <a:spAutoFit/>
          </a:bodyPr>
          <a:lstStyle/>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50% of workforce is cross trained and actively contributing across EIT,CIT and EP.</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Onboarded BrowserStack Low-Code Automation for Web Applications.</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Implemented Centralized workforce tracking and resource management.</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More than 50% applications onboarded on </a:t>
            </a:r>
            <a:r>
              <a:rPr lang="en-US" sz="1050" kern="0" dirty="0" err="1">
                <a:latin typeface="Calibri" panose="020F0502020204030204" pitchFamily="34" charset="0"/>
                <a:ea typeface="Calibri" panose="020F0502020204030204" pitchFamily="34" charset="0"/>
                <a:cs typeface="Calibri" panose="020F0502020204030204" pitchFamily="34" charset="0"/>
              </a:rPr>
              <a:t>Qmetry</a:t>
            </a:r>
            <a:r>
              <a:rPr lang="en-US" sz="1050" kern="0" dirty="0">
                <a:latin typeface="Calibri" panose="020F0502020204030204" pitchFamily="34" charset="0"/>
                <a:ea typeface="Calibri" panose="020F0502020204030204" pitchFamily="34" charset="0"/>
                <a:cs typeface="Calibri" panose="020F0502020204030204" pitchFamily="34" charset="0"/>
              </a:rPr>
              <a:t>.</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Health Check implementation is 80% complete across divisions.</a:t>
            </a:r>
          </a:p>
        </p:txBody>
      </p:sp>
      <p:sp>
        <p:nvSpPr>
          <p:cNvPr id="51" name="TextBox 50">
            <a:extLst>
              <a:ext uri="{FF2B5EF4-FFF2-40B4-BE49-F238E27FC236}">
                <a16:creationId xmlns:a16="http://schemas.microsoft.com/office/drawing/2014/main" id="{F346436F-9724-297B-B519-9996288C68F9}"/>
              </a:ext>
            </a:extLst>
          </p:cNvPr>
          <p:cNvSpPr txBox="1"/>
          <p:nvPr/>
        </p:nvSpPr>
        <p:spPr>
          <a:xfrm>
            <a:off x="5034343" y="1270612"/>
            <a:ext cx="3826486" cy="1384995"/>
          </a:xfrm>
          <a:prstGeom prst="rect">
            <a:avLst/>
          </a:prstGeom>
          <a:noFill/>
        </p:spPr>
        <p:txBody>
          <a:bodyPr wrap="square">
            <a:spAutoFit/>
          </a:bodyPr>
          <a:lstStyle/>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80%+ FTEs are ISTQB certified</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25% + FTEs are certified with advanced certifications relevant to their stream</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100% AI Awareness and 5 team members identified for AI training</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Leveraging </a:t>
            </a:r>
            <a:r>
              <a:rPr lang="en-US" sz="1050" kern="0" dirty="0" err="1">
                <a:latin typeface="Calibri" panose="020F0502020204030204" pitchFamily="34" charset="0"/>
                <a:ea typeface="Calibri" panose="020F0502020204030204" pitchFamily="34" charset="0"/>
                <a:cs typeface="Calibri" panose="020F0502020204030204" pitchFamily="34" charset="0"/>
              </a:rPr>
              <a:t>Qmetry</a:t>
            </a:r>
            <a:r>
              <a:rPr lang="en-US" sz="1050" kern="0" dirty="0">
                <a:latin typeface="Calibri" panose="020F0502020204030204" pitchFamily="34" charset="0"/>
                <a:ea typeface="Calibri" panose="020F0502020204030204" pitchFamily="34" charset="0"/>
                <a:cs typeface="Calibri" panose="020F0502020204030204" pitchFamily="34" charset="0"/>
              </a:rPr>
              <a:t> Intelligence and </a:t>
            </a:r>
            <a:r>
              <a:rPr lang="en-US" sz="1050" kern="0" dirty="0" err="1">
                <a:latin typeface="Calibri" panose="020F0502020204030204" pitchFamily="34" charset="0"/>
                <a:ea typeface="Calibri" panose="020F0502020204030204" pitchFamily="34" charset="0"/>
                <a:cs typeface="Calibri" panose="020F0502020204030204" pitchFamily="34" charset="0"/>
              </a:rPr>
              <a:t>Rovo</a:t>
            </a:r>
            <a:r>
              <a:rPr lang="en-US" sz="1050" kern="0" dirty="0">
                <a:latin typeface="Calibri" panose="020F0502020204030204" pitchFamily="34" charset="0"/>
                <a:ea typeface="Calibri" panose="020F0502020204030204" pitchFamily="34" charset="0"/>
                <a:cs typeface="Calibri" panose="020F0502020204030204" pitchFamily="34" charset="0"/>
              </a:rPr>
              <a:t> to generate test cases. </a:t>
            </a:r>
          </a:p>
          <a:p>
            <a:pPr marL="214313" indent="-214313">
              <a:buFont typeface="Arial" panose="020B0604020202020204" pitchFamily="34" charset="0"/>
              <a:buChar char="•"/>
            </a:pPr>
            <a:endParaRPr lang="en-US" sz="1050" kern="0" dirty="0">
              <a:latin typeface="Calibri" panose="020F0502020204030204" pitchFamily="34" charset="0"/>
              <a:ea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4A87AF05-9309-FFF7-47CC-F72FF346E036}"/>
              </a:ext>
            </a:extLst>
          </p:cNvPr>
          <p:cNvSpPr txBox="1"/>
          <p:nvPr/>
        </p:nvSpPr>
        <p:spPr>
          <a:xfrm>
            <a:off x="5034342" y="3331584"/>
            <a:ext cx="3826486" cy="1384995"/>
          </a:xfrm>
          <a:prstGeom prst="rect">
            <a:avLst/>
          </a:prstGeom>
          <a:noFill/>
        </p:spPr>
        <p:txBody>
          <a:bodyPr wrap="square">
            <a:spAutoFit/>
          </a:bodyPr>
          <a:lstStyle/>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Target 90% Regression Automation</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FY’27 KPI Alignment with Division</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AI based Test Script Generation to accelerate Progressive Automation. </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Explore Process Automation like Test Data and Reporting Automation. </a:t>
            </a:r>
          </a:p>
          <a:p>
            <a:pPr marL="214313" indent="-214313">
              <a:buFont typeface="Arial" panose="020B0604020202020204" pitchFamily="34" charset="0"/>
              <a:buChar char="•"/>
            </a:pPr>
            <a:r>
              <a:rPr lang="en-US" sz="1050" kern="0" dirty="0">
                <a:latin typeface="Calibri" panose="020F0502020204030204" pitchFamily="34" charset="0"/>
                <a:ea typeface="Calibri" panose="020F0502020204030204" pitchFamily="34" charset="0"/>
                <a:cs typeface="Calibri" panose="020F0502020204030204" pitchFamily="34" charset="0"/>
              </a:rPr>
              <a:t>Tool Rationalization and Process Harmonization. </a:t>
            </a:r>
          </a:p>
          <a:p>
            <a:pPr marL="214313" indent="-214313">
              <a:buFont typeface="Arial" panose="020B0604020202020204" pitchFamily="34" charset="0"/>
              <a:buChar char="•"/>
            </a:pPr>
            <a:endParaRPr lang="en-US" sz="1050" kern="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6706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38238-E825-ABB9-0AA3-0830BD336D1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BDD8CC3-B021-EC3E-ACDF-AB73BF865ADE}"/>
              </a:ext>
            </a:extLst>
          </p:cNvPr>
          <p:cNvPicPr>
            <a:picLocks noChangeAspect="1"/>
          </p:cNvPicPr>
          <p:nvPr/>
        </p:nvPicPr>
        <p:blipFill rotWithShape="1">
          <a:blip r:embed="rId4">
            <a:extLst>
              <a:ext uri="{28A0092B-C50C-407E-A947-70E740481C1C}">
                <a14:useLocalDpi xmlns:a14="http://schemas.microsoft.com/office/drawing/2010/main" val="0"/>
              </a:ext>
            </a:extLst>
          </a:blip>
          <a:srcRect l="35428" t="13546" r="5325" b="13546"/>
          <a:stretch>
            <a:fillRect/>
          </a:stretch>
        </p:blipFill>
        <p:spPr>
          <a:xfrm>
            <a:off x="3923928" y="0"/>
            <a:ext cx="5220072" cy="5143500"/>
          </a:xfrm>
          <a:prstGeom prst="rect">
            <a:avLst/>
          </a:prstGeom>
        </p:spPr>
      </p:pic>
      <p:pic>
        <p:nvPicPr>
          <p:cNvPr id="4" name="Picture 3">
            <a:extLst>
              <a:ext uri="{FF2B5EF4-FFF2-40B4-BE49-F238E27FC236}">
                <a16:creationId xmlns:a16="http://schemas.microsoft.com/office/drawing/2014/main" id="{89E4351A-2AF5-6A05-8F94-B0249CFC382B}"/>
              </a:ext>
            </a:extLst>
          </p:cNvPr>
          <p:cNvPicPr>
            <a:picLocks noChangeAspect="1"/>
          </p:cNvPicPr>
          <p:nvPr/>
        </p:nvPicPr>
        <p:blipFill>
          <a:blip r:embed="rId5"/>
          <a:srcRect l="20826" r="3539" b="36309"/>
          <a:stretch>
            <a:fillRect/>
          </a:stretch>
        </p:blipFill>
        <p:spPr>
          <a:xfrm>
            <a:off x="0" y="-7403"/>
            <a:ext cx="9157161" cy="5150903"/>
          </a:xfrm>
          <a:prstGeom prst="rect">
            <a:avLst/>
          </a:prstGeom>
        </p:spPr>
      </p:pic>
      <p:graphicFrame>
        <p:nvGraphicFramePr>
          <p:cNvPr id="6" name="think-cell data - do not delete" hidden="1">
            <a:extLst>
              <a:ext uri="{FF2B5EF4-FFF2-40B4-BE49-F238E27FC236}">
                <a16:creationId xmlns:a16="http://schemas.microsoft.com/office/drawing/2014/main" id="{25AE9CAF-28CA-3F04-01C7-5282FE87F570}"/>
              </a:ext>
            </a:extLst>
          </p:cNvPr>
          <p:cNvGraphicFramePr>
            <a:graphicFrameLocks/>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think-cell data - do not delete" hidden="1">
                        <a:extLst>
                          <a:ext uri="{FF2B5EF4-FFF2-40B4-BE49-F238E27FC236}">
                            <a16:creationId xmlns:a16="http://schemas.microsoft.com/office/drawing/2014/main" id="{ABD1268C-9665-9C97-93CF-BD9371FDE52A}"/>
                          </a:ext>
                        </a:extLst>
                      </p:cNvPr>
                      <p:cNvPicPr/>
                      <p:nvPr/>
                    </p:nvPicPr>
                    <p:blipFill>
                      <a:blip r:embed="rId7"/>
                      <a:stretch>
                        <a:fillRect/>
                      </a:stretch>
                    </p:blipFill>
                    <p:spPr>
                      <a:xfrm>
                        <a:off x="1191" y="1191"/>
                        <a:ext cx="1191" cy="1191"/>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2772BFE1-7B2C-8EEB-1D8D-9F5266F36BD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901" y="316095"/>
            <a:ext cx="928686" cy="504974"/>
          </a:xfrm>
          <a:prstGeom prst="rect">
            <a:avLst/>
          </a:prstGeom>
        </p:spPr>
      </p:pic>
      <p:sp>
        <p:nvSpPr>
          <p:cNvPr id="13" name="Title 2">
            <a:extLst>
              <a:ext uri="{FF2B5EF4-FFF2-40B4-BE49-F238E27FC236}">
                <a16:creationId xmlns:a16="http://schemas.microsoft.com/office/drawing/2014/main" id="{BF5D10D4-23BF-5F42-2A99-FE816FE53CD4}"/>
              </a:ext>
            </a:extLst>
          </p:cNvPr>
          <p:cNvSpPr txBox="1">
            <a:spLocks/>
          </p:cNvSpPr>
          <p:nvPr/>
        </p:nvSpPr>
        <p:spPr>
          <a:xfrm>
            <a:off x="153734" y="1941683"/>
            <a:ext cx="4697126" cy="1689437"/>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marL="457200" indent="-457200" defTabSz="685749">
              <a:spcBef>
                <a:spcPts val="450"/>
              </a:spcBef>
              <a:buAutoNum type="arabicPeriod"/>
              <a:defRPr/>
            </a:pPr>
            <a:r>
              <a:rPr lang="en-US" sz="2000" dirty="0">
                <a:solidFill>
                  <a:srgbClr val="EC1B3D"/>
                </a:solidFill>
                <a:latin typeface="Aptos" panose="020B0004020202020204" pitchFamily="34" charset="0"/>
                <a:cs typeface="Arial" panose="020B0604020202020204" pitchFamily="34" charset="0"/>
              </a:rPr>
              <a:t>AI Driven Log Analytics </a:t>
            </a:r>
          </a:p>
          <a:p>
            <a:pPr marL="457200" indent="-457200" defTabSz="685749">
              <a:spcBef>
                <a:spcPts val="450"/>
              </a:spcBef>
              <a:buFontTx/>
              <a:buAutoNum type="arabicPeriod"/>
              <a:defRPr/>
            </a:pPr>
            <a:r>
              <a:rPr lang="en-US" sz="2000" dirty="0" err="1">
                <a:solidFill>
                  <a:srgbClr val="EC1B3D"/>
                </a:solidFill>
                <a:latin typeface="Aptos" panose="020B0004020202020204" pitchFamily="34" charset="0"/>
                <a:cs typeface="Arial" panose="020B0604020202020204" pitchFamily="34" charset="0"/>
              </a:rPr>
              <a:t>AutoBot</a:t>
            </a:r>
            <a:r>
              <a:rPr lang="en-US" sz="2000" dirty="0">
                <a:solidFill>
                  <a:srgbClr val="EC1B3D"/>
                </a:solidFill>
                <a:latin typeface="Aptos" panose="020B0004020202020204" pitchFamily="34" charset="0"/>
                <a:cs typeface="Arial" panose="020B0604020202020204" pitchFamily="34" charset="0"/>
              </a:rPr>
              <a:t> Automation Tool-Kit</a:t>
            </a:r>
          </a:p>
          <a:p>
            <a:pPr marL="457200" indent="-457200" defTabSz="685749">
              <a:spcBef>
                <a:spcPts val="450"/>
              </a:spcBef>
              <a:buFontTx/>
              <a:buAutoNum type="arabicPeriod"/>
              <a:defRPr/>
            </a:pPr>
            <a:r>
              <a:rPr lang="en-US" sz="2000" dirty="0">
                <a:solidFill>
                  <a:srgbClr val="EC1B3D"/>
                </a:solidFill>
                <a:latin typeface="Aptos" panose="020B0004020202020204" pitchFamily="34" charset="0"/>
                <a:cs typeface="Arial" panose="020B0604020202020204" pitchFamily="34" charset="0"/>
              </a:rPr>
              <a:t>AI Driven Test Script Generation</a:t>
            </a:r>
            <a:endParaRPr lang="en-US" sz="2000" dirty="0">
              <a:solidFill>
                <a:srgbClr val="231F20"/>
              </a:solidFill>
              <a:latin typeface="Aptos" panose="020B0004020202020204" pitchFamily="34" charset="0"/>
              <a:cs typeface="Arial" panose="020B0604020202020204" pitchFamily="34" charset="0"/>
            </a:endParaRPr>
          </a:p>
          <a:p>
            <a:pPr defTabSz="685749">
              <a:spcBef>
                <a:spcPts val="450"/>
              </a:spcBef>
              <a:defRPr/>
            </a:pPr>
            <a:endParaRPr lang="en-US" sz="2000" dirty="0">
              <a:solidFill>
                <a:srgbClr val="231F20"/>
              </a:solidFill>
              <a:latin typeface="Aptos" panose="020B0004020202020204" pitchFamily="34" charset="0"/>
              <a:cs typeface="Arial" panose="020B0604020202020204" pitchFamily="34" charset="0"/>
            </a:endParaRPr>
          </a:p>
          <a:p>
            <a:pPr defTabSz="685749">
              <a:spcBef>
                <a:spcPts val="450"/>
              </a:spcBef>
              <a:defRPr/>
            </a:pPr>
            <a:endParaRPr lang="en-US" sz="2000" dirty="0">
              <a:solidFill>
                <a:srgbClr val="231F20"/>
              </a:solidFill>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50137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BD3E-F604-1805-3234-DC09D0FC82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A34FFB6-EAAD-2F5B-29AC-948468EB0B07}"/>
              </a:ext>
            </a:extLst>
          </p:cNvPr>
          <p:cNvPicPr>
            <a:picLocks noChangeAspect="1"/>
          </p:cNvPicPr>
          <p:nvPr/>
        </p:nvPicPr>
        <p:blipFill rotWithShape="1">
          <a:blip r:embed="rId4">
            <a:extLst>
              <a:ext uri="{28A0092B-C50C-407E-A947-70E740481C1C}">
                <a14:useLocalDpi xmlns:a14="http://schemas.microsoft.com/office/drawing/2010/main" val="0"/>
              </a:ext>
            </a:extLst>
          </a:blip>
          <a:srcRect l="35428" t="13546" r="5325" b="13546"/>
          <a:stretch>
            <a:fillRect/>
          </a:stretch>
        </p:blipFill>
        <p:spPr>
          <a:xfrm>
            <a:off x="3923928" y="0"/>
            <a:ext cx="5220072" cy="5143500"/>
          </a:xfrm>
          <a:prstGeom prst="rect">
            <a:avLst/>
          </a:prstGeom>
        </p:spPr>
      </p:pic>
      <p:pic>
        <p:nvPicPr>
          <p:cNvPr id="4" name="Picture 3">
            <a:extLst>
              <a:ext uri="{FF2B5EF4-FFF2-40B4-BE49-F238E27FC236}">
                <a16:creationId xmlns:a16="http://schemas.microsoft.com/office/drawing/2014/main" id="{CD7B8EB5-1BBF-88C8-188B-95D5B889D8B8}"/>
              </a:ext>
            </a:extLst>
          </p:cNvPr>
          <p:cNvPicPr>
            <a:picLocks noChangeAspect="1"/>
          </p:cNvPicPr>
          <p:nvPr/>
        </p:nvPicPr>
        <p:blipFill>
          <a:blip r:embed="rId5"/>
          <a:srcRect l="20826" r="3539" b="36309"/>
          <a:stretch>
            <a:fillRect/>
          </a:stretch>
        </p:blipFill>
        <p:spPr>
          <a:xfrm>
            <a:off x="0" y="-7403"/>
            <a:ext cx="9157161" cy="5150903"/>
          </a:xfrm>
          <a:prstGeom prst="rect">
            <a:avLst/>
          </a:prstGeom>
        </p:spPr>
      </p:pic>
      <p:graphicFrame>
        <p:nvGraphicFramePr>
          <p:cNvPr id="6" name="think-cell data - do not delete" hidden="1">
            <a:extLst>
              <a:ext uri="{FF2B5EF4-FFF2-40B4-BE49-F238E27FC236}">
                <a16:creationId xmlns:a16="http://schemas.microsoft.com/office/drawing/2014/main" id="{ABD1268C-9665-9C97-93CF-BD9371FDE52A}"/>
              </a:ext>
            </a:extLst>
          </p:cNvPr>
          <p:cNvGraphicFramePr>
            <a:graphicFrameLocks/>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think-cell data - do not delete" hidden="1">
                        <a:extLst>
                          <a:ext uri="{FF2B5EF4-FFF2-40B4-BE49-F238E27FC236}">
                            <a16:creationId xmlns:a16="http://schemas.microsoft.com/office/drawing/2014/main" id="{ABD1268C-9665-9C97-93CF-BD9371FDE52A}"/>
                          </a:ext>
                        </a:extLst>
                      </p:cNvPr>
                      <p:cNvPicPr/>
                      <p:nvPr/>
                    </p:nvPicPr>
                    <p:blipFill>
                      <a:blip r:embed="rId7"/>
                      <a:stretch>
                        <a:fillRect/>
                      </a:stretch>
                    </p:blipFill>
                    <p:spPr>
                      <a:xfrm>
                        <a:off x="1191" y="1191"/>
                        <a:ext cx="1191" cy="1191"/>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0CBBD294-2F66-1876-44AE-3275839107E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901" y="316095"/>
            <a:ext cx="928686" cy="504974"/>
          </a:xfrm>
          <a:prstGeom prst="rect">
            <a:avLst/>
          </a:prstGeom>
        </p:spPr>
      </p:pic>
      <p:sp>
        <p:nvSpPr>
          <p:cNvPr id="13" name="Title 2">
            <a:extLst>
              <a:ext uri="{FF2B5EF4-FFF2-40B4-BE49-F238E27FC236}">
                <a16:creationId xmlns:a16="http://schemas.microsoft.com/office/drawing/2014/main" id="{06391ACB-1641-6D2F-C399-9BA7C0490D9B}"/>
              </a:ext>
            </a:extLst>
          </p:cNvPr>
          <p:cNvSpPr txBox="1">
            <a:spLocks/>
          </p:cNvSpPr>
          <p:nvPr/>
        </p:nvSpPr>
        <p:spPr>
          <a:xfrm>
            <a:off x="153734" y="1986459"/>
            <a:ext cx="4697126" cy="380682"/>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2400" dirty="0">
                <a:solidFill>
                  <a:srgbClr val="EC1B3D"/>
                </a:solidFill>
                <a:latin typeface="Aptos" panose="020B0004020202020204" pitchFamily="34" charset="0"/>
                <a:cs typeface="Arial" panose="020B0604020202020204" pitchFamily="34" charset="0"/>
              </a:rPr>
              <a:t>1. AI Driven Log Analytics </a:t>
            </a:r>
            <a:endParaRPr lang="en-US" sz="2400" dirty="0">
              <a:solidFill>
                <a:srgbClr val="231F20"/>
              </a:solidFill>
              <a:latin typeface="Aptos" panose="020B0004020202020204" pitchFamily="34" charset="0"/>
              <a:cs typeface="Arial" panose="020B0604020202020204" pitchFamily="34" charset="0"/>
            </a:endParaRPr>
          </a:p>
        </p:txBody>
      </p:sp>
      <p:sp>
        <p:nvSpPr>
          <p:cNvPr id="14" name="Title 2">
            <a:extLst>
              <a:ext uri="{FF2B5EF4-FFF2-40B4-BE49-F238E27FC236}">
                <a16:creationId xmlns:a16="http://schemas.microsoft.com/office/drawing/2014/main" id="{E00EB7A1-79BB-56CE-968A-09ACA4F4DD54}"/>
              </a:ext>
            </a:extLst>
          </p:cNvPr>
          <p:cNvSpPr txBox="1">
            <a:spLocks/>
          </p:cNvSpPr>
          <p:nvPr/>
        </p:nvSpPr>
        <p:spPr>
          <a:xfrm>
            <a:off x="153734" y="2386116"/>
            <a:ext cx="4337112" cy="527132"/>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1500" dirty="0">
                <a:solidFill>
                  <a:srgbClr val="000000"/>
                </a:solidFill>
                <a:latin typeface="Aptos" panose="020B0004020202020204" pitchFamily="34" charset="0"/>
                <a:cs typeface="Arial" panose="020B0604020202020204" pitchFamily="34" charset="0"/>
              </a:rPr>
              <a:t>Harsh Bardhan</a:t>
            </a:r>
          </a:p>
          <a:p>
            <a:pPr defTabSz="685749">
              <a:spcBef>
                <a:spcPts val="450"/>
              </a:spcBef>
              <a:defRPr/>
            </a:pPr>
            <a:r>
              <a:rPr lang="en-US" sz="1500" dirty="0">
                <a:solidFill>
                  <a:srgbClr val="000000"/>
                </a:solidFill>
                <a:latin typeface="Aptos" panose="020B0004020202020204" pitchFamily="34" charset="0"/>
                <a:cs typeface="Arial" panose="020B0604020202020204" pitchFamily="34" charset="0"/>
              </a:rPr>
              <a:t>Tanisha Trivedi</a:t>
            </a:r>
          </a:p>
        </p:txBody>
      </p:sp>
    </p:spTree>
    <p:extLst>
      <p:ext uri="{BB962C8B-B14F-4D97-AF65-F5344CB8AC3E}">
        <p14:creationId xmlns:p14="http://schemas.microsoft.com/office/powerpoint/2010/main" val="970926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07FCF-5581-EC53-1A3C-C9BB90FBEB51}"/>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A25964D2-FFAE-FA6C-0E95-46FA93D71D7C}"/>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2F7D5C9B-9382-0228-CF65-89497A862289}"/>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Current State</a:t>
            </a:r>
            <a:endParaRPr lang="en-SG" sz="1800" b="1" dirty="0">
              <a:solidFill>
                <a:srgbClr val="FFFFFF"/>
              </a:solidFill>
              <a:latin typeface="Calibri" pitchFamily="34" charset="0"/>
              <a:ea typeface="Calibri" pitchFamily="34" charset="-122"/>
              <a:cs typeface="Calibri" pitchFamily="34" charset="-120"/>
            </a:endParaRPr>
          </a:p>
        </p:txBody>
      </p:sp>
      <p:sp>
        <p:nvSpPr>
          <p:cNvPr id="2" name="Freeform: Shape 1">
            <a:extLst>
              <a:ext uri="{FF2B5EF4-FFF2-40B4-BE49-F238E27FC236}">
                <a16:creationId xmlns:a16="http://schemas.microsoft.com/office/drawing/2014/main" id="{F58CB83F-E498-92FC-73D8-AA7CC35CF715}"/>
              </a:ext>
            </a:extLst>
          </p:cNvPr>
          <p:cNvSpPr/>
          <p:nvPr/>
        </p:nvSpPr>
        <p:spPr>
          <a:xfrm>
            <a:off x="351228" y="816435"/>
            <a:ext cx="2577564" cy="3216070"/>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4" name="Freeform: Shape 3">
            <a:extLst>
              <a:ext uri="{FF2B5EF4-FFF2-40B4-BE49-F238E27FC236}">
                <a16:creationId xmlns:a16="http://schemas.microsoft.com/office/drawing/2014/main" id="{B18BC464-009F-D129-0CB6-C798771EE3A9}"/>
              </a:ext>
            </a:extLst>
          </p:cNvPr>
          <p:cNvSpPr/>
          <p:nvPr/>
        </p:nvSpPr>
        <p:spPr>
          <a:xfrm>
            <a:off x="308610" y="780893"/>
            <a:ext cx="2634555" cy="479727"/>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5" name="Freeform: Shape 4">
            <a:extLst>
              <a:ext uri="{FF2B5EF4-FFF2-40B4-BE49-F238E27FC236}">
                <a16:creationId xmlns:a16="http://schemas.microsoft.com/office/drawing/2014/main" id="{2F94C678-28D7-B9D2-671A-C8E0DE6392CA}"/>
              </a:ext>
            </a:extLst>
          </p:cNvPr>
          <p:cNvSpPr/>
          <p:nvPr/>
        </p:nvSpPr>
        <p:spPr>
          <a:xfrm>
            <a:off x="308610" y="780892"/>
            <a:ext cx="76982" cy="3251612"/>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6" name="Text 2">
            <a:extLst>
              <a:ext uri="{FF2B5EF4-FFF2-40B4-BE49-F238E27FC236}">
                <a16:creationId xmlns:a16="http://schemas.microsoft.com/office/drawing/2014/main" id="{7CF743D1-27C4-BE32-4B34-889FAEF34D6C}"/>
              </a:ext>
            </a:extLst>
          </p:cNvPr>
          <p:cNvSpPr/>
          <p:nvPr/>
        </p:nvSpPr>
        <p:spPr>
          <a:xfrm>
            <a:off x="504021" y="919155"/>
            <a:ext cx="2300883" cy="213196"/>
          </a:xfrm>
          <a:prstGeom prst="rect">
            <a:avLst/>
          </a:prstGeom>
          <a:noFill/>
          <a:ln/>
        </p:spPr>
        <p:txBody>
          <a:bodyPr wrap="none" lIns="0" tIns="0" rIns="0" bIns="0" rtlCol="0" anchor="t"/>
          <a:lstStyle/>
          <a:p>
            <a:pPr defTabSz="914378">
              <a:lnSpc>
                <a:spcPct val="104000"/>
              </a:lnSpc>
              <a:defRPr/>
            </a:pPr>
            <a:r>
              <a:rPr lang="en-US" sz="1200" b="1" kern="0" dirty="0">
                <a:latin typeface="Ubuntu" panose="020B0504030602030204" pitchFamily="34" charset="0"/>
                <a:ea typeface="Petrona Bold" pitchFamily="34" charset="-122"/>
              </a:rPr>
              <a:t>Manual Log Investigation</a:t>
            </a:r>
            <a:endParaRPr lang="en-US" sz="1200" kern="0" dirty="0">
              <a:latin typeface="Ubuntu" panose="020B0504030602030204" pitchFamily="34" charset="0"/>
            </a:endParaRPr>
          </a:p>
        </p:txBody>
      </p:sp>
      <p:sp>
        <p:nvSpPr>
          <p:cNvPr id="7" name="Text 3">
            <a:extLst>
              <a:ext uri="{FF2B5EF4-FFF2-40B4-BE49-F238E27FC236}">
                <a16:creationId xmlns:a16="http://schemas.microsoft.com/office/drawing/2014/main" id="{400DB353-6D0F-F049-9A20-BB5A7FB6B5F5}"/>
              </a:ext>
            </a:extLst>
          </p:cNvPr>
          <p:cNvSpPr/>
          <p:nvPr/>
        </p:nvSpPr>
        <p:spPr>
          <a:xfrm>
            <a:off x="504021" y="1206765"/>
            <a:ext cx="2300883" cy="1389236"/>
          </a:xfrm>
          <a:prstGeom prst="rect">
            <a:avLst/>
          </a:prstGeom>
          <a:noFill/>
          <a:ln/>
        </p:spPr>
        <p:txBody>
          <a:bodyPr wrap="square" lIns="0" tIns="0" rIns="0" bIns="0" rtlCol="0" anchor="t">
            <a:normAutofit/>
          </a:bodyPr>
          <a:lstStyle/>
          <a:p>
            <a:pPr defTabSz="914378">
              <a:lnSpc>
                <a:spcPct val="133000"/>
              </a:lnSpc>
              <a:defRPr/>
            </a:pPr>
            <a:endParaRPr lang="en-US" sz="950" kern="0" dirty="0">
              <a:solidFill>
                <a:srgbClr val="002060"/>
              </a:solidFill>
              <a:latin typeface="Calibri" panose="020F0502020204030204"/>
            </a:endParaRPr>
          </a:p>
        </p:txBody>
      </p:sp>
      <p:sp>
        <p:nvSpPr>
          <p:cNvPr id="8" name="Freeform: Shape 7">
            <a:extLst>
              <a:ext uri="{FF2B5EF4-FFF2-40B4-BE49-F238E27FC236}">
                <a16:creationId xmlns:a16="http://schemas.microsoft.com/office/drawing/2014/main" id="{9678D812-3C27-AEAF-1951-6023D437AB04}"/>
              </a:ext>
            </a:extLst>
          </p:cNvPr>
          <p:cNvSpPr/>
          <p:nvPr/>
        </p:nvSpPr>
        <p:spPr>
          <a:xfrm>
            <a:off x="3067139" y="780892"/>
            <a:ext cx="2634630" cy="3251612"/>
          </a:xfrm>
          <a:custGeom>
            <a:avLst/>
            <a:gdLst>
              <a:gd name="csX0" fmla="*/ 76090 w 3512840"/>
              <a:gd name="csY0" fmla="*/ 0 h 2604492"/>
              <a:gd name="csX1" fmla="*/ 3455035 w 3512840"/>
              <a:gd name="csY1" fmla="*/ 0 h 2604492"/>
              <a:gd name="csX2" fmla="*/ 3512840 w 3512840"/>
              <a:gd name="csY2" fmla="*/ 57770 h 2604492"/>
              <a:gd name="csX3" fmla="*/ 3512840 w 3512840"/>
              <a:gd name="csY3" fmla="*/ 2546723 h 2604492"/>
              <a:gd name="csX4" fmla="*/ 3455035 w 3512840"/>
              <a:gd name="csY4" fmla="*/ 2604492 h 2604492"/>
              <a:gd name="csX5" fmla="*/ 76090 w 3512840"/>
              <a:gd name="csY5" fmla="*/ 2604492 h 2604492"/>
              <a:gd name="csX6" fmla="*/ 0 w 3512840"/>
              <a:gd name="csY6" fmla="*/ 2528449 h 2604492"/>
              <a:gd name="csX7" fmla="*/ 0 w 3512840"/>
              <a:gd name="csY7" fmla="*/ 76044 h 2604492"/>
              <a:gd name="csX8" fmla="*/ 76090 w 35128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840" h="2604492">
                <a:moveTo>
                  <a:pt x="76090" y="0"/>
                </a:moveTo>
                <a:lnTo>
                  <a:pt x="3455035" y="0"/>
                </a:lnTo>
                <a:cubicBezTo>
                  <a:pt x="3486960" y="0"/>
                  <a:pt x="3512840" y="25864"/>
                  <a:pt x="3512840" y="57770"/>
                </a:cubicBezTo>
                <a:lnTo>
                  <a:pt x="3512840" y="2546723"/>
                </a:lnTo>
                <a:cubicBezTo>
                  <a:pt x="3512840" y="2578628"/>
                  <a:pt x="3486960" y="2604492"/>
                  <a:pt x="3455035" y="2604492"/>
                </a:cubicBezTo>
                <a:lnTo>
                  <a:pt x="76090" y="2604492"/>
                </a:lnTo>
                <a:cubicBezTo>
                  <a:pt x="34067" y="2604492"/>
                  <a:pt x="0" y="2570446"/>
                  <a:pt x="0" y="2528449"/>
                </a:cubicBezTo>
                <a:lnTo>
                  <a:pt x="0" y="76044"/>
                </a:lnTo>
                <a:cubicBezTo>
                  <a:pt x="0" y="34046"/>
                  <a:pt x="34067" y="0"/>
                  <a:pt x="76090" y="0"/>
                </a:cubicBezTo>
              </a:path>
            </a:pathLst>
          </a:custGeom>
          <a:solidFill>
            <a:schemeClr val="bg1">
              <a:lumMod val="95000"/>
            </a:schemeClr>
          </a:solidFill>
          <a:ln w="6327" cap="flat">
            <a:noFill/>
            <a:prstDash val="solid"/>
            <a:miter/>
          </a:ln>
        </p:spPr>
        <p:txBody>
          <a:bodyPr/>
          <a:lstStyle/>
          <a:p>
            <a:pPr>
              <a:defRPr/>
            </a:pPr>
            <a:endParaRPr lang="en-US" sz="1200" dirty="0">
              <a:solidFill>
                <a:srgbClr val="000000"/>
              </a:solidFill>
              <a:latin typeface="Ubuntu" panose="020B0504030602030204" pitchFamily="34" charset="0"/>
            </a:endParaRPr>
          </a:p>
        </p:txBody>
      </p:sp>
      <p:sp>
        <p:nvSpPr>
          <p:cNvPr id="9" name="Freeform: Shape 8">
            <a:extLst>
              <a:ext uri="{FF2B5EF4-FFF2-40B4-BE49-F238E27FC236}">
                <a16:creationId xmlns:a16="http://schemas.microsoft.com/office/drawing/2014/main" id="{D5E457B2-773C-7B36-B7FD-5BED1AB16A98}"/>
              </a:ext>
            </a:extLst>
          </p:cNvPr>
          <p:cNvSpPr/>
          <p:nvPr/>
        </p:nvSpPr>
        <p:spPr>
          <a:xfrm>
            <a:off x="3067138" y="780893"/>
            <a:ext cx="2634631" cy="479727"/>
          </a:xfrm>
          <a:custGeom>
            <a:avLst/>
            <a:gdLst>
              <a:gd name="csX0" fmla="*/ 22288 w 3512840"/>
              <a:gd name="csY0" fmla="*/ 22274 h 2604492"/>
              <a:gd name="csX1" fmla="*/ 76090 w 3512840"/>
              <a:gd name="csY1" fmla="*/ 0 h 2604492"/>
              <a:gd name="csX2" fmla="*/ 3455035 w 3512840"/>
              <a:gd name="csY2" fmla="*/ 0 h 2604492"/>
              <a:gd name="csX3" fmla="*/ 3512840 w 3512840"/>
              <a:gd name="csY3" fmla="*/ 57770 h 2604492"/>
              <a:gd name="csX4" fmla="*/ 3512840 w 3512840"/>
              <a:gd name="csY4" fmla="*/ 2546723 h 2604492"/>
              <a:gd name="csX5" fmla="*/ 3455035 w 3512840"/>
              <a:gd name="csY5" fmla="*/ 2604492 h 2604492"/>
              <a:gd name="csX6" fmla="*/ 76090 w 3512840"/>
              <a:gd name="csY6" fmla="*/ 2604492 h 2604492"/>
              <a:gd name="csX7" fmla="*/ 0 w 3512840"/>
              <a:gd name="csY7" fmla="*/ 2528449 h 2604492"/>
              <a:gd name="csX8" fmla="*/ 0 w 3512840"/>
              <a:gd name="csY8" fmla="*/ 76044 h 2604492"/>
              <a:gd name="csX9" fmla="*/ 22288 w 35128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840" h="2604492">
                <a:moveTo>
                  <a:pt x="22288" y="22274"/>
                </a:moveTo>
                <a:cubicBezTo>
                  <a:pt x="36557" y="8013"/>
                  <a:pt x="55910" y="1"/>
                  <a:pt x="76090" y="0"/>
                </a:cubicBezTo>
                <a:lnTo>
                  <a:pt x="3455035" y="0"/>
                </a:lnTo>
                <a:cubicBezTo>
                  <a:pt x="3486960" y="0"/>
                  <a:pt x="3512840" y="25864"/>
                  <a:pt x="3512840" y="57770"/>
                </a:cubicBezTo>
                <a:lnTo>
                  <a:pt x="3512840" y="2546723"/>
                </a:lnTo>
                <a:cubicBezTo>
                  <a:pt x="3512840" y="2578628"/>
                  <a:pt x="3486960" y="2604492"/>
                  <a:pt x="3455035" y="2604492"/>
                </a:cubicBezTo>
                <a:lnTo>
                  <a:pt x="76090" y="2604492"/>
                </a:lnTo>
                <a:cubicBezTo>
                  <a:pt x="34067"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10" name="Freeform: Shape 9">
            <a:extLst>
              <a:ext uri="{FF2B5EF4-FFF2-40B4-BE49-F238E27FC236}">
                <a16:creationId xmlns:a16="http://schemas.microsoft.com/office/drawing/2014/main" id="{5BE9334A-7404-F92C-43EF-8390862F0976}"/>
              </a:ext>
            </a:extLst>
          </p:cNvPr>
          <p:cNvSpPr/>
          <p:nvPr/>
        </p:nvSpPr>
        <p:spPr>
          <a:xfrm>
            <a:off x="3067137" y="780891"/>
            <a:ext cx="71438" cy="3251611"/>
          </a:xfrm>
          <a:custGeom>
            <a:avLst/>
            <a:gdLst>
              <a:gd name="csX0" fmla="*/ 57805 w 76090"/>
              <a:gd name="csY0" fmla="*/ 0 h 2604492"/>
              <a:gd name="csX1" fmla="*/ 76090 w 76090"/>
              <a:gd name="csY1" fmla="*/ 0 h 2604492"/>
              <a:gd name="csX2" fmla="*/ 76090 w 76090"/>
              <a:gd name="csY2" fmla="*/ 0 h 2604492"/>
              <a:gd name="csX3" fmla="*/ 76090 w 76090"/>
              <a:gd name="csY3" fmla="*/ 2604492 h 2604492"/>
              <a:gd name="csX4" fmla="*/ 76090 w 76090"/>
              <a:gd name="csY4" fmla="*/ 2604492 h 2604492"/>
              <a:gd name="csX5" fmla="*/ 57805 w 76090"/>
              <a:gd name="csY5" fmla="*/ 2604492 h 2604492"/>
              <a:gd name="csX6" fmla="*/ 0 w 76090"/>
              <a:gd name="csY6" fmla="*/ 2546723 h 2604492"/>
              <a:gd name="csX7" fmla="*/ 0 w 76090"/>
              <a:gd name="csY7" fmla="*/ 57770 h 2604492"/>
              <a:gd name="csX8" fmla="*/ 57805 w 7609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90" h="2604492">
                <a:moveTo>
                  <a:pt x="57805" y="0"/>
                </a:moveTo>
                <a:lnTo>
                  <a:pt x="76090" y="0"/>
                </a:lnTo>
                <a:lnTo>
                  <a:pt x="76090" y="0"/>
                </a:lnTo>
                <a:lnTo>
                  <a:pt x="76090" y="2604492"/>
                </a:lnTo>
                <a:lnTo>
                  <a:pt x="76090" y="2604492"/>
                </a:lnTo>
                <a:lnTo>
                  <a:pt x="57805" y="2604492"/>
                </a:lnTo>
                <a:cubicBezTo>
                  <a:pt x="25880" y="2604492"/>
                  <a:pt x="0" y="2578628"/>
                  <a:pt x="0" y="2546723"/>
                </a:cubicBezTo>
                <a:lnTo>
                  <a:pt x="0" y="57770"/>
                </a:lnTo>
                <a:cubicBezTo>
                  <a:pt x="0" y="25864"/>
                  <a:pt x="25880" y="0"/>
                  <a:pt x="57805"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11" name="Text 4">
            <a:extLst>
              <a:ext uri="{FF2B5EF4-FFF2-40B4-BE49-F238E27FC236}">
                <a16:creationId xmlns:a16="http://schemas.microsoft.com/office/drawing/2014/main" id="{3585E68F-2A7E-3565-3513-876A22C2E9B3}"/>
              </a:ext>
            </a:extLst>
          </p:cNvPr>
          <p:cNvSpPr/>
          <p:nvPr/>
        </p:nvSpPr>
        <p:spPr>
          <a:xfrm>
            <a:off x="3262550" y="919155"/>
            <a:ext cx="2300957" cy="213196"/>
          </a:xfrm>
          <a:prstGeom prst="rect">
            <a:avLst/>
          </a:prstGeom>
          <a:noFill/>
          <a:ln/>
        </p:spPr>
        <p:txBody>
          <a:bodyPr wrap="none" lIns="0" tIns="0" rIns="0" bIns="0" rtlCol="0" anchor="t"/>
          <a:lstStyle/>
          <a:p>
            <a:pPr defTabSz="914378">
              <a:lnSpc>
                <a:spcPct val="104000"/>
              </a:lnSpc>
              <a:defRPr/>
            </a:pPr>
            <a:r>
              <a:rPr lang="en-US" sz="1200" b="1" kern="0" dirty="0">
                <a:latin typeface="Ubuntu" panose="020B0504030602030204" pitchFamily="34" charset="0"/>
                <a:ea typeface="Petrona Bold" pitchFamily="34" charset="-122"/>
                <a:cs typeface="Petrona Bold" pitchFamily="34" charset="-120"/>
              </a:rPr>
              <a:t>Multiple Systems</a:t>
            </a:r>
            <a:endParaRPr lang="en-US" sz="1200" kern="0" dirty="0">
              <a:latin typeface="Ubuntu" panose="020B0504030602030204" pitchFamily="34" charset="0"/>
            </a:endParaRPr>
          </a:p>
        </p:txBody>
      </p:sp>
      <p:sp>
        <p:nvSpPr>
          <p:cNvPr id="12" name="Freeform: Shape 11">
            <a:extLst>
              <a:ext uri="{FF2B5EF4-FFF2-40B4-BE49-F238E27FC236}">
                <a16:creationId xmlns:a16="http://schemas.microsoft.com/office/drawing/2014/main" id="{320B10C9-276E-FB4E-9204-F92122E92335}"/>
              </a:ext>
            </a:extLst>
          </p:cNvPr>
          <p:cNvSpPr/>
          <p:nvPr/>
        </p:nvSpPr>
        <p:spPr>
          <a:xfrm>
            <a:off x="5825743" y="780893"/>
            <a:ext cx="2634555" cy="479727"/>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13" name="Freeform: Shape 12">
            <a:extLst>
              <a:ext uri="{FF2B5EF4-FFF2-40B4-BE49-F238E27FC236}">
                <a16:creationId xmlns:a16="http://schemas.microsoft.com/office/drawing/2014/main" id="{415CE385-3EEF-2F78-1294-A7F31604114D}"/>
              </a:ext>
            </a:extLst>
          </p:cNvPr>
          <p:cNvSpPr/>
          <p:nvPr/>
        </p:nvSpPr>
        <p:spPr>
          <a:xfrm>
            <a:off x="5825743" y="780892"/>
            <a:ext cx="2634555" cy="3251612"/>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14" name="Freeform: Shape 13">
            <a:extLst>
              <a:ext uri="{FF2B5EF4-FFF2-40B4-BE49-F238E27FC236}">
                <a16:creationId xmlns:a16="http://schemas.microsoft.com/office/drawing/2014/main" id="{CCCB9161-270D-4F8B-2933-0DC085A3E3D2}"/>
              </a:ext>
            </a:extLst>
          </p:cNvPr>
          <p:cNvSpPr/>
          <p:nvPr/>
        </p:nvSpPr>
        <p:spPr>
          <a:xfrm>
            <a:off x="5825742" y="780892"/>
            <a:ext cx="57151" cy="3251610"/>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15" name="Text 6">
            <a:extLst>
              <a:ext uri="{FF2B5EF4-FFF2-40B4-BE49-F238E27FC236}">
                <a16:creationId xmlns:a16="http://schemas.microsoft.com/office/drawing/2014/main" id="{F0AE2E42-61F8-35F6-261C-0BAB718A8BC7}"/>
              </a:ext>
            </a:extLst>
          </p:cNvPr>
          <p:cNvSpPr/>
          <p:nvPr/>
        </p:nvSpPr>
        <p:spPr>
          <a:xfrm>
            <a:off x="6021154" y="919155"/>
            <a:ext cx="2300883" cy="213196"/>
          </a:xfrm>
          <a:prstGeom prst="rect">
            <a:avLst/>
          </a:prstGeom>
          <a:noFill/>
          <a:ln/>
        </p:spPr>
        <p:txBody>
          <a:bodyPr wrap="none" lIns="0" tIns="0" rIns="0" bIns="0" rtlCol="0" anchor="t"/>
          <a:lstStyle/>
          <a:p>
            <a:pPr defTabSz="914378">
              <a:lnSpc>
                <a:spcPct val="104000"/>
              </a:lnSpc>
              <a:defRPr/>
            </a:pPr>
            <a:r>
              <a:rPr lang="en-US" sz="1200" b="1" kern="0" dirty="0">
                <a:latin typeface="Ubuntu" panose="020B0504030602030204" pitchFamily="34" charset="0"/>
                <a:ea typeface="Petrona Bold" pitchFamily="34" charset="-122"/>
              </a:rPr>
              <a:t>Knowledge Dependency</a:t>
            </a:r>
            <a:endParaRPr lang="en-US" sz="1200" kern="0" dirty="0">
              <a:latin typeface="Ubuntu" panose="020B0504030602030204" pitchFamily="34" charset="0"/>
            </a:endParaRPr>
          </a:p>
        </p:txBody>
      </p:sp>
      <p:pic>
        <p:nvPicPr>
          <p:cNvPr id="16" name="Picture 15" descr="A clipboard with a magnifying glass&#10;&#10;AI-generated content may be incorrect.">
            <a:extLst>
              <a:ext uri="{FF2B5EF4-FFF2-40B4-BE49-F238E27FC236}">
                <a16:creationId xmlns:a16="http://schemas.microsoft.com/office/drawing/2014/main" id="{A2785C3A-62F4-D7AC-1DF9-A43C8C065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648" y="1335034"/>
            <a:ext cx="2315256" cy="2553452"/>
          </a:xfrm>
          <a:prstGeom prst="rect">
            <a:avLst/>
          </a:prstGeom>
        </p:spPr>
      </p:pic>
      <p:pic>
        <p:nvPicPr>
          <p:cNvPr id="17" name="Picture 16" descr="A computer network with a chip&#10;&#10;AI-generated content may be incorrect.">
            <a:extLst>
              <a:ext uri="{FF2B5EF4-FFF2-40B4-BE49-F238E27FC236}">
                <a16:creationId xmlns:a16="http://schemas.microsoft.com/office/drawing/2014/main" id="{B297B826-3CFA-87B6-7CD7-D394EBBE2A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8337" y="1331848"/>
            <a:ext cx="2353498" cy="2629426"/>
          </a:xfrm>
          <a:prstGeom prst="rect">
            <a:avLst/>
          </a:prstGeom>
        </p:spPr>
      </p:pic>
      <p:pic>
        <p:nvPicPr>
          <p:cNvPr id="18" name="Picture 17" descr="A head with a light bulb in the middle&#10;&#10;AI-generated content may be incorrect.">
            <a:extLst>
              <a:ext uri="{FF2B5EF4-FFF2-40B4-BE49-F238E27FC236}">
                <a16:creationId xmlns:a16="http://schemas.microsoft.com/office/drawing/2014/main" id="{16752B20-CE3C-0B03-E98E-C251A3059D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1154" y="1331848"/>
            <a:ext cx="2316610" cy="2466230"/>
          </a:xfrm>
          <a:prstGeom prst="rect">
            <a:avLst/>
          </a:prstGeom>
        </p:spPr>
      </p:pic>
      <p:sp>
        <p:nvSpPr>
          <p:cNvPr id="19" name="Freeform: Shape 18">
            <a:extLst>
              <a:ext uri="{FF2B5EF4-FFF2-40B4-BE49-F238E27FC236}">
                <a16:creationId xmlns:a16="http://schemas.microsoft.com/office/drawing/2014/main" id="{B93613E2-DEE6-DC97-3019-D6A0F3AC541F}"/>
              </a:ext>
            </a:extLst>
          </p:cNvPr>
          <p:cNvSpPr/>
          <p:nvPr/>
        </p:nvSpPr>
        <p:spPr>
          <a:xfrm>
            <a:off x="2013330" y="4223873"/>
            <a:ext cx="4306824" cy="479727"/>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solidFill>
              <a:schemeClr val="tx1"/>
            </a:solidFill>
            <a:prstDash val="solid"/>
            <a:miter/>
          </a:ln>
          <a:effectLst>
            <a:outerShdw blurRad="50800" dist="38100" dir="2700000" algn="tl" rotWithShape="0">
              <a:prstClr val="black">
                <a:alpha val="40000"/>
              </a:prstClr>
            </a:outerShdw>
          </a:effectLst>
        </p:spPr>
        <p:txBody>
          <a:bodyPr/>
          <a:lstStyle/>
          <a:p>
            <a:pPr algn="ctr" defTabSz="914378">
              <a:lnSpc>
                <a:spcPct val="104000"/>
              </a:lnSpc>
              <a:defRPr/>
            </a:pPr>
            <a:r>
              <a:rPr lang="en-US" sz="1125" b="1" kern="0" dirty="0">
                <a:latin typeface="Ubuntu" panose="020B0504030602030204" pitchFamily="34" charset="0"/>
                <a:ea typeface="Petrona Bold" pitchFamily="34" charset="-122"/>
              </a:rPr>
              <a:t>Average 80+ P </a:t>
            </a:r>
            <a:r>
              <a:rPr lang="en-US" sz="1125" b="1" kern="0" dirty="0" err="1">
                <a:latin typeface="Ubuntu" panose="020B0504030602030204" pitchFamily="34" charset="0"/>
                <a:ea typeface="Petrona Bold" pitchFamily="34" charset="-122"/>
              </a:rPr>
              <a:t>Hrs</a:t>
            </a:r>
            <a:r>
              <a:rPr lang="en-US" sz="1125" b="1" kern="0" dirty="0">
                <a:latin typeface="Ubuntu" panose="020B0504030602030204" pitchFamily="34" charset="0"/>
                <a:ea typeface="Petrona Bold" pitchFamily="34" charset="-122"/>
              </a:rPr>
              <a:t> spent on Log Analysis / Month</a:t>
            </a:r>
          </a:p>
          <a:p>
            <a:pPr algn="ctr" defTabSz="914378">
              <a:lnSpc>
                <a:spcPct val="104000"/>
              </a:lnSpc>
              <a:defRPr/>
            </a:pPr>
            <a:r>
              <a:rPr lang="en-US" sz="1125" b="1" kern="0" dirty="0">
                <a:latin typeface="Ubuntu" panose="020B0504030602030204" pitchFamily="34" charset="0"/>
                <a:ea typeface="Petrona Bold" pitchFamily="34" charset="-122"/>
              </a:rPr>
              <a:t>Longer Learning Curve</a:t>
            </a:r>
          </a:p>
        </p:txBody>
      </p:sp>
      <p:pic>
        <p:nvPicPr>
          <p:cNvPr id="20" name="Picture 19" descr="A sand clock with orange and white colors&#10;&#10;AI-generated content may be incorrect.">
            <a:extLst>
              <a:ext uri="{FF2B5EF4-FFF2-40B4-BE49-F238E27FC236}">
                <a16:creationId xmlns:a16="http://schemas.microsoft.com/office/drawing/2014/main" id="{F43CB420-C144-4EB5-3B77-A3C7B80450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7020" y="4236602"/>
            <a:ext cx="717735" cy="506916"/>
          </a:xfrm>
          <a:prstGeom prst="rect">
            <a:avLst/>
          </a:prstGeom>
        </p:spPr>
      </p:pic>
    </p:spTree>
    <p:extLst>
      <p:ext uri="{BB962C8B-B14F-4D97-AF65-F5344CB8AC3E}">
        <p14:creationId xmlns:p14="http://schemas.microsoft.com/office/powerpoint/2010/main" val="79922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AF21-D4F6-F3B7-6E68-8E93CA03B1DC}"/>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BB94316E-7CEA-5710-EF10-B0849F2A53BC}"/>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08216592-B3BA-D46D-DE4A-22C8CCEB375B}"/>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Proposed Solution</a:t>
            </a:r>
            <a:endParaRPr lang="en-SG" sz="1800" b="1" dirty="0">
              <a:solidFill>
                <a:srgbClr val="FFFFFF"/>
              </a:solidFill>
              <a:latin typeface="Calibri" pitchFamily="34" charset="0"/>
              <a:ea typeface="Calibri" pitchFamily="34" charset="-122"/>
              <a:cs typeface="Calibri" pitchFamily="34" charset="-120"/>
            </a:endParaRPr>
          </a:p>
        </p:txBody>
      </p:sp>
      <p:pic>
        <p:nvPicPr>
          <p:cNvPr id="22" name="Picture 21">
            <a:extLst>
              <a:ext uri="{FF2B5EF4-FFF2-40B4-BE49-F238E27FC236}">
                <a16:creationId xmlns:a16="http://schemas.microsoft.com/office/drawing/2014/main" id="{C7D54B68-1B13-BA2A-5CA7-5F0C62E04CFC}"/>
              </a:ext>
            </a:extLst>
          </p:cNvPr>
          <p:cNvPicPr>
            <a:picLocks noChangeAspect="1"/>
          </p:cNvPicPr>
          <p:nvPr/>
        </p:nvPicPr>
        <p:blipFill>
          <a:blip r:embed="rId3"/>
          <a:stretch>
            <a:fillRect/>
          </a:stretch>
        </p:blipFill>
        <p:spPr>
          <a:xfrm>
            <a:off x="274319" y="723051"/>
            <a:ext cx="8541189" cy="4292821"/>
          </a:xfrm>
          <a:prstGeom prst="rect">
            <a:avLst/>
          </a:prstGeom>
        </p:spPr>
      </p:pic>
    </p:spTree>
    <p:extLst>
      <p:ext uri="{BB962C8B-B14F-4D97-AF65-F5344CB8AC3E}">
        <p14:creationId xmlns:p14="http://schemas.microsoft.com/office/powerpoint/2010/main" val="4275223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5F14-1795-3C95-B6C3-A8AB3AD6D0F6}"/>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C160FB19-B341-3DC1-7BAB-5ACCEA85F3E0}"/>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A089F9F6-C9F1-F6EA-C286-B5E76B9F0A2C}"/>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Projected Benefits and Key Asks</a:t>
            </a:r>
            <a:endParaRPr lang="en-SG" sz="1800" b="1" dirty="0">
              <a:solidFill>
                <a:srgbClr val="FFFFFF"/>
              </a:solidFill>
              <a:latin typeface="Calibri" pitchFamily="34" charset="0"/>
              <a:ea typeface="Calibri" pitchFamily="34" charset="-122"/>
              <a:cs typeface="Calibri" pitchFamily="34" charset="-120"/>
            </a:endParaRPr>
          </a:p>
        </p:txBody>
      </p:sp>
      <p:pic>
        <p:nvPicPr>
          <p:cNvPr id="2" name="Image 0" descr="preencoded.png">
            <a:extLst>
              <a:ext uri="{FF2B5EF4-FFF2-40B4-BE49-F238E27FC236}">
                <a16:creationId xmlns:a16="http://schemas.microsoft.com/office/drawing/2014/main" id="{4615D89F-1478-8F30-9FF1-9B8DE26A07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6858" y="2980071"/>
            <a:ext cx="385206" cy="385206"/>
          </a:xfrm>
          <a:prstGeom prst="rect">
            <a:avLst/>
          </a:prstGeom>
        </p:spPr>
      </p:pic>
      <p:sp>
        <p:nvSpPr>
          <p:cNvPr id="4" name="Text 2">
            <a:extLst>
              <a:ext uri="{FF2B5EF4-FFF2-40B4-BE49-F238E27FC236}">
                <a16:creationId xmlns:a16="http://schemas.microsoft.com/office/drawing/2014/main" id="{489E48F2-F8DB-2066-E859-C228A5AE3443}"/>
              </a:ext>
            </a:extLst>
          </p:cNvPr>
          <p:cNvSpPr/>
          <p:nvPr/>
        </p:nvSpPr>
        <p:spPr>
          <a:xfrm>
            <a:off x="706773" y="2392123"/>
            <a:ext cx="2613868"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Standard Recommendations</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pic>
        <p:nvPicPr>
          <p:cNvPr id="5" name="Image 1" descr="preencoded.png">
            <a:extLst>
              <a:ext uri="{FF2B5EF4-FFF2-40B4-BE49-F238E27FC236}">
                <a16:creationId xmlns:a16="http://schemas.microsoft.com/office/drawing/2014/main" id="{1913E133-F432-708F-4A61-1194C806AB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5176" y="1475995"/>
            <a:ext cx="385206" cy="385206"/>
          </a:xfrm>
          <a:prstGeom prst="rect">
            <a:avLst/>
          </a:prstGeom>
        </p:spPr>
      </p:pic>
      <p:sp>
        <p:nvSpPr>
          <p:cNvPr id="6" name="Text 4">
            <a:extLst>
              <a:ext uri="{FF2B5EF4-FFF2-40B4-BE49-F238E27FC236}">
                <a16:creationId xmlns:a16="http://schemas.microsoft.com/office/drawing/2014/main" id="{64A90E6A-D99C-048B-C7EA-EB29AC6AE618}"/>
              </a:ext>
            </a:extLst>
          </p:cNvPr>
          <p:cNvSpPr/>
          <p:nvPr/>
        </p:nvSpPr>
        <p:spPr>
          <a:xfrm>
            <a:off x="4980448" y="1529616"/>
            <a:ext cx="2613943" cy="213196"/>
          </a:xfrm>
          <a:prstGeom prst="rect">
            <a:avLst/>
          </a:prstGeom>
          <a:noFill/>
          <a:ln/>
        </p:spPr>
        <p:txBody>
          <a:bodyPr wrap="none" lIns="0" tIns="0" rIns="0" bIns="0" rtlCol="0" anchor="t"/>
          <a:lstStyle/>
          <a:p>
            <a:pPr defTabSz="914378">
              <a:lnSpc>
                <a:spcPct val="104000"/>
              </a:lnSpc>
              <a:defRPr/>
            </a:pPr>
            <a:r>
              <a:rPr lang="en-US" sz="1300" b="1" kern="0" dirty="0">
                <a:solidFill>
                  <a:srgbClr val="002060"/>
                </a:solidFill>
                <a:latin typeface="Calibri" panose="020F0502020204030204" pitchFamily="34" charset="0"/>
                <a:ea typeface="Calibri" panose="020F0502020204030204" pitchFamily="34" charset="0"/>
                <a:cs typeface="Calibri" panose="020F0502020204030204" pitchFamily="34" charset="0"/>
              </a:rPr>
              <a:t>Faster Investigation</a:t>
            </a:r>
            <a:endParaRPr lang="en-US" sz="1300" kern="0" dirty="0">
              <a:solidFill>
                <a:srgbClr val="002060"/>
              </a:solidFill>
              <a:latin typeface="Calibri" panose="020F0502020204030204" pitchFamily="34" charset="0"/>
              <a:ea typeface="Calibri" panose="020F0502020204030204" pitchFamily="34" charset="0"/>
              <a:cs typeface="Calibri" panose="020F0502020204030204" pitchFamily="34" charset="0"/>
            </a:endParaRPr>
          </a:p>
        </p:txBody>
      </p:sp>
      <p:pic>
        <p:nvPicPr>
          <p:cNvPr id="7" name="Image 2" descr="preencoded.png">
            <a:extLst>
              <a:ext uri="{FF2B5EF4-FFF2-40B4-BE49-F238E27FC236}">
                <a16:creationId xmlns:a16="http://schemas.microsoft.com/office/drawing/2014/main" id="{9B201875-5942-FE1E-AA0D-0F2D2BDBCD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6858" y="1577500"/>
            <a:ext cx="385206" cy="385206"/>
          </a:xfrm>
          <a:prstGeom prst="rect">
            <a:avLst/>
          </a:prstGeom>
        </p:spPr>
      </p:pic>
      <p:sp>
        <p:nvSpPr>
          <p:cNvPr id="8" name="Text 6">
            <a:extLst>
              <a:ext uri="{FF2B5EF4-FFF2-40B4-BE49-F238E27FC236}">
                <a16:creationId xmlns:a16="http://schemas.microsoft.com/office/drawing/2014/main" id="{2A916D84-4CB2-6618-D30F-1709C3073B56}"/>
              </a:ext>
            </a:extLst>
          </p:cNvPr>
          <p:cNvSpPr/>
          <p:nvPr/>
        </p:nvSpPr>
        <p:spPr>
          <a:xfrm>
            <a:off x="756896" y="3756804"/>
            <a:ext cx="2613943"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Extensible Platform</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2">
            <a:extLst>
              <a:ext uri="{FF2B5EF4-FFF2-40B4-BE49-F238E27FC236}">
                <a16:creationId xmlns:a16="http://schemas.microsoft.com/office/drawing/2014/main" id="{B74F15AC-A01C-7E9E-231E-595861384652}"/>
              </a:ext>
            </a:extLst>
          </p:cNvPr>
          <p:cNvSpPr/>
          <p:nvPr/>
        </p:nvSpPr>
        <p:spPr>
          <a:xfrm>
            <a:off x="706773" y="1676180"/>
            <a:ext cx="2613868"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Knowledge Centralization</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2">
            <a:extLst>
              <a:ext uri="{FF2B5EF4-FFF2-40B4-BE49-F238E27FC236}">
                <a16:creationId xmlns:a16="http://schemas.microsoft.com/office/drawing/2014/main" id="{E001AF21-FD3C-4A2A-755C-F0681423AA6F}"/>
              </a:ext>
            </a:extLst>
          </p:cNvPr>
          <p:cNvSpPr/>
          <p:nvPr/>
        </p:nvSpPr>
        <p:spPr>
          <a:xfrm>
            <a:off x="756896" y="3063800"/>
            <a:ext cx="2613868"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Future Onboarding</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2">
            <a:extLst>
              <a:ext uri="{FF2B5EF4-FFF2-40B4-BE49-F238E27FC236}">
                <a16:creationId xmlns:a16="http://schemas.microsoft.com/office/drawing/2014/main" id="{1A6D7537-0A5A-CE4C-73DE-81EA8DF4A041}"/>
              </a:ext>
            </a:extLst>
          </p:cNvPr>
          <p:cNvSpPr/>
          <p:nvPr/>
        </p:nvSpPr>
        <p:spPr>
          <a:xfrm>
            <a:off x="657662" y="1037767"/>
            <a:ext cx="2613868" cy="213196"/>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AI Assisted RCA</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descr="A pink brain with blue and purple lines&#10;&#10;AI-generated content may be incorrect.">
            <a:extLst>
              <a:ext uri="{FF2B5EF4-FFF2-40B4-BE49-F238E27FC236}">
                <a16:creationId xmlns:a16="http://schemas.microsoft.com/office/drawing/2014/main" id="{95A91018-3562-4661-7053-D3499FF4C51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860" y="917406"/>
            <a:ext cx="473202" cy="473202"/>
          </a:xfrm>
          <a:prstGeom prst="rect">
            <a:avLst/>
          </a:prstGeom>
        </p:spPr>
      </p:pic>
      <p:pic>
        <p:nvPicPr>
          <p:cNvPr id="13" name="Picture 12" descr="A book with stars and a speech bubble&#10;&#10;AI-generated content may be incorrect.">
            <a:extLst>
              <a:ext uri="{FF2B5EF4-FFF2-40B4-BE49-F238E27FC236}">
                <a16:creationId xmlns:a16="http://schemas.microsoft.com/office/drawing/2014/main" id="{BD8810E2-149C-81D7-5B69-BA1EB346B7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9966" y="2220169"/>
            <a:ext cx="496062" cy="496062"/>
          </a:xfrm>
          <a:prstGeom prst="rect">
            <a:avLst/>
          </a:prstGeom>
        </p:spPr>
      </p:pic>
      <p:pic>
        <p:nvPicPr>
          <p:cNvPr id="14" name="Picture 13" descr="A cloud with a chip and a cogwheel&#10;&#10;AI-generated content may be incorrect.">
            <a:extLst>
              <a:ext uri="{FF2B5EF4-FFF2-40B4-BE49-F238E27FC236}">
                <a16:creationId xmlns:a16="http://schemas.microsoft.com/office/drawing/2014/main" id="{4DF2C59E-ECA1-FDDA-F774-AD34FF176AA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2859" y="3545258"/>
            <a:ext cx="578975" cy="578975"/>
          </a:xfrm>
          <a:prstGeom prst="rect">
            <a:avLst/>
          </a:prstGeom>
        </p:spPr>
      </p:pic>
      <p:graphicFrame>
        <p:nvGraphicFramePr>
          <p:cNvPr id="15" name="Table 14">
            <a:extLst>
              <a:ext uri="{FF2B5EF4-FFF2-40B4-BE49-F238E27FC236}">
                <a16:creationId xmlns:a16="http://schemas.microsoft.com/office/drawing/2014/main" id="{0BAB3110-231E-91B2-349E-8A7F63255DF4}"/>
              </a:ext>
            </a:extLst>
          </p:cNvPr>
          <p:cNvGraphicFramePr>
            <a:graphicFrameLocks noGrp="1"/>
          </p:cNvGraphicFramePr>
          <p:nvPr>
            <p:extLst>
              <p:ext uri="{D42A27DB-BD31-4B8C-83A1-F6EECF244321}">
                <p14:modId xmlns:p14="http://schemas.microsoft.com/office/powerpoint/2010/main" val="3145489552"/>
              </p:ext>
            </p:extLst>
          </p:nvPr>
        </p:nvGraphicFramePr>
        <p:xfrm>
          <a:off x="3204574" y="1989304"/>
          <a:ext cx="5232653" cy="1127579"/>
        </p:xfrm>
        <a:graphic>
          <a:graphicData uri="http://schemas.openxmlformats.org/drawingml/2006/table">
            <a:tbl>
              <a:tblPr firstRow="1" bandRow="1">
                <a:tableStyleId>{5C22544A-7EE6-4342-B048-85BDC9FD1C3A}</a:tableStyleId>
              </a:tblPr>
              <a:tblGrid>
                <a:gridCol w="1644059">
                  <a:extLst>
                    <a:ext uri="{9D8B030D-6E8A-4147-A177-3AD203B41FA5}">
                      <a16:colId xmlns:a16="http://schemas.microsoft.com/office/drawing/2014/main" val="973039702"/>
                    </a:ext>
                  </a:extLst>
                </a:gridCol>
                <a:gridCol w="1368842">
                  <a:extLst>
                    <a:ext uri="{9D8B030D-6E8A-4147-A177-3AD203B41FA5}">
                      <a16:colId xmlns:a16="http://schemas.microsoft.com/office/drawing/2014/main" val="2314222394"/>
                    </a:ext>
                  </a:extLst>
                </a:gridCol>
                <a:gridCol w="2219752">
                  <a:extLst>
                    <a:ext uri="{9D8B030D-6E8A-4147-A177-3AD203B41FA5}">
                      <a16:colId xmlns:a16="http://schemas.microsoft.com/office/drawing/2014/main" val="3225539016"/>
                    </a:ext>
                  </a:extLst>
                </a:gridCol>
              </a:tblGrid>
              <a:tr h="566661">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Scenario</a:t>
                      </a:r>
                    </a:p>
                  </a:txBody>
                  <a:tcPr marL="68580" marR="68580" marT="34290" marB="34290"/>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Effort / Cycle</a:t>
                      </a:r>
                    </a:p>
                  </a:txBody>
                  <a:tcPr marL="68580" marR="68580" marT="34290" marB="34290"/>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Projection for 70 Cycles</a:t>
                      </a:r>
                    </a:p>
                  </a:txBody>
                  <a:tcPr marL="68580" marR="68580" marT="34290" marB="34290"/>
                </a:tc>
                <a:extLst>
                  <a:ext uri="{0D108BD9-81ED-4DB2-BD59-A6C34878D82A}">
                    <a16:rowId xmlns:a16="http://schemas.microsoft.com/office/drawing/2014/main" val="2534260266"/>
                  </a:ext>
                </a:extLst>
              </a:tr>
              <a:tr h="280459">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Manual Analysis</a:t>
                      </a:r>
                    </a:p>
                  </a:txBody>
                  <a:tcPr marL="68580" marR="68580" marT="34290" marB="34290"/>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40-50 MINS</a:t>
                      </a:r>
                    </a:p>
                  </a:txBody>
                  <a:tcPr marL="68580" marR="68580" marT="34290" marB="34290"/>
                </a:tc>
                <a:tc>
                  <a:txBody>
                    <a:bodyPr/>
                    <a:lstStyle/>
                    <a:p>
                      <a:pPr algn="ctr"/>
                      <a:r>
                        <a:rPr lang="en-SG" sz="1000" b="1" dirty="0">
                          <a:latin typeface="Calibri" panose="020F0502020204030204" pitchFamily="34" charset="0"/>
                          <a:ea typeface="Calibri" panose="020F0502020204030204" pitchFamily="34" charset="0"/>
                          <a:cs typeface="Calibri" panose="020F0502020204030204" pitchFamily="34" charset="0"/>
                        </a:rPr>
                        <a:t>35+ Hrs</a:t>
                      </a:r>
                    </a:p>
                  </a:txBody>
                  <a:tcPr marL="68580" marR="68580" marT="34290" marB="34290"/>
                </a:tc>
                <a:extLst>
                  <a:ext uri="{0D108BD9-81ED-4DB2-BD59-A6C34878D82A}">
                    <a16:rowId xmlns:a16="http://schemas.microsoft.com/office/drawing/2014/main" val="1029902065"/>
                  </a:ext>
                </a:extLst>
              </a:tr>
              <a:tr h="280459">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Automated Analysis</a:t>
                      </a:r>
                    </a:p>
                  </a:txBody>
                  <a:tcPr marL="68580" marR="68580" marT="34290" marB="34290"/>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15-18 Mins</a:t>
                      </a:r>
                    </a:p>
                  </a:txBody>
                  <a:tcPr marL="68580" marR="68580" marT="34290" marB="34290"/>
                </a:tc>
                <a:tc>
                  <a:txBody>
                    <a:bodyPr/>
                    <a:lstStyle/>
                    <a:p>
                      <a:pPr algn="ctr"/>
                      <a:r>
                        <a:rPr lang="en-SG" sz="1000" b="1" dirty="0">
                          <a:latin typeface="Calibri" panose="020F0502020204030204" pitchFamily="34" charset="0"/>
                          <a:ea typeface="Calibri" panose="020F0502020204030204" pitchFamily="34" charset="0"/>
                          <a:cs typeface="Calibri" panose="020F0502020204030204" pitchFamily="34" charset="0"/>
                        </a:rPr>
                        <a:t>21 Hrs</a:t>
                      </a:r>
                    </a:p>
                  </a:txBody>
                  <a:tcPr marL="68580" marR="68580" marT="34290" marB="34290"/>
                </a:tc>
                <a:extLst>
                  <a:ext uri="{0D108BD9-81ED-4DB2-BD59-A6C34878D82A}">
                    <a16:rowId xmlns:a16="http://schemas.microsoft.com/office/drawing/2014/main" val="293120325"/>
                  </a:ext>
                </a:extLst>
              </a:tr>
            </a:tbl>
          </a:graphicData>
        </a:graphic>
      </p:graphicFrame>
    </p:spTree>
    <p:extLst>
      <p:ext uri="{BB962C8B-B14F-4D97-AF65-F5344CB8AC3E}">
        <p14:creationId xmlns:p14="http://schemas.microsoft.com/office/powerpoint/2010/main" val="2367219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987D-46BC-E6EC-A5E4-E6F42ED7412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1B00062-88AF-F950-9A16-00601D5353B0}"/>
              </a:ext>
            </a:extLst>
          </p:cNvPr>
          <p:cNvPicPr>
            <a:picLocks noChangeAspect="1"/>
          </p:cNvPicPr>
          <p:nvPr/>
        </p:nvPicPr>
        <p:blipFill rotWithShape="1">
          <a:blip r:embed="rId4">
            <a:extLst>
              <a:ext uri="{28A0092B-C50C-407E-A947-70E740481C1C}">
                <a14:useLocalDpi xmlns:a14="http://schemas.microsoft.com/office/drawing/2010/main" val="0"/>
              </a:ext>
            </a:extLst>
          </a:blip>
          <a:srcRect l="35428" t="13546" r="5325" b="13546"/>
          <a:stretch>
            <a:fillRect/>
          </a:stretch>
        </p:blipFill>
        <p:spPr>
          <a:xfrm>
            <a:off x="3923928" y="0"/>
            <a:ext cx="5220072" cy="5143500"/>
          </a:xfrm>
          <a:prstGeom prst="rect">
            <a:avLst/>
          </a:prstGeom>
        </p:spPr>
      </p:pic>
      <p:pic>
        <p:nvPicPr>
          <p:cNvPr id="4" name="Picture 3">
            <a:extLst>
              <a:ext uri="{FF2B5EF4-FFF2-40B4-BE49-F238E27FC236}">
                <a16:creationId xmlns:a16="http://schemas.microsoft.com/office/drawing/2014/main" id="{F84CB064-5EC0-ACA8-A98B-EC4E67F4193A}"/>
              </a:ext>
            </a:extLst>
          </p:cNvPr>
          <p:cNvPicPr>
            <a:picLocks noChangeAspect="1"/>
          </p:cNvPicPr>
          <p:nvPr/>
        </p:nvPicPr>
        <p:blipFill>
          <a:blip r:embed="rId5"/>
          <a:srcRect l="20826" r="3539" b="36309"/>
          <a:stretch>
            <a:fillRect/>
          </a:stretch>
        </p:blipFill>
        <p:spPr>
          <a:xfrm>
            <a:off x="0" y="-7403"/>
            <a:ext cx="9157161" cy="5150903"/>
          </a:xfrm>
          <a:prstGeom prst="rect">
            <a:avLst/>
          </a:prstGeom>
        </p:spPr>
      </p:pic>
      <p:graphicFrame>
        <p:nvGraphicFramePr>
          <p:cNvPr id="6" name="think-cell data - do not delete" hidden="1">
            <a:extLst>
              <a:ext uri="{FF2B5EF4-FFF2-40B4-BE49-F238E27FC236}">
                <a16:creationId xmlns:a16="http://schemas.microsoft.com/office/drawing/2014/main" id="{443EE4F1-5D2C-1755-8260-E8DC9E9B6C3A}"/>
              </a:ext>
            </a:extLst>
          </p:cNvPr>
          <p:cNvGraphicFramePr>
            <a:graphicFrameLocks/>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think-cell data - do not delete" hidden="1">
                        <a:extLst>
                          <a:ext uri="{FF2B5EF4-FFF2-40B4-BE49-F238E27FC236}">
                            <a16:creationId xmlns:a16="http://schemas.microsoft.com/office/drawing/2014/main" id="{ABD1268C-9665-9C97-93CF-BD9371FDE52A}"/>
                          </a:ext>
                        </a:extLst>
                      </p:cNvPr>
                      <p:cNvPicPr/>
                      <p:nvPr/>
                    </p:nvPicPr>
                    <p:blipFill>
                      <a:blip r:embed="rId7"/>
                      <a:stretch>
                        <a:fillRect/>
                      </a:stretch>
                    </p:blipFill>
                    <p:spPr>
                      <a:xfrm>
                        <a:off x="1191" y="1191"/>
                        <a:ext cx="1191" cy="1191"/>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16B4B955-56FB-C47E-3FCD-5986E8BD0ED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901" y="316095"/>
            <a:ext cx="928686" cy="504974"/>
          </a:xfrm>
          <a:prstGeom prst="rect">
            <a:avLst/>
          </a:prstGeom>
        </p:spPr>
      </p:pic>
      <p:sp>
        <p:nvSpPr>
          <p:cNvPr id="13" name="Title 2">
            <a:extLst>
              <a:ext uri="{FF2B5EF4-FFF2-40B4-BE49-F238E27FC236}">
                <a16:creationId xmlns:a16="http://schemas.microsoft.com/office/drawing/2014/main" id="{5114D3A8-3CF9-CAE8-72BB-A0AB1526CE69}"/>
              </a:ext>
            </a:extLst>
          </p:cNvPr>
          <p:cNvSpPr txBox="1">
            <a:spLocks/>
          </p:cNvSpPr>
          <p:nvPr/>
        </p:nvSpPr>
        <p:spPr>
          <a:xfrm>
            <a:off x="153734" y="1986459"/>
            <a:ext cx="4697126" cy="380682"/>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2400" dirty="0">
                <a:solidFill>
                  <a:srgbClr val="EC1B3D"/>
                </a:solidFill>
                <a:latin typeface="Aptos" panose="020B0004020202020204" pitchFamily="34" charset="0"/>
                <a:cs typeface="Arial" panose="020B0604020202020204" pitchFamily="34" charset="0"/>
              </a:rPr>
              <a:t>2. </a:t>
            </a:r>
            <a:r>
              <a:rPr lang="en-US" sz="2400" dirty="0" err="1">
                <a:solidFill>
                  <a:srgbClr val="EC1B3D"/>
                </a:solidFill>
                <a:latin typeface="Aptos" panose="020B0004020202020204" pitchFamily="34" charset="0"/>
                <a:cs typeface="Arial" panose="020B0604020202020204" pitchFamily="34" charset="0"/>
              </a:rPr>
              <a:t>AutoBot</a:t>
            </a:r>
            <a:r>
              <a:rPr lang="en-US" sz="2400" dirty="0">
                <a:solidFill>
                  <a:srgbClr val="EC1B3D"/>
                </a:solidFill>
                <a:latin typeface="Aptos" panose="020B0004020202020204" pitchFamily="34" charset="0"/>
                <a:cs typeface="Arial" panose="020B0604020202020204" pitchFamily="34" charset="0"/>
              </a:rPr>
              <a:t> Automation Tool-Kit</a:t>
            </a:r>
            <a:endParaRPr lang="en-US" sz="2400" dirty="0">
              <a:solidFill>
                <a:srgbClr val="231F20"/>
              </a:solidFill>
              <a:latin typeface="Aptos" panose="020B0004020202020204" pitchFamily="34" charset="0"/>
              <a:cs typeface="Arial" panose="020B0604020202020204" pitchFamily="34" charset="0"/>
            </a:endParaRPr>
          </a:p>
        </p:txBody>
      </p:sp>
      <p:sp>
        <p:nvSpPr>
          <p:cNvPr id="14" name="Title 2">
            <a:extLst>
              <a:ext uri="{FF2B5EF4-FFF2-40B4-BE49-F238E27FC236}">
                <a16:creationId xmlns:a16="http://schemas.microsoft.com/office/drawing/2014/main" id="{CF389146-3EDF-B0F6-188B-AFC9EE48DE72}"/>
              </a:ext>
            </a:extLst>
          </p:cNvPr>
          <p:cNvSpPr txBox="1">
            <a:spLocks/>
          </p:cNvSpPr>
          <p:nvPr/>
        </p:nvSpPr>
        <p:spPr>
          <a:xfrm>
            <a:off x="153734" y="2386117"/>
            <a:ext cx="4337112" cy="527132"/>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1500" dirty="0">
                <a:solidFill>
                  <a:srgbClr val="000000"/>
                </a:solidFill>
                <a:latin typeface="Aptos" panose="020B0004020202020204" pitchFamily="34" charset="0"/>
                <a:cs typeface="Arial" panose="020B0604020202020204" pitchFamily="34" charset="0"/>
              </a:rPr>
              <a:t>Takshashila Tripathi</a:t>
            </a:r>
          </a:p>
          <a:p>
            <a:pPr defTabSz="685749">
              <a:spcBef>
                <a:spcPts val="450"/>
              </a:spcBef>
              <a:defRPr/>
            </a:pPr>
            <a:r>
              <a:rPr lang="en-SG" sz="1500" dirty="0">
                <a:solidFill>
                  <a:srgbClr val="000000"/>
                </a:solidFill>
                <a:latin typeface="Aptos" panose="020B0004020202020204" pitchFamily="34" charset="0"/>
                <a:cs typeface="Arial" panose="020B0604020202020204" pitchFamily="34" charset="0"/>
              </a:rPr>
              <a:t>Theerthaprasad G </a:t>
            </a:r>
            <a:endParaRPr lang="en-US" sz="1500" dirty="0">
              <a:solidFill>
                <a:srgbClr val="000000"/>
              </a:solidFill>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136458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1688-41C6-F6E1-90BB-10F03D767CAD}"/>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BC8C53FE-01C9-DCC9-771F-93E3B44F1EB2}"/>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9D9F5ED1-E932-1394-197B-4719589DB02E}"/>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Current State</a:t>
            </a:r>
            <a:endParaRPr lang="en-SG" sz="1800" b="1" dirty="0">
              <a:solidFill>
                <a:srgbClr val="FFFFFF"/>
              </a:solidFill>
              <a:latin typeface="Calibri" pitchFamily="34" charset="0"/>
              <a:ea typeface="Calibri" pitchFamily="34" charset="-122"/>
              <a:cs typeface="Calibri" pitchFamily="34" charset="-120"/>
            </a:endParaRPr>
          </a:p>
        </p:txBody>
      </p:sp>
      <p:sp>
        <p:nvSpPr>
          <p:cNvPr id="21" name="Freeform: Shape 20">
            <a:extLst>
              <a:ext uri="{FF2B5EF4-FFF2-40B4-BE49-F238E27FC236}">
                <a16:creationId xmlns:a16="http://schemas.microsoft.com/office/drawing/2014/main" id="{1C7E3FCB-B9A6-CC81-1EC2-220F4C7CA52A}"/>
              </a:ext>
            </a:extLst>
          </p:cNvPr>
          <p:cNvSpPr/>
          <p:nvPr/>
        </p:nvSpPr>
        <p:spPr>
          <a:xfrm>
            <a:off x="308610" y="780893"/>
            <a:ext cx="5120640" cy="1953369"/>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2" name="Freeform: Shape 21">
            <a:extLst>
              <a:ext uri="{FF2B5EF4-FFF2-40B4-BE49-F238E27FC236}">
                <a16:creationId xmlns:a16="http://schemas.microsoft.com/office/drawing/2014/main" id="{09F1595F-176C-FD79-E4D3-9CC5DDC4AFD3}"/>
              </a:ext>
            </a:extLst>
          </p:cNvPr>
          <p:cNvSpPr/>
          <p:nvPr/>
        </p:nvSpPr>
        <p:spPr>
          <a:xfrm>
            <a:off x="308610" y="780893"/>
            <a:ext cx="5120640" cy="1953369"/>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23" name="Freeform: Shape 22">
            <a:extLst>
              <a:ext uri="{FF2B5EF4-FFF2-40B4-BE49-F238E27FC236}">
                <a16:creationId xmlns:a16="http://schemas.microsoft.com/office/drawing/2014/main" id="{FD429769-5E97-A74F-ECA2-DB885598740A}"/>
              </a:ext>
            </a:extLst>
          </p:cNvPr>
          <p:cNvSpPr/>
          <p:nvPr/>
        </p:nvSpPr>
        <p:spPr>
          <a:xfrm>
            <a:off x="308609" y="780892"/>
            <a:ext cx="110916" cy="1953369"/>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4" name="Text 2">
            <a:extLst>
              <a:ext uri="{FF2B5EF4-FFF2-40B4-BE49-F238E27FC236}">
                <a16:creationId xmlns:a16="http://schemas.microsoft.com/office/drawing/2014/main" id="{F35FD36A-A06F-4FAF-36F9-8076FF47EE83}"/>
              </a:ext>
            </a:extLst>
          </p:cNvPr>
          <p:cNvSpPr/>
          <p:nvPr/>
        </p:nvSpPr>
        <p:spPr>
          <a:xfrm>
            <a:off x="504021" y="919155"/>
            <a:ext cx="4472100" cy="213196"/>
          </a:xfrm>
          <a:prstGeom prst="rect">
            <a:avLst/>
          </a:prstGeom>
          <a:noFill/>
          <a:ln/>
        </p:spPr>
        <p:txBody>
          <a:bodyPr wrap="none" lIns="0" tIns="0" rIns="0" bIns="0" rtlCol="0" anchor="t"/>
          <a:lstStyle/>
          <a:p>
            <a:pPr defTabSz="914378">
              <a:lnSpc>
                <a:spcPct val="104000"/>
              </a:lnSpc>
              <a:defRPr/>
            </a:pPr>
            <a:r>
              <a:rPr lang="en-US" sz="1298" b="1" kern="0" dirty="0">
                <a:latin typeface="Calibri" panose="020F0502020204030204" pitchFamily="34" charset="0"/>
                <a:ea typeface="Calibri" panose="020F0502020204030204" pitchFamily="34" charset="0"/>
                <a:cs typeface="Calibri" panose="020F0502020204030204" pitchFamily="34" charset="0"/>
              </a:rPr>
              <a:t>Test Data</a:t>
            </a:r>
            <a:endParaRPr lang="en-US" sz="1298" kern="0"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 3">
            <a:extLst>
              <a:ext uri="{FF2B5EF4-FFF2-40B4-BE49-F238E27FC236}">
                <a16:creationId xmlns:a16="http://schemas.microsoft.com/office/drawing/2014/main" id="{A744BE6B-ABB0-4E80-67E9-9A13E511E355}"/>
              </a:ext>
            </a:extLst>
          </p:cNvPr>
          <p:cNvSpPr/>
          <p:nvPr/>
        </p:nvSpPr>
        <p:spPr>
          <a:xfrm>
            <a:off x="504021" y="1206765"/>
            <a:ext cx="4420024" cy="1389236"/>
          </a:xfrm>
          <a:prstGeom prst="rect">
            <a:avLst/>
          </a:prstGeom>
          <a:noFill/>
          <a:ln/>
        </p:spPr>
        <p:txBody>
          <a:bodyPr wrap="square" lIns="0" tIns="0" rIns="0" bIns="0" rtlCol="0" anchor="t">
            <a:noAutofit/>
          </a:bodyPr>
          <a:lstStyle/>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Test Data is set up by every tester</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Automation scripts used for Test Data Set Up are tightly coupled with scenarios</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Average 250+ </a:t>
            </a:r>
            <a:r>
              <a:rPr lang="en-US" sz="1050" kern="0" dirty="0" err="1">
                <a:latin typeface="Calibri" panose="020F0502020204030204" pitchFamily="34" charset="0"/>
                <a:ea typeface="Calibri" panose="020F0502020204030204" pitchFamily="34" charset="0"/>
                <a:cs typeface="Calibri" panose="020F0502020204030204" pitchFamily="34" charset="0"/>
              </a:rPr>
              <a:t>hrs</a:t>
            </a:r>
            <a:r>
              <a:rPr lang="en-US" sz="1050" kern="0" dirty="0">
                <a:latin typeface="Calibri" panose="020F0502020204030204" pitchFamily="34" charset="0"/>
                <a:ea typeface="Calibri" panose="020F0502020204030204" pitchFamily="34" charset="0"/>
                <a:cs typeface="Calibri" panose="020F0502020204030204" pitchFamily="34" charset="0"/>
              </a:rPr>
              <a:t> spent in a month on data set up.</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Complex data set up like usage and bill run require file accuracy. </a:t>
            </a:r>
          </a:p>
        </p:txBody>
      </p:sp>
      <p:sp>
        <p:nvSpPr>
          <p:cNvPr id="26" name="Freeform: Shape 25">
            <a:extLst>
              <a:ext uri="{FF2B5EF4-FFF2-40B4-BE49-F238E27FC236}">
                <a16:creationId xmlns:a16="http://schemas.microsoft.com/office/drawing/2014/main" id="{438D93E8-A2BA-5E47-FAF4-BDF6E99C30A3}"/>
              </a:ext>
            </a:extLst>
          </p:cNvPr>
          <p:cNvSpPr/>
          <p:nvPr/>
        </p:nvSpPr>
        <p:spPr>
          <a:xfrm>
            <a:off x="308609" y="2960051"/>
            <a:ext cx="5120640" cy="1704683"/>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7" name="Freeform: Shape 26">
            <a:extLst>
              <a:ext uri="{FF2B5EF4-FFF2-40B4-BE49-F238E27FC236}">
                <a16:creationId xmlns:a16="http://schemas.microsoft.com/office/drawing/2014/main" id="{C9821E78-8275-9BE6-3CE0-536562519C24}"/>
              </a:ext>
            </a:extLst>
          </p:cNvPr>
          <p:cNvSpPr/>
          <p:nvPr/>
        </p:nvSpPr>
        <p:spPr>
          <a:xfrm>
            <a:off x="308609" y="2960051"/>
            <a:ext cx="5120640" cy="1704683"/>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28" name="Freeform: Shape 27">
            <a:extLst>
              <a:ext uri="{FF2B5EF4-FFF2-40B4-BE49-F238E27FC236}">
                <a16:creationId xmlns:a16="http://schemas.microsoft.com/office/drawing/2014/main" id="{B6DBFE28-F009-EF56-906B-26754407B796}"/>
              </a:ext>
            </a:extLst>
          </p:cNvPr>
          <p:cNvSpPr/>
          <p:nvPr/>
        </p:nvSpPr>
        <p:spPr>
          <a:xfrm>
            <a:off x="308609" y="2960050"/>
            <a:ext cx="110916" cy="1704683"/>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9" name="Text 2">
            <a:extLst>
              <a:ext uri="{FF2B5EF4-FFF2-40B4-BE49-F238E27FC236}">
                <a16:creationId xmlns:a16="http://schemas.microsoft.com/office/drawing/2014/main" id="{6A35B8D1-8092-60EA-720F-E7CE9CE1A9A0}"/>
              </a:ext>
            </a:extLst>
          </p:cNvPr>
          <p:cNvSpPr/>
          <p:nvPr/>
        </p:nvSpPr>
        <p:spPr>
          <a:xfrm>
            <a:off x="504020" y="3098314"/>
            <a:ext cx="4472100" cy="186053"/>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Backend Flows in E2E Automation</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 3">
            <a:extLst>
              <a:ext uri="{FF2B5EF4-FFF2-40B4-BE49-F238E27FC236}">
                <a16:creationId xmlns:a16="http://schemas.microsoft.com/office/drawing/2014/main" id="{A7062318-2685-8A05-8DA6-D52E3CB2E2F3}"/>
              </a:ext>
            </a:extLst>
          </p:cNvPr>
          <p:cNvSpPr/>
          <p:nvPr/>
        </p:nvSpPr>
        <p:spPr>
          <a:xfrm>
            <a:off x="504020" y="3385924"/>
            <a:ext cx="4472100" cy="1212371"/>
          </a:xfrm>
          <a:prstGeom prst="rect">
            <a:avLst/>
          </a:prstGeom>
          <a:noFill/>
          <a:ln/>
        </p:spPr>
        <p:txBody>
          <a:bodyPr wrap="square" lIns="0" tIns="0" rIns="0" bIns="0" rtlCol="0" anchor="t">
            <a:normAutofit/>
          </a:bodyPr>
          <a:lstStyle/>
          <a:p>
            <a:pPr defTabSz="914378">
              <a:lnSpc>
                <a:spcPct val="133000"/>
              </a:lnSpc>
              <a:defRPr/>
            </a:pPr>
            <a:endParaRPr lang="en-US" sz="950" kern="0">
              <a:solidFill>
                <a:srgbClr val="002060"/>
              </a:solidFill>
              <a:latin typeface="Calibri" panose="020F0502020204030204"/>
            </a:endParaRPr>
          </a:p>
        </p:txBody>
      </p:sp>
      <p:sp>
        <p:nvSpPr>
          <p:cNvPr id="31" name="Text 3">
            <a:extLst>
              <a:ext uri="{FF2B5EF4-FFF2-40B4-BE49-F238E27FC236}">
                <a16:creationId xmlns:a16="http://schemas.microsoft.com/office/drawing/2014/main" id="{87AF670C-68CE-11B3-FE46-5277E63C30FB}"/>
              </a:ext>
            </a:extLst>
          </p:cNvPr>
          <p:cNvSpPr/>
          <p:nvPr/>
        </p:nvSpPr>
        <p:spPr>
          <a:xfrm>
            <a:off x="504020" y="3385924"/>
            <a:ext cx="4790356" cy="1274096"/>
          </a:xfrm>
          <a:prstGeom prst="rect">
            <a:avLst/>
          </a:prstGeom>
          <a:noFill/>
          <a:ln/>
        </p:spPr>
        <p:txBody>
          <a:bodyPr wrap="square" lIns="0" tIns="0" rIns="0" bIns="0" rtlCol="0" anchor="t">
            <a:normAutofit/>
          </a:bodyPr>
          <a:lstStyle/>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Backend jobs and validation executed manually.</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Average 250 </a:t>
            </a:r>
            <a:r>
              <a:rPr lang="en-US" sz="1050" kern="0" dirty="0" err="1">
                <a:latin typeface="Calibri" panose="020F0502020204030204" pitchFamily="34" charset="0"/>
                <a:ea typeface="Calibri" panose="020F0502020204030204" pitchFamily="34" charset="0"/>
                <a:cs typeface="Calibri" panose="020F0502020204030204" pitchFamily="34" charset="0"/>
              </a:rPr>
              <a:t>hrs</a:t>
            </a:r>
            <a:r>
              <a:rPr lang="en-US" sz="1050" kern="0" dirty="0">
                <a:latin typeface="Calibri" panose="020F0502020204030204" pitchFamily="34" charset="0"/>
                <a:ea typeface="Calibri" panose="020F0502020204030204" pitchFamily="34" charset="0"/>
                <a:cs typeface="Calibri" panose="020F0502020204030204" pitchFamily="34" charset="0"/>
              </a:rPr>
              <a:t> spent in a month to validate EIT Billing scenarios.</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Require understanding of all jobs to test.</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Manual report creation.</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No End-to-End Automation </a:t>
            </a:r>
          </a:p>
        </p:txBody>
      </p:sp>
      <p:pic>
        <p:nvPicPr>
          <p:cNvPr id="32" name="Picture 31" descr="A person sitting in a chair working on a computer&#10;&#10;AI-generated content may be incorrect.">
            <a:extLst>
              <a:ext uri="{FF2B5EF4-FFF2-40B4-BE49-F238E27FC236}">
                <a16:creationId xmlns:a16="http://schemas.microsoft.com/office/drawing/2014/main" id="{C4028C14-6CB3-0264-60AF-E479390F7649}"/>
              </a:ext>
            </a:extLst>
          </p:cNvPr>
          <p:cNvPicPr>
            <a:picLocks noChangeAspect="1"/>
          </p:cNvPicPr>
          <p:nvPr/>
        </p:nvPicPr>
        <p:blipFill>
          <a:blip r:embed="rId3"/>
          <a:stretch>
            <a:fillRect/>
          </a:stretch>
        </p:blipFill>
        <p:spPr>
          <a:xfrm>
            <a:off x="5643982" y="1476493"/>
            <a:ext cx="3354047" cy="2515536"/>
          </a:xfrm>
          <a:prstGeom prst="roundRect">
            <a:avLst>
              <a:gd name="adj" fmla="val 13586"/>
            </a:avLst>
          </a:prstGeom>
        </p:spPr>
      </p:pic>
      <p:sp>
        <p:nvSpPr>
          <p:cNvPr id="33" name="Rectangle: Rounded Corners 32">
            <a:extLst>
              <a:ext uri="{FF2B5EF4-FFF2-40B4-BE49-F238E27FC236}">
                <a16:creationId xmlns:a16="http://schemas.microsoft.com/office/drawing/2014/main" id="{D9992AD5-0DC6-DEC6-1527-3AA8E12F214C}"/>
              </a:ext>
            </a:extLst>
          </p:cNvPr>
          <p:cNvSpPr/>
          <p:nvPr/>
        </p:nvSpPr>
        <p:spPr>
          <a:xfrm>
            <a:off x="5643334" y="1475629"/>
            <a:ext cx="3354047" cy="2515536"/>
          </a:xfrm>
          <a:prstGeom prst="roundRect">
            <a:avLst>
              <a:gd name="adj" fmla="val 12638"/>
            </a:avLst>
          </a:prstGeom>
          <a:gradFill flip="none" rotWithShape="1">
            <a:gsLst>
              <a:gs pos="100000">
                <a:srgbClr val="E7FFFF"/>
              </a:gs>
              <a:gs pos="36000">
                <a:schemeClr val="bg2">
                  <a:shade val="98000"/>
                  <a:satMod val="120000"/>
                  <a:lumMod val="98000"/>
                  <a:alpha val="0"/>
                </a:schemeClr>
              </a:gs>
            </a:gsLst>
            <a:lin ang="108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13"/>
          </a:p>
        </p:txBody>
      </p:sp>
    </p:spTree>
    <p:extLst>
      <p:ext uri="{BB962C8B-B14F-4D97-AF65-F5344CB8AC3E}">
        <p14:creationId xmlns:p14="http://schemas.microsoft.com/office/powerpoint/2010/main" val="585347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3B81B-F0DF-4E4C-1F03-749327EB1088}"/>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FD72E116-D3A9-D8CA-9BE1-593EA0C1687A}"/>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29A16FB9-963B-4DBD-4505-AAFE2CC2624C}"/>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Proposed Solution</a:t>
            </a:r>
            <a:endParaRPr lang="en-SG" sz="1800" b="1" dirty="0">
              <a:solidFill>
                <a:srgbClr val="FFFFFF"/>
              </a:solidFill>
              <a:latin typeface="Calibri" pitchFamily="34" charset="0"/>
              <a:ea typeface="Calibri" pitchFamily="34" charset="-122"/>
              <a:cs typeface="Calibri" pitchFamily="34" charset="-120"/>
            </a:endParaRPr>
          </a:p>
        </p:txBody>
      </p:sp>
      <p:sp>
        <p:nvSpPr>
          <p:cNvPr id="2" name="TextBox 1">
            <a:extLst>
              <a:ext uri="{FF2B5EF4-FFF2-40B4-BE49-F238E27FC236}">
                <a16:creationId xmlns:a16="http://schemas.microsoft.com/office/drawing/2014/main" id="{F99F0540-7EDE-0DA5-0375-E047F7CFCE1A}"/>
              </a:ext>
            </a:extLst>
          </p:cNvPr>
          <p:cNvSpPr txBox="1"/>
          <p:nvPr/>
        </p:nvSpPr>
        <p:spPr>
          <a:xfrm>
            <a:off x="1239304" y="4473421"/>
            <a:ext cx="6464672" cy="338554"/>
          </a:xfrm>
          <a:prstGeom prst="rect">
            <a:avLst/>
          </a:prstGeom>
          <a:noFill/>
        </p:spPr>
        <p:txBody>
          <a:bodyPr wrap="square" anchor="ctr">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 Self-Service ✓ End-to-End Automation ✓ Automated Reporting</a:t>
            </a: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IN" sz="10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Rounded Corners 3">
            <a:extLst>
              <a:ext uri="{FF2B5EF4-FFF2-40B4-BE49-F238E27FC236}">
                <a16:creationId xmlns:a16="http://schemas.microsoft.com/office/drawing/2014/main" id="{1D4B4D17-A1CA-83B5-B966-63D4655D8C57}"/>
              </a:ext>
            </a:extLst>
          </p:cNvPr>
          <p:cNvSpPr/>
          <p:nvPr/>
        </p:nvSpPr>
        <p:spPr>
          <a:xfrm>
            <a:off x="4757738" y="1028954"/>
            <a:ext cx="4050000" cy="3240000"/>
          </a:xfrm>
          <a:prstGeom prst="roundRect">
            <a:avLst>
              <a:gd name="adj" fmla="val 189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0" scaled="1"/>
            <a:tileRect/>
          </a:gra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050" b="1">
                <a:solidFill>
                  <a:schemeClr val="tx1"/>
                </a:solidFill>
                <a:latin typeface="Calibri" panose="020F0502020204030204" pitchFamily="34" charset="0"/>
                <a:ea typeface="Calibri" panose="020F0502020204030204" pitchFamily="34" charset="0"/>
                <a:cs typeface="Calibri" panose="020F0502020204030204" pitchFamily="34" charset="0"/>
              </a:rPr>
              <a:t>Backend Flow Orchestration Tool</a:t>
            </a:r>
          </a:p>
        </p:txBody>
      </p:sp>
      <p:sp>
        <p:nvSpPr>
          <p:cNvPr id="5" name="Rectangle: Rounded Corners 4">
            <a:extLst>
              <a:ext uri="{FF2B5EF4-FFF2-40B4-BE49-F238E27FC236}">
                <a16:creationId xmlns:a16="http://schemas.microsoft.com/office/drawing/2014/main" id="{678E55D8-34B9-F9BF-B8F7-B8D12BC2CC10}"/>
              </a:ext>
            </a:extLst>
          </p:cNvPr>
          <p:cNvSpPr/>
          <p:nvPr/>
        </p:nvSpPr>
        <p:spPr>
          <a:xfrm>
            <a:off x="336262" y="1028954"/>
            <a:ext cx="4050000" cy="3240000"/>
          </a:xfrm>
          <a:prstGeom prst="roundRect">
            <a:avLst>
              <a:gd name="adj" fmla="val 1897"/>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0800000" scaled="1"/>
            <a:tileRect/>
          </a:gra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050" b="1">
                <a:solidFill>
                  <a:schemeClr val="tx1"/>
                </a:solidFill>
                <a:latin typeface="Calibri" panose="020F0502020204030204" pitchFamily="34" charset="0"/>
                <a:ea typeface="Calibri" panose="020F0502020204030204" pitchFamily="34" charset="0"/>
                <a:cs typeface="Calibri" panose="020F0502020204030204" pitchFamily="34" charset="0"/>
              </a:rPr>
              <a:t>Bulk Data Creation Platform </a:t>
            </a:r>
          </a:p>
        </p:txBody>
      </p:sp>
      <p:sp>
        <p:nvSpPr>
          <p:cNvPr id="6" name="Rectangle: Rounded Corners 5">
            <a:extLst>
              <a:ext uri="{FF2B5EF4-FFF2-40B4-BE49-F238E27FC236}">
                <a16:creationId xmlns:a16="http://schemas.microsoft.com/office/drawing/2014/main" id="{740D2FCA-6989-9E1C-6E7C-92C2D008E9F6}"/>
              </a:ext>
            </a:extLst>
          </p:cNvPr>
          <p:cNvSpPr/>
          <p:nvPr/>
        </p:nvSpPr>
        <p:spPr>
          <a:xfrm rot="18900000">
            <a:off x="4350544" y="2427498"/>
            <a:ext cx="442913" cy="4429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13">
              <a:latin typeface="Calibri" panose="020F0502020204030204" pitchFamily="34" charset="0"/>
              <a:ea typeface="Calibri" panose="020F0502020204030204" pitchFamily="34" charset="0"/>
              <a:cs typeface="Calibri" panose="020F0502020204030204" pitchFamily="34" charset="0"/>
            </a:endParaRPr>
          </a:p>
        </p:txBody>
      </p:sp>
      <p:sp>
        <p:nvSpPr>
          <p:cNvPr id="7" name="Rectangle: Rounded Corners 6">
            <a:extLst>
              <a:ext uri="{FF2B5EF4-FFF2-40B4-BE49-F238E27FC236}">
                <a16:creationId xmlns:a16="http://schemas.microsoft.com/office/drawing/2014/main" id="{CECC3CE9-2AD5-4569-DFA0-560E9057AC45}"/>
              </a:ext>
            </a:extLst>
          </p:cNvPr>
          <p:cNvSpPr/>
          <p:nvPr/>
        </p:nvSpPr>
        <p:spPr>
          <a:xfrm>
            <a:off x="627500" y="1338392"/>
            <a:ext cx="3382566" cy="1828801"/>
          </a:xfrm>
          <a:prstGeom prst="roundRect">
            <a:avLst>
              <a:gd name="adj" fmla="val 2794"/>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IN" sz="9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C22D737E-03A1-0277-1279-30E5A99569D2}"/>
              </a:ext>
            </a:extLst>
          </p:cNvPr>
          <p:cNvSpPr/>
          <p:nvPr/>
        </p:nvSpPr>
        <p:spPr>
          <a:xfrm>
            <a:off x="1822200" y="1571412"/>
            <a:ext cx="971550" cy="48577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13">
              <a:latin typeface="Calibri" panose="020F0502020204030204" pitchFamily="34" charset="0"/>
              <a:ea typeface="Calibri" panose="020F0502020204030204" pitchFamily="34" charset="0"/>
              <a:cs typeface="Calibri" panose="020F0502020204030204" pitchFamily="34" charset="0"/>
            </a:endParaRPr>
          </a:p>
        </p:txBody>
      </p:sp>
      <p:sp>
        <p:nvSpPr>
          <p:cNvPr id="9" name="Flowchart: Internal Storage 8">
            <a:extLst>
              <a:ext uri="{FF2B5EF4-FFF2-40B4-BE49-F238E27FC236}">
                <a16:creationId xmlns:a16="http://schemas.microsoft.com/office/drawing/2014/main" id="{5E68EC68-D4D3-8900-4A45-046D8B028C9B}"/>
              </a:ext>
            </a:extLst>
          </p:cNvPr>
          <p:cNvSpPr/>
          <p:nvPr/>
        </p:nvSpPr>
        <p:spPr>
          <a:xfrm>
            <a:off x="1878549" y="1610703"/>
            <a:ext cx="828675" cy="407194"/>
          </a:xfrm>
          <a:prstGeom prst="flowChartInternalStorag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User Interface</a:t>
            </a:r>
          </a:p>
        </p:txBody>
      </p:sp>
      <p:sp>
        <p:nvSpPr>
          <p:cNvPr id="10" name="Rectangle: Rounded Corners 9">
            <a:extLst>
              <a:ext uri="{FF2B5EF4-FFF2-40B4-BE49-F238E27FC236}">
                <a16:creationId xmlns:a16="http://schemas.microsoft.com/office/drawing/2014/main" id="{A1CDE6BF-C665-36C7-7EF4-83D59B19BAC1}"/>
              </a:ext>
            </a:extLst>
          </p:cNvPr>
          <p:cNvSpPr/>
          <p:nvPr/>
        </p:nvSpPr>
        <p:spPr>
          <a:xfrm>
            <a:off x="1007904" y="3678515"/>
            <a:ext cx="971550" cy="48577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dirty="0">
                <a:solidFill>
                  <a:schemeClr val="tx1"/>
                </a:solidFill>
                <a:latin typeface="Calibri" panose="020F0502020204030204" pitchFamily="34" charset="0"/>
                <a:ea typeface="Calibri" panose="020F0502020204030204" pitchFamily="34" charset="0"/>
                <a:cs typeface="Calibri" panose="020F0502020204030204" pitchFamily="34" charset="0"/>
              </a:rPr>
              <a:t>ECOM API PT Suite</a:t>
            </a:r>
          </a:p>
        </p:txBody>
      </p:sp>
      <p:sp>
        <p:nvSpPr>
          <p:cNvPr id="11" name="Rectangle: Diagonal Corners Rounded 10">
            <a:extLst>
              <a:ext uri="{FF2B5EF4-FFF2-40B4-BE49-F238E27FC236}">
                <a16:creationId xmlns:a16="http://schemas.microsoft.com/office/drawing/2014/main" id="{B1A68F79-4471-6F31-47B1-2CEF8A237781}"/>
              </a:ext>
            </a:extLst>
          </p:cNvPr>
          <p:cNvSpPr/>
          <p:nvPr/>
        </p:nvSpPr>
        <p:spPr>
          <a:xfrm>
            <a:off x="766802" y="2649144"/>
            <a:ext cx="945000" cy="405000"/>
          </a:xfrm>
          <a:prstGeom prst="round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API Handler</a:t>
            </a:r>
          </a:p>
        </p:txBody>
      </p:sp>
      <p:sp>
        <p:nvSpPr>
          <p:cNvPr id="12" name="Rectangle: Rounded Corners 11">
            <a:extLst>
              <a:ext uri="{FF2B5EF4-FFF2-40B4-BE49-F238E27FC236}">
                <a16:creationId xmlns:a16="http://schemas.microsoft.com/office/drawing/2014/main" id="{6622D5D9-D998-82FE-616E-24370C864CE7}"/>
              </a:ext>
            </a:extLst>
          </p:cNvPr>
          <p:cNvSpPr/>
          <p:nvPr/>
        </p:nvSpPr>
        <p:spPr>
          <a:xfrm>
            <a:off x="2654033" y="3678515"/>
            <a:ext cx="971550" cy="48577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a:solidFill>
                  <a:schemeClr val="tx1"/>
                </a:solidFill>
                <a:latin typeface="Calibri" panose="020F0502020204030204" pitchFamily="34" charset="0"/>
                <a:ea typeface="Calibri" panose="020F0502020204030204" pitchFamily="34" charset="0"/>
                <a:cs typeface="Calibri" panose="020F0502020204030204" pitchFamily="34" charset="0"/>
              </a:rPr>
              <a:t>ECOM UI Automation Suite</a:t>
            </a:r>
          </a:p>
        </p:txBody>
      </p:sp>
      <p:sp>
        <p:nvSpPr>
          <p:cNvPr id="13" name="Rectangle: Diagonal Corners Rounded 12">
            <a:extLst>
              <a:ext uri="{FF2B5EF4-FFF2-40B4-BE49-F238E27FC236}">
                <a16:creationId xmlns:a16="http://schemas.microsoft.com/office/drawing/2014/main" id="{96AB6A76-0A06-FF80-D6F2-24DFD558BA04}"/>
              </a:ext>
            </a:extLst>
          </p:cNvPr>
          <p:cNvSpPr/>
          <p:nvPr/>
        </p:nvSpPr>
        <p:spPr>
          <a:xfrm>
            <a:off x="2934326" y="2649144"/>
            <a:ext cx="945000" cy="405000"/>
          </a:xfrm>
          <a:prstGeom prst="round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a:solidFill>
                  <a:schemeClr val="tx1"/>
                </a:solidFill>
                <a:latin typeface="Calibri" panose="020F0502020204030204" pitchFamily="34" charset="0"/>
                <a:ea typeface="Calibri" panose="020F0502020204030204" pitchFamily="34" charset="0"/>
                <a:cs typeface="Calibri" panose="020F0502020204030204" pitchFamily="34" charset="0"/>
              </a:rPr>
              <a:t>Automation Handler</a:t>
            </a:r>
          </a:p>
        </p:txBody>
      </p:sp>
      <p:sp>
        <p:nvSpPr>
          <p:cNvPr id="14" name="Rectangle: Diagonal Corners Rounded 13">
            <a:extLst>
              <a:ext uri="{FF2B5EF4-FFF2-40B4-BE49-F238E27FC236}">
                <a16:creationId xmlns:a16="http://schemas.microsoft.com/office/drawing/2014/main" id="{EF00F949-0B04-6BA6-2340-64ADDEB0D49D}"/>
              </a:ext>
            </a:extLst>
          </p:cNvPr>
          <p:cNvSpPr/>
          <p:nvPr/>
        </p:nvSpPr>
        <p:spPr>
          <a:xfrm>
            <a:off x="1844243" y="2658848"/>
            <a:ext cx="945000" cy="405000"/>
          </a:xfrm>
          <a:prstGeom prst="round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Usage File Generator</a:t>
            </a:r>
          </a:p>
        </p:txBody>
      </p:sp>
      <p:sp>
        <p:nvSpPr>
          <p:cNvPr id="15" name="Rectangle: Rounded Corners 14">
            <a:extLst>
              <a:ext uri="{FF2B5EF4-FFF2-40B4-BE49-F238E27FC236}">
                <a16:creationId xmlns:a16="http://schemas.microsoft.com/office/drawing/2014/main" id="{6A74131D-2595-66DA-93D1-E69944CB3099}"/>
              </a:ext>
            </a:extLst>
          </p:cNvPr>
          <p:cNvSpPr/>
          <p:nvPr/>
        </p:nvSpPr>
        <p:spPr>
          <a:xfrm>
            <a:off x="1417685" y="2255026"/>
            <a:ext cx="1780580" cy="15455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
                <a:solidFill>
                  <a:schemeClr val="tx1"/>
                </a:solidFill>
                <a:latin typeface="Calibri" panose="020F0502020204030204" pitchFamily="34" charset="0"/>
                <a:ea typeface="Calibri" panose="020F0502020204030204" pitchFamily="34" charset="0"/>
                <a:cs typeface="Calibri" panose="020F0502020204030204" pitchFamily="34" charset="0"/>
              </a:rPr>
              <a:t>Integration layer</a:t>
            </a:r>
          </a:p>
        </p:txBody>
      </p:sp>
      <p:cxnSp>
        <p:nvCxnSpPr>
          <p:cNvPr id="16" name="Connector: Elbow 15">
            <a:extLst>
              <a:ext uri="{FF2B5EF4-FFF2-40B4-BE49-F238E27FC236}">
                <a16:creationId xmlns:a16="http://schemas.microsoft.com/office/drawing/2014/main" id="{A07E915E-19A2-2A84-DDB9-70F9B83394AF}"/>
              </a:ext>
            </a:extLst>
          </p:cNvPr>
          <p:cNvCxnSpPr>
            <a:cxnSpLocks/>
            <a:stCxn id="13" idx="3"/>
            <a:endCxn id="15" idx="3"/>
          </p:cNvCxnSpPr>
          <p:nvPr/>
        </p:nvCxnSpPr>
        <p:spPr>
          <a:xfrm rot="16200000" flipV="1">
            <a:off x="3144127" y="2386445"/>
            <a:ext cx="316838" cy="208561"/>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FFC15E0-D42A-05B5-4880-BCE00BA5C3B4}"/>
              </a:ext>
            </a:extLst>
          </p:cNvPr>
          <p:cNvCxnSpPr>
            <a:stCxn id="11" idx="3"/>
            <a:endCxn id="15" idx="1"/>
          </p:cNvCxnSpPr>
          <p:nvPr/>
        </p:nvCxnSpPr>
        <p:spPr>
          <a:xfrm rot="5400000" flipH="1" flipV="1">
            <a:off x="1170076" y="2401534"/>
            <a:ext cx="316838" cy="178383"/>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30D29D3F-55C4-852C-CC43-DB4288292474}"/>
              </a:ext>
            </a:extLst>
          </p:cNvPr>
          <p:cNvCxnSpPr>
            <a:stCxn id="11" idx="1"/>
            <a:endCxn id="10" idx="0"/>
          </p:cNvCxnSpPr>
          <p:nvPr/>
        </p:nvCxnSpPr>
        <p:spPr>
          <a:xfrm rot="16200000" flipH="1">
            <a:off x="1054306" y="3239141"/>
            <a:ext cx="624371" cy="254377"/>
          </a:xfrm>
          <a:prstGeom prst="bentConnector3">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5B3DA24C-16AD-FC0C-BF4A-F721A8AFA061}"/>
              </a:ext>
            </a:extLst>
          </p:cNvPr>
          <p:cNvCxnSpPr>
            <a:stCxn id="13" idx="1"/>
            <a:endCxn id="12" idx="0"/>
          </p:cNvCxnSpPr>
          <p:nvPr/>
        </p:nvCxnSpPr>
        <p:spPr>
          <a:xfrm rot="5400000">
            <a:off x="2961132" y="3232820"/>
            <a:ext cx="624371" cy="267018"/>
          </a:xfrm>
          <a:prstGeom prst="bentConnector3">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C12868D-0B2D-EAC8-E705-3077B61D914D}"/>
              </a:ext>
            </a:extLst>
          </p:cNvPr>
          <p:cNvCxnSpPr>
            <a:stCxn id="8" idx="2"/>
            <a:endCxn id="15" idx="0"/>
          </p:cNvCxnSpPr>
          <p:nvPr/>
        </p:nvCxnSpPr>
        <p:spPr>
          <a:xfrm>
            <a:off x="2307975" y="2057187"/>
            <a:ext cx="0" cy="19784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E050F1B-56C1-85E0-64A0-B7C7ACB9719B}"/>
              </a:ext>
            </a:extLst>
          </p:cNvPr>
          <p:cNvCxnSpPr>
            <a:stCxn id="15" idx="2"/>
            <a:endCxn id="14" idx="3"/>
          </p:cNvCxnSpPr>
          <p:nvPr/>
        </p:nvCxnSpPr>
        <p:spPr>
          <a:xfrm>
            <a:off x="2307976" y="2409585"/>
            <a:ext cx="8768" cy="249263"/>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A7ECD762-BBC9-B7A8-15C5-90E402CE160F}"/>
              </a:ext>
            </a:extLst>
          </p:cNvPr>
          <p:cNvSpPr/>
          <p:nvPr/>
        </p:nvSpPr>
        <p:spPr>
          <a:xfrm>
            <a:off x="5062342" y="1350046"/>
            <a:ext cx="971550" cy="48577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13">
              <a:latin typeface="Calibri" panose="020F0502020204030204" pitchFamily="34" charset="0"/>
              <a:ea typeface="Calibri" panose="020F0502020204030204" pitchFamily="34" charset="0"/>
              <a:cs typeface="Calibri" panose="020F0502020204030204" pitchFamily="34" charset="0"/>
            </a:endParaRPr>
          </a:p>
        </p:txBody>
      </p:sp>
      <p:sp>
        <p:nvSpPr>
          <p:cNvPr id="36" name="Flowchart: Internal Storage 35">
            <a:extLst>
              <a:ext uri="{FF2B5EF4-FFF2-40B4-BE49-F238E27FC236}">
                <a16:creationId xmlns:a16="http://schemas.microsoft.com/office/drawing/2014/main" id="{43159A2F-03DE-14EE-B758-934D207119D1}"/>
              </a:ext>
            </a:extLst>
          </p:cNvPr>
          <p:cNvSpPr/>
          <p:nvPr/>
        </p:nvSpPr>
        <p:spPr>
          <a:xfrm>
            <a:off x="5118691" y="1389336"/>
            <a:ext cx="828675" cy="407194"/>
          </a:xfrm>
          <a:prstGeom prst="flowChartInternalStorag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a:solidFill>
                  <a:schemeClr val="tx1"/>
                </a:solidFill>
                <a:latin typeface="Calibri" panose="020F0502020204030204" pitchFamily="34" charset="0"/>
                <a:ea typeface="Calibri" panose="020F0502020204030204" pitchFamily="34" charset="0"/>
                <a:cs typeface="Calibri" panose="020F0502020204030204" pitchFamily="34" charset="0"/>
              </a:rPr>
              <a:t>console</a:t>
            </a:r>
          </a:p>
        </p:txBody>
      </p:sp>
      <p:sp>
        <p:nvSpPr>
          <p:cNvPr id="37" name="Rectangle: Rounded Corners 36">
            <a:extLst>
              <a:ext uri="{FF2B5EF4-FFF2-40B4-BE49-F238E27FC236}">
                <a16:creationId xmlns:a16="http://schemas.microsoft.com/office/drawing/2014/main" id="{EDB0107C-27C5-CE6A-528C-C28771EEB662}"/>
              </a:ext>
            </a:extLst>
          </p:cNvPr>
          <p:cNvSpPr/>
          <p:nvPr/>
        </p:nvSpPr>
        <p:spPr>
          <a:xfrm>
            <a:off x="5118691" y="3628771"/>
            <a:ext cx="971550" cy="48577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a:solidFill>
                  <a:schemeClr val="tx1"/>
                </a:solidFill>
                <a:latin typeface="Calibri" panose="020F0502020204030204" pitchFamily="34" charset="0"/>
                <a:ea typeface="Calibri" panose="020F0502020204030204" pitchFamily="34" charset="0"/>
                <a:cs typeface="Calibri" panose="020F0502020204030204" pitchFamily="34" charset="0"/>
              </a:rPr>
              <a:t>Reporting</a:t>
            </a:r>
          </a:p>
        </p:txBody>
      </p:sp>
      <p:sp>
        <p:nvSpPr>
          <p:cNvPr id="38" name="Rectangle: Rounded Corners 37">
            <a:extLst>
              <a:ext uri="{FF2B5EF4-FFF2-40B4-BE49-F238E27FC236}">
                <a16:creationId xmlns:a16="http://schemas.microsoft.com/office/drawing/2014/main" id="{3F489BC9-68A6-1E75-8468-112265D3705B}"/>
              </a:ext>
            </a:extLst>
          </p:cNvPr>
          <p:cNvSpPr/>
          <p:nvPr/>
        </p:nvSpPr>
        <p:spPr>
          <a:xfrm rot="18900000">
            <a:off x="5199467" y="2201850"/>
            <a:ext cx="810000" cy="810000"/>
          </a:xfrm>
          <a:prstGeom prst="roundRect">
            <a:avLst/>
          </a:prstGeom>
          <a:gradFill flip="none" rotWithShape="1">
            <a:gsLst>
              <a:gs pos="2000">
                <a:schemeClr val="accent1">
                  <a:lumMod val="5000"/>
                  <a:lumOff val="95000"/>
                </a:schemeClr>
              </a:gs>
              <a:gs pos="60000">
                <a:schemeClr val="accent1">
                  <a:lumMod val="30000"/>
                  <a:lumOff val="7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13">
              <a:latin typeface="Calibri" panose="020F0502020204030204" pitchFamily="34" charset="0"/>
              <a:ea typeface="Calibri" panose="020F0502020204030204" pitchFamily="34" charset="0"/>
              <a:cs typeface="Calibri" panose="020F0502020204030204" pitchFamily="34" charset="0"/>
            </a:endParaRPr>
          </a:p>
        </p:txBody>
      </p:sp>
      <p:sp>
        <p:nvSpPr>
          <p:cNvPr id="39" name="Rectangle: Rounded Corners 38">
            <a:extLst>
              <a:ext uri="{FF2B5EF4-FFF2-40B4-BE49-F238E27FC236}">
                <a16:creationId xmlns:a16="http://schemas.microsoft.com/office/drawing/2014/main" id="{4F5D264A-C8D0-5FEC-4DFD-A1A28DF66C42}"/>
              </a:ext>
            </a:extLst>
          </p:cNvPr>
          <p:cNvSpPr/>
          <p:nvPr/>
        </p:nvSpPr>
        <p:spPr>
          <a:xfrm>
            <a:off x="5221135" y="2415430"/>
            <a:ext cx="766664" cy="38284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a:solidFill>
                  <a:schemeClr val="tx1"/>
                </a:solidFill>
                <a:latin typeface="Calibri" panose="020F0502020204030204" pitchFamily="34" charset="0"/>
                <a:ea typeface="Calibri" panose="020F0502020204030204" pitchFamily="34" charset="0"/>
                <a:cs typeface="Calibri" panose="020F0502020204030204" pitchFamily="34" charset="0"/>
              </a:rPr>
              <a:t>Shell Scripts</a:t>
            </a:r>
          </a:p>
        </p:txBody>
      </p:sp>
      <p:sp>
        <p:nvSpPr>
          <p:cNvPr id="40" name="Flowchart: Magnetic Disk 39">
            <a:extLst>
              <a:ext uri="{FF2B5EF4-FFF2-40B4-BE49-F238E27FC236}">
                <a16:creationId xmlns:a16="http://schemas.microsoft.com/office/drawing/2014/main" id="{EB98D160-627F-454D-BF6B-5CFCE51B72E4}"/>
              </a:ext>
            </a:extLst>
          </p:cNvPr>
          <p:cNvSpPr/>
          <p:nvPr/>
        </p:nvSpPr>
        <p:spPr>
          <a:xfrm>
            <a:off x="7360944" y="2278794"/>
            <a:ext cx="699122" cy="656111"/>
          </a:xfrm>
          <a:prstGeom prst="flowChartMagneticDisk">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a:solidFill>
                  <a:schemeClr val="tx1"/>
                </a:solidFill>
                <a:latin typeface="Calibri" panose="020F0502020204030204" pitchFamily="34" charset="0"/>
                <a:ea typeface="Calibri" panose="020F0502020204030204" pitchFamily="34" charset="0"/>
                <a:cs typeface="Calibri" panose="020F0502020204030204" pitchFamily="34" charset="0"/>
              </a:rPr>
              <a:t>Database</a:t>
            </a:r>
          </a:p>
        </p:txBody>
      </p:sp>
      <p:sp>
        <p:nvSpPr>
          <p:cNvPr id="41" name="Flowchart: Multidocument 40">
            <a:extLst>
              <a:ext uri="{FF2B5EF4-FFF2-40B4-BE49-F238E27FC236}">
                <a16:creationId xmlns:a16="http://schemas.microsoft.com/office/drawing/2014/main" id="{805F5150-0924-F950-9A1A-879BEE4658CA}"/>
              </a:ext>
            </a:extLst>
          </p:cNvPr>
          <p:cNvSpPr/>
          <p:nvPr/>
        </p:nvSpPr>
        <p:spPr>
          <a:xfrm>
            <a:off x="7463226" y="1386462"/>
            <a:ext cx="925184" cy="656111"/>
          </a:xfrm>
          <a:prstGeom prst="flowChartMultidocumen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a:solidFill>
                  <a:schemeClr val="tx1"/>
                </a:solidFill>
                <a:latin typeface="Calibri" panose="020F0502020204030204" pitchFamily="34" charset="0"/>
                <a:ea typeface="Calibri" panose="020F0502020204030204" pitchFamily="34" charset="0"/>
                <a:cs typeface="Calibri" panose="020F0502020204030204" pitchFamily="34" charset="0"/>
              </a:rPr>
              <a:t>Input data Ingestion</a:t>
            </a:r>
          </a:p>
        </p:txBody>
      </p:sp>
      <p:sp>
        <p:nvSpPr>
          <p:cNvPr id="42" name="Flowchart: Predefined Process 41">
            <a:extLst>
              <a:ext uri="{FF2B5EF4-FFF2-40B4-BE49-F238E27FC236}">
                <a16:creationId xmlns:a16="http://schemas.microsoft.com/office/drawing/2014/main" id="{FF913508-2539-BBC9-13B4-D0EA3E53769E}"/>
              </a:ext>
            </a:extLst>
          </p:cNvPr>
          <p:cNvSpPr/>
          <p:nvPr/>
        </p:nvSpPr>
        <p:spPr>
          <a:xfrm>
            <a:off x="6811272" y="3458435"/>
            <a:ext cx="1785406" cy="656111"/>
          </a:xfrm>
          <a:prstGeom prst="flowChartPredefinedProcess">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b="1" dirty="0">
                <a:solidFill>
                  <a:schemeClr val="tx1"/>
                </a:solidFill>
                <a:latin typeface="Calibri" panose="020F0502020204030204" pitchFamily="34" charset="0"/>
                <a:ea typeface="Calibri" panose="020F0502020204030204" pitchFamily="34" charset="0"/>
                <a:cs typeface="Calibri" panose="020F0502020204030204" pitchFamily="34" charset="0"/>
              </a:rPr>
              <a:t>Backend Jobs</a:t>
            </a:r>
          </a:p>
          <a:p>
            <a:pPr algn="ctr"/>
            <a:r>
              <a:rPr lang="en-IN" sz="900" b="1" dirty="0">
                <a:solidFill>
                  <a:schemeClr val="tx1"/>
                </a:solidFill>
                <a:latin typeface="Calibri" panose="020F0502020204030204" pitchFamily="34" charset="0"/>
                <a:ea typeface="Calibri" panose="020F0502020204030204" pitchFamily="34" charset="0"/>
                <a:cs typeface="Calibri" panose="020F0502020204030204" pitchFamily="34" charset="0"/>
              </a:rPr>
              <a:t>[ECOM, Kenan, AMDD]</a:t>
            </a:r>
          </a:p>
        </p:txBody>
      </p:sp>
      <p:cxnSp>
        <p:nvCxnSpPr>
          <p:cNvPr id="43" name="Connector: Elbow 42">
            <a:extLst>
              <a:ext uri="{FF2B5EF4-FFF2-40B4-BE49-F238E27FC236}">
                <a16:creationId xmlns:a16="http://schemas.microsoft.com/office/drawing/2014/main" id="{A5BCB37B-5D67-CDBF-087B-117881BB40BE}"/>
              </a:ext>
            </a:extLst>
          </p:cNvPr>
          <p:cNvCxnSpPr>
            <a:stCxn id="35" idx="2"/>
            <a:endCxn id="38" idx="0"/>
          </p:cNvCxnSpPr>
          <p:nvPr/>
        </p:nvCxnSpPr>
        <p:spPr>
          <a:xfrm rot="5400000">
            <a:off x="5190778" y="1963132"/>
            <a:ext cx="484651" cy="230029"/>
          </a:xfrm>
          <a:prstGeom prst="bentConnector3">
            <a:avLst>
              <a:gd name="adj1" fmla="val 29989"/>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7A1EEB3F-26F7-1506-B1A1-C71CEA45407A}"/>
              </a:ext>
            </a:extLst>
          </p:cNvPr>
          <p:cNvCxnSpPr>
            <a:stCxn id="38" idx="1"/>
            <a:endCxn id="37" idx="0"/>
          </p:cNvCxnSpPr>
          <p:nvPr/>
        </p:nvCxnSpPr>
        <p:spPr>
          <a:xfrm rot="10800000" flipH="1" flipV="1">
            <a:off x="5318088" y="2893228"/>
            <a:ext cx="286378" cy="735542"/>
          </a:xfrm>
          <a:prstGeom prst="bentConnector4">
            <a:avLst>
              <a:gd name="adj1" fmla="val -59868"/>
              <a:gd name="adj2" fmla="val 58063"/>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483369EB-939C-71F2-31B9-FADC9639900F}"/>
              </a:ext>
            </a:extLst>
          </p:cNvPr>
          <p:cNvCxnSpPr>
            <a:cxnSpLocks/>
            <a:stCxn id="38" idx="3"/>
            <a:endCxn id="41" idx="1"/>
          </p:cNvCxnSpPr>
          <p:nvPr/>
        </p:nvCxnSpPr>
        <p:spPr>
          <a:xfrm flipV="1">
            <a:off x="5890845" y="1714518"/>
            <a:ext cx="1572381" cy="605954"/>
          </a:xfrm>
          <a:prstGeom prst="bentConnector3">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31ABA106-6EC5-6470-BC54-9898F82CB4C3}"/>
              </a:ext>
            </a:extLst>
          </p:cNvPr>
          <p:cNvCxnSpPr>
            <a:cxnSpLocks/>
            <a:stCxn id="38" idx="2"/>
            <a:endCxn id="42" idx="0"/>
          </p:cNvCxnSpPr>
          <p:nvPr/>
        </p:nvCxnSpPr>
        <p:spPr>
          <a:xfrm rot="16200000" flipH="1">
            <a:off x="6514807" y="2269267"/>
            <a:ext cx="565206" cy="1813130"/>
          </a:xfrm>
          <a:prstGeom prst="bentConnector3">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630ABB6D-D171-32D6-2898-27849B287ECA}"/>
              </a:ext>
            </a:extLst>
          </p:cNvPr>
          <p:cNvCxnSpPr>
            <a:cxnSpLocks/>
            <a:stCxn id="38" idx="2"/>
            <a:endCxn id="40" idx="2"/>
          </p:cNvCxnSpPr>
          <p:nvPr/>
        </p:nvCxnSpPr>
        <p:spPr>
          <a:xfrm rot="5400000" flipH="1" flipV="1">
            <a:off x="6482705" y="2014990"/>
            <a:ext cx="286379" cy="1470099"/>
          </a:xfrm>
          <a:prstGeom prst="bentConnector4">
            <a:avLst>
              <a:gd name="adj1" fmla="val -1129"/>
              <a:gd name="adj2" fmla="val 54034"/>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387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01504-9DA6-B530-830B-AFB19811C576}"/>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D198E29C-DBF9-6D40-489A-715A777F83C4}"/>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7367CF8C-ACD3-3A86-D1AE-EF569CCC61E4}"/>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Projected Benefits</a:t>
            </a:r>
            <a:endParaRPr lang="en-SG" sz="1800" b="1" dirty="0">
              <a:solidFill>
                <a:srgbClr val="FFFFFF"/>
              </a:solidFill>
              <a:latin typeface="Calibri" pitchFamily="34" charset="0"/>
              <a:ea typeface="Calibri" pitchFamily="34" charset="-122"/>
              <a:cs typeface="Calibri" pitchFamily="34" charset="-120"/>
            </a:endParaRPr>
          </a:p>
        </p:txBody>
      </p:sp>
      <p:graphicFrame>
        <p:nvGraphicFramePr>
          <p:cNvPr id="16" name="Table 15">
            <a:extLst>
              <a:ext uri="{FF2B5EF4-FFF2-40B4-BE49-F238E27FC236}">
                <a16:creationId xmlns:a16="http://schemas.microsoft.com/office/drawing/2014/main" id="{C0A97D68-8937-03A0-33D5-93E59A446118}"/>
              </a:ext>
            </a:extLst>
          </p:cNvPr>
          <p:cNvGraphicFramePr>
            <a:graphicFrameLocks noGrp="1"/>
          </p:cNvGraphicFramePr>
          <p:nvPr>
            <p:extLst>
              <p:ext uri="{D42A27DB-BD31-4B8C-83A1-F6EECF244321}">
                <p14:modId xmlns:p14="http://schemas.microsoft.com/office/powerpoint/2010/main" val="2138371550"/>
              </p:ext>
            </p:extLst>
          </p:nvPr>
        </p:nvGraphicFramePr>
        <p:xfrm>
          <a:off x="574564" y="1061499"/>
          <a:ext cx="5227304" cy="1337138"/>
        </p:xfrm>
        <a:graphic>
          <a:graphicData uri="http://schemas.openxmlformats.org/drawingml/2006/table">
            <a:tbl>
              <a:tblPr>
                <a:tableStyleId>{5C22544A-7EE6-4342-B048-85BDC9FD1C3A}</a:tableStyleId>
              </a:tblPr>
              <a:tblGrid>
                <a:gridCol w="1933801">
                  <a:extLst>
                    <a:ext uri="{9D8B030D-6E8A-4147-A177-3AD203B41FA5}">
                      <a16:colId xmlns:a16="http://schemas.microsoft.com/office/drawing/2014/main" val="3803518542"/>
                    </a:ext>
                  </a:extLst>
                </a:gridCol>
                <a:gridCol w="1420134">
                  <a:extLst>
                    <a:ext uri="{9D8B030D-6E8A-4147-A177-3AD203B41FA5}">
                      <a16:colId xmlns:a16="http://schemas.microsoft.com/office/drawing/2014/main" val="1543964045"/>
                    </a:ext>
                  </a:extLst>
                </a:gridCol>
                <a:gridCol w="1873369">
                  <a:extLst>
                    <a:ext uri="{9D8B030D-6E8A-4147-A177-3AD203B41FA5}">
                      <a16:colId xmlns:a16="http://schemas.microsoft.com/office/drawing/2014/main" val="342893231"/>
                    </a:ext>
                  </a:extLst>
                </a:gridCol>
              </a:tblGrid>
              <a:tr h="196795">
                <a:tc>
                  <a:txBody>
                    <a:bodyPr/>
                    <a:lstStyle/>
                    <a:p>
                      <a:pPr algn="ctr" fontAlgn="b"/>
                      <a:r>
                        <a:rPr lang="en-IN" sz="11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Metric</a:t>
                      </a:r>
                      <a:endParaRPr lang="en-IN" sz="11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
                      <a:r>
                        <a:rPr lang="en-IN" sz="11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Current Process</a:t>
                      </a:r>
                      <a:endParaRPr lang="en-IN" sz="11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
                      <a:r>
                        <a:rPr lang="en-IN" sz="11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Tool-Driven Process</a:t>
                      </a:r>
                      <a:endParaRPr lang="en-IN" sz="11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165210419"/>
                  </a:ext>
                </a:extLst>
              </a:tr>
              <a:tr h="196795">
                <a:tc>
                  <a:txBody>
                    <a:bodyPr/>
                    <a:lstStyle/>
                    <a:p>
                      <a:pPr algn="ctr" fontAlgn="b"/>
                      <a:r>
                        <a:rPr lang="en-IN" sz="1100" b="1" u="none" strike="noStrike">
                          <a:effectLst/>
                          <a:latin typeface="Calibri" panose="020F0502020204030204" pitchFamily="34" charset="0"/>
                          <a:ea typeface="Calibri" panose="020F0502020204030204" pitchFamily="34" charset="0"/>
                          <a:cs typeface="Calibri" panose="020F0502020204030204" pitchFamily="34" charset="0"/>
                        </a:rPr>
                        <a:t>Bulk Data creation</a:t>
                      </a:r>
                      <a:endParaRPr lang="en-IN"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b"/>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Low</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b"/>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High</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extLst>
                  <a:ext uri="{0D108BD9-81ED-4DB2-BD59-A6C34878D82A}">
                    <a16:rowId xmlns:a16="http://schemas.microsoft.com/office/drawing/2014/main" val="1434694396"/>
                  </a:ext>
                </a:extLst>
              </a:tr>
              <a:tr h="196795">
                <a:tc>
                  <a:txBody>
                    <a:bodyPr/>
                    <a:lstStyle/>
                    <a:p>
                      <a:pPr algn="ctr" fontAlgn="b"/>
                      <a:r>
                        <a:rPr lang="en-IN" sz="1100" b="1" u="none" strike="noStrike" dirty="0">
                          <a:effectLst/>
                          <a:latin typeface="Calibri" panose="020F0502020204030204" pitchFamily="34" charset="0"/>
                          <a:ea typeface="Calibri" panose="020F0502020204030204" pitchFamily="34" charset="0"/>
                          <a:cs typeface="Calibri" panose="020F0502020204030204" pitchFamily="34" charset="0"/>
                        </a:rPr>
                        <a:t>data flexibility</a:t>
                      </a:r>
                      <a:endPar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b"/>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Low</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b"/>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High</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extLst>
                  <a:ext uri="{0D108BD9-81ED-4DB2-BD59-A6C34878D82A}">
                    <a16:rowId xmlns:a16="http://schemas.microsoft.com/office/drawing/2014/main" val="2311955878"/>
                  </a:ext>
                </a:extLst>
              </a:tr>
              <a:tr h="203355">
                <a:tc>
                  <a:txBody>
                    <a:bodyPr/>
                    <a:lstStyle/>
                    <a:p>
                      <a:pPr algn="ctr" fontAlgn="ctr">
                        <a:lnSpc>
                          <a:spcPts val="1500"/>
                        </a:lnSpc>
                        <a:buNone/>
                      </a:pPr>
                      <a:r>
                        <a:rPr lang="en-IN" sz="1100" b="1" u="none" strike="noStrike" dirty="0">
                          <a:effectLst/>
                          <a:latin typeface="Calibri" panose="020F0502020204030204" pitchFamily="34" charset="0"/>
                          <a:ea typeface="Calibri" panose="020F0502020204030204" pitchFamily="34" charset="0"/>
                          <a:cs typeface="Calibri" panose="020F0502020204030204" pitchFamily="34" charset="0"/>
                        </a:rPr>
                        <a:t>Execution Time</a:t>
                      </a:r>
                      <a:endPar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b">
                        <a:lnSpc>
                          <a:spcPts val="1500"/>
                        </a:lnSpc>
                        <a:buNone/>
                      </a:pPr>
                      <a:r>
                        <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8-10 minutes/flow</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b"/>
                      <a:r>
                        <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~5 minutes/flow</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alpha val="96863"/>
                      </a:srgbClr>
                    </a:solidFill>
                  </a:tcPr>
                </a:tc>
                <a:extLst>
                  <a:ext uri="{0D108BD9-81ED-4DB2-BD59-A6C34878D82A}">
                    <a16:rowId xmlns:a16="http://schemas.microsoft.com/office/drawing/2014/main" val="3103167292"/>
                  </a:ext>
                </a:extLst>
              </a:tr>
              <a:tr h="203355">
                <a:tc>
                  <a:txBody>
                    <a:bodyPr/>
                    <a:lstStyle/>
                    <a:p>
                      <a:pPr algn="ctr" fontAlgn="ctr">
                        <a:lnSpc>
                          <a:spcPts val="1500"/>
                        </a:lnSpc>
                        <a:buNone/>
                      </a:pPr>
                      <a:r>
                        <a:rPr lang="en-IN" sz="1100" b="1" u="none" strike="noStrike" dirty="0">
                          <a:effectLst/>
                          <a:latin typeface="Calibri" panose="020F0502020204030204" pitchFamily="34" charset="0"/>
                          <a:ea typeface="Calibri" panose="020F0502020204030204" pitchFamily="34" charset="0"/>
                          <a:cs typeface="Calibri" panose="020F0502020204030204" pitchFamily="34" charset="0"/>
                        </a:rPr>
                        <a:t>Scalability</a:t>
                      </a:r>
                      <a:endPar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ctr"/>
                      <a:r>
                        <a:rPr lang="en-IN" sz="1100" u="none" strike="noStrike">
                          <a:effectLst/>
                          <a:latin typeface="Calibri" panose="020F0502020204030204" pitchFamily="34" charset="0"/>
                          <a:ea typeface="Calibri" panose="020F0502020204030204" pitchFamily="34" charset="0"/>
                          <a:cs typeface="Calibri" panose="020F0502020204030204" pitchFamily="34" charset="0"/>
                        </a:rPr>
                        <a:t> Low</a:t>
                      </a:r>
                      <a:endParaRPr lang="en-I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a:txBody>
                    <a:bodyPr/>
                    <a:lstStyle/>
                    <a:p>
                      <a:pPr algn="ctr" fontAlgn="ctr">
                        <a:lnSpc>
                          <a:spcPts val="1500"/>
                        </a:lnSpc>
                        <a:buNone/>
                      </a:pPr>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High</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extLst>
                  <a:ext uri="{0D108BD9-81ED-4DB2-BD59-A6C34878D82A}">
                    <a16:rowId xmlns:a16="http://schemas.microsoft.com/office/drawing/2014/main" val="4110787213"/>
                  </a:ext>
                </a:extLst>
              </a:tr>
              <a:tr h="324803">
                <a:tc>
                  <a:txBody>
                    <a:bodyPr/>
                    <a:lstStyle/>
                    <a:p>
                      <a:pPr algn="ctr" fontAlgn="ctr">
                        <a:lnSpc>
                          <a:spcPts val="1500"/>
                        </a:lnSpc>
                        <a:buNone/>
                      </a:pPr>
                      <a:r>
                        <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Projection</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gridSpan="2">
                  <a:txBody>
                    <a:bodyPr/>
                    <a:lstStyle/>
                    <a:p>
                      <a:pPr algn="ctr" fontAlgn="ctr"/>
                      <a:r>
                        <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50% of testers setting at least 3-4 test data everyday, projected saving </a:t>
                      </a:r>
                      <a:r>
                        <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~100+ P Hrs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tc hMerge="1">
                  <a:txBody>
                    <a:bodyPr/>
                    <a:lstStyle/>
                    <a:p>
                      <a:pPr algn="ctr" fontAlgn="ctr">
                        <a:lnSpc>
                          <a:spcPts val="1500"/>
                        </a:lnSpc>
                        <a:buNone/>
                      </a:pPr>
                      <a:endParaRPr lang="en-IN" sz="1400" b="0" i="0" u="none" strike="noStrike" dirty="0">
                        <a:solidFill>
                          <a:srgbClr val="000000"/>
                        </a:solidFill>
                        <a:effectLst/>
                        <a:latin typeface="Segoe UI" panose="020B0502040204020203"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alpha val="96863"/>
                      </a:srgbClr>
                    </a:solidFill>
                  </a:tcPr>
                </a:tc>
                <a:extLst>
                  <a:ext uri="{0D108BD9-81ED-4DB2-BD59-A6C34878D82A}">
                    <a16:rowId xmlns:a16="http://schemas.microsoft.com/office/drawing/2014/main" val="484679608"/>
                  </a:ext>
                </a:extLst>
              </a:tr>
            </a:tbl>
          </a:graphicData>
        </a:graphic>
      </p:graphicFrame>
      <p:graphicFrame>
        <p:nvGraphicFramePr>
          <p:cNvPr id="17" name="Table 16">
            <a:extLst>
              <a:ext uri="{FF2B5EF4-FFF2-40B4-BE49-F238E27FC236}">
                <a16:creationId xmlns:a16="http://schemas.microsoft.com/office/drawing/2014/main" id="{21ADD89B-7E3D-6F80-702F-F76C5AB3EE98}"/>
              </a:ext>
            </a:extLst>
          </p:cNvPr>
          <p:cNvGraphicFramePr>
            <a:graphicFrameLocks noGrp="1"/>
          </p:cNvGraphicFramePr>
          <p:nvPr>
            <p:extLst>
              <p:ext uri="{D42A27DB-BD31-4B8C-83A1-F6EECF244321}">
                <p14:modId xmlns:p14="http://schemas.microsoft.com/office/powerpoint/2010/main" val="3367161012"/>
              </p:ext>
            </p:extLst>
          </p:nvPr>
        </p:nvGraphicFramePr>
        <p:xfrm>
          <a:off x="3627883" y="3287444"/>
          <a:ext cx="5132660" cy="1128443"/>
        </p:xfrm>
        <a:graphic>
          <a:graphicData uri="http://schemas.openxmlformats.org/drawingml/2006/table">
            <a:tbl>
              <a:tblPr>
                <a:tableStyleId>{7E9639D4-E3E2-4D34-9284-5A2195B3D0D7}</a:tableStyleId>
              </a:tblPr>
              <a:tblGrid>
                <a:gridCol w="1586978">
                  <a:extLst>
                    <a:ext uri="{9D8B030D-6E8A-4147-A177-3AD203B41FA5}">
                      <a16:colId xmlns:a16="http://schemas.microsoft.com/office/drawing/2014/main" val="3210964324"/>
                    </a:ext>
                  </a:extLst>
                </a:gridCol>
                <a:gridCol w="1515493">
                  <a:extLst>
                    <a:ext uri="{9D8B030D-6E8A-4147-A177-3AD203B41FA5}">
                      <a16:colId xmlns:a16="http://schemas.microsoft.com/office/drawing/2014/main" val="690182723"/>
                    </a:ext>
                  </a:extLst>
                </a:gridCol>
                <a:gridCol w="2030189">
                  <a:extLst>
                    <a:ext uri="{9D8B030D-6E8A-4147-A177-3AD203B41FA5}">
                      <a16:colId xmlns:a16="http://schemas.microsoft.com/office/drawing/2014/main" val="2285601434"/>
                    </a:ext>
                  </a:extLst>
                </a:gridCol>
              </a:tblGrid>
              <a:tr h="197100">
                <a:tc>
                  <a:txBody>
                    <a:bodyPr/>
                    <a:lstStyle/>
                    <a:p>
                      <a:pPr algn="ctr" fontAlgn="b"/>
                      <a:r>
                        <a:rPr lang="en-IN" sz="11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Metric</a:t>
                      </a:r>
                      <a:endParaRPr lang="en-IN" sz="11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
                      <a:r>
                        <a:rPr lang="en-IN" sz="11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Manual Process</a:t>
                      </a:r>
                      <a:endParaRPr lang="en-IN" sz="11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
                      <a:r>
                        <a:rPr lang="en-IN" sz="1100" b="1"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Tool-Driven Process</a:t>
                      </a:r>
                      <a:endParaRPr lang="en-IN" sz="11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3346989212"/>
                  </a:ext>
                </a:extLst>
              </a:tr>
              <a:tr h="197100">
                <a:tc>
                  <a:txBody>
                    <a:bodyPr/>
                    <a:lstStyle/>
                    <a:p>
                      <a:pPr algn="ctr" fontAlgn="ctr">
                        <a:lnSpc>
                          <a:spcPts val="1500"/>
                        </a:lnSpc>
                        <a:buNone/>
                      </a:pPr>
                      <a:r>
                        <a:rPr lang="en-IN" sz="1100" b="1" u="none" strike="noStrike" dirty="0">
                          <a:effectLst/>
                          <a:latin typeface="Calibri" panose="020F0502020204030204" pitchFamily="34" charset="0"/>
                          <a:ea typeface="Calibri" panose="020F0502020204030204" pitchFamily="34" charset="0"/>
                          <a:cs typeface="Calibri" panose="020F0502020204030204" pitchFamily="34" charset="0"/>
                        </a:rPr>
                        <a:t>Execution Time</a:t>
                      </a:r>
                      <a:endPar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a:txBody>
                    <a:bodyPr/>
                    <a:lstStyle/>
                    <a:p>
                      <a:pPr algn="ctr" fontAlgn="ctr"/>
                      <a:r>
                        <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15-20 minutes/flow</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a:txBody>
                    <a:bodyPr/>
                    <a:lstStyle/>
                    <a:p>
                      <a:pPr algn="ctr" fontAlgn="ctr"/>
                      <a:r>
                        <a:rPr lang="en-IN" sz="1100" b="1" u="none" strike="noStrike">
                          <a:effectLst/>
                          <a:latin typeface="Calibri" panose="020F0502020204030204" pitchFamily="34" charset="0"/>
                          <a:ea typeface="Calibri" panose="020F0502020204030204" pitchFamily="34" charset="0"/>
                          <a:cs typeface="Calibri" panose="020F0502020204030204" pitchFamily="34" charset="0"/>
                        </a:rPr>
                        <a:t>8-10 minutes/flow </a:t>
                      </a:r>
                      <a:endParaRPr lang="en-IN"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3160299331"/>
                  </a:ext>
                </a:extLst>
              </a:tr>
              <a:tr h="197100">
                <a:tc>
                  <a:txBody>
                    <a:bodyPr/>
                    <a:lstStyle/>
                    <a:p>
                      <a:pPr algn="ctr" fontAlgn="ctr"/>
                      <a:r>
                        <a:rPr lang="en-IN" sz="1100" b="1" u="none" strike="noStrike">
                          <a:effectLst/>
                          <a:latin typeface="Calibri" panose="020F0502020204030204" pitchFamily="34" charset="0"/>
                          <a:ea typeface="Calibri" panose="020F0502020204030204" pitchFamily="34" charset="0"/>
                          <a:cs typeface="Calibri" panose="020F0502020204030204" pitchFamily="34" charset="0"/>
                        </a:rPr>
                        <a:t>Reporting and Validations</a:t>
                      </a:r>
                      <a:endParaRPr lang="en-IN"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a:txBody>
                    <a:bodyPr/>
                    <a:lstStyle/>
                    <a:p>
                      <a:pPr algn="ctr" fontAlgn="ctr"/>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Manual</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a:txBody>
                    <a:bodyPr/>
                    <a:lstStyle/>
                    <a:p>
                      <a:pPr algn="ctr" fontAlgn="ctr"/>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Automatic</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extLst>
                  <a:ext uri="{0D108BD9-81ED-4DB2-BD59-A6C34878D82A}">
                    <a16:rowId xmlns:a16="http://schemas.microsoft.com/office/drawing/2014/main" val="509662036"/>
                  </a:ext>
                </a:extLst>
              </a:tr>
              <a:tr h="197100">
                <a:tc>
                  <a:txBody>
                    <a:bodyPr/>
                    <a:lstStyle/>
                    <a:p>
                      <a:pPr algn="ctr" fontAlgn="ctr">
                        <a:lnSpc>
                          <a:spcPts val="1500"/>
                        </a:lnSpc>
                        <a:buNone/>
                      </a:pPr>
                      <a:r>
                        <a:rPr lang="en-IN" sz="1100" b="1" u="none" strike="noStrike">
                          <a:effectLst/>
                          <a:latin typeface="Calibri" panose="020F0502020204030204" pitchFamily="34" charset="0"/>
                          <a:ea typeface="Calibri" panose="020F0502020204030204" pitchFamily="34" charset="0"/>
                          <a:cs typeface="Calibri" panose="020F0502020204030204" pitchFamily="34" charset="0"/>
                        </a:rPr>
                        <a:t>Scalability</a:t>
                      </a:r>
                      <a:endParaRPr lang="en-IN"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a:txBody>
                    <a:bodyPr/>
                    <a:lstStyle/>
                    <a:p>
                      <a:pPr algn="ctr" fontAlgn="ctr"/>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 Low</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a:txBody>
                    <a:bodyPr/>
                    <a:lstStyle/>
                    <a:p>
                      <a:pPr algn="ctr" fontAlgn="ctr">
                        <a:lnSpc>
                          <a:spcPts val="1500"/>
                        </a:lnSpc>
                        <a:buNone/>
                      </a:pPr>
                      <a:r>
                        <a:rPr lang="en-IN" sz="1100" u="none" strike="noStrike" dirty="0">
                          <a:effectLst/>
                          <a:latin typeface="Calibri" panose="020F0502020204030204" pitchFamily="34" charset="0"/>
                          <a:ea typeface="Calibri" panose="020F0502020204030204" pitchFamily="34" charset="0"/>
                          <a:cs typeface="Calibri" panose="020F0502020204030204" pitchFamily="34" charset="0"/>
                        </a:rPr>
                        <a:t>High</a:t>
                      </a:r>
                      <a:endPar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extLst>
                  <a:ext uri="{0D108BD9-81ED-4DB2-BD59-A6C34878D82A}">
                    <a16:rowId xmlns:a16="http://schemas.microsoft.com/office/drawing/2014/main" val="2515796217"/>
                  </a:ext>
                </a:extLst>
              </a:tr>
              <a:tr h="324803">
                <a:tc>
                  <a:txBody>
                    <a:bodyPr/>
                    <a:lstStyle/>
                    <a:p>
                      <a:pPr algn="ctr" fontAlgn="ctr">
                        <a:lnSpc>
                          <a:spcPts val="1500"/>
                        </a:lnSpc>
                        <a:buNone/>
                      </a:pPr>
                      <a:r>
                        <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Projection</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5 Core-Apps testers validating at least 10 flows / day projected saving </a:t>
                      </a:r>
                      <a:r>
                        <a:rPr lang="en-IN"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~100+ P Hrs</a:t>
                      </a:r>
                    </a:p>
                  </a:txBody>
                  <a:tcPr marL="4763" marR="4763" marT="476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tc hMerge="1">
                  <a:txBody>
                    <a:bodyPr/>
                    <a:lstStyle/>
                    <a:p>
                      <a:pPr algn="ctr" fontAlgn="ctr">
                        <a:lnSpc>
                          <a:spcPts val="1500"/>
                        </a:lnSpc>
                        <a:buNone/>
                      </a:pPr>
                      <a:endParaRPr lang="en-IN" sz="1400" b="0" i="0" u="none" strike="noStrike" dirty="0">
                        <a:solidFill>
                          <a:srgbClr val="000000"/>
                        </a:solidFill>
                        <a:effectLst/>
                        <a:latin typeface="Segoe UI" panose="020B0502040204020203"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EAEA"/>
                    </a:solidFill>
                  </a:tcPr>
                </a:tc>
                <a:extLst>
                  <a:ext uri="{0D108BD9-81ED-4DB2-BD59-A6C34878D82A}">
                    <a16:rowId xmlns:a16="http://schemas.microsoft.com/office/drawing/2014/main" val="2979383863"/>
                  </a:ext>
                </a:extLst>
              </a:tr>
            </a:tbl>
          </a:graphicData>
        </a:graphic>
      </p:graphicFrame>
      <p:sp>
        <p:nvSpPr>
          <p:cNvPr id="18" name="Rectangle 17">
            <a:extLst>
              <a:ext uri="{FF2B5EF4-FFF2-40B4-BE49-F238E27FC236}">
                <a16:creationId xmlns:a16="http://schemas.microsoft.com/office/drawing/2014/main" id="{F00EB603-66D3-49BB-D149-9C515B5A61AD}"/>
              </a:ext>
            </a:extLst>
          </p:cNvPr>
          <p:cNvSpPr/>
          <p:nvPr/>
        </p:nvSpPr>
        <p:spPr>
          <a:xfrm>
            <a:off x="3050579" y="3047233"/>
            <a:ext cx="4589808" cy="1297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4290" tIns="27432" rIns="34290" bIns="27432" rtlCol="0" anchor="ctr"/>
          <a:lstStyle/>
          <a:p>
            <a:pPr marL="540000">
              <a:defRPr/>
            </a:pPr>
            <a:r>
              <a:rPr lang="en-US" sz="1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Backend Flow Orchestration Tool</a:t>
            </a:r>
          </a:p>
        </p:txBody>
      </p:sp>
      <p:sp>
        <p:nvSpPr>
          <p:cNvPr id="19" name="Rectangle 18">
            <a:extLst>
              <a:ext uri="{FF2B5EF4-FFF2-40B4-BE49-F238E27FC236}">
                <a16:creationId xmlns:a16="http://schemas.microsoft.com/office/drawing/2014/main" id="{12673E75-51A5-BAF5-D9ED-191EF0440BED}"/>
              </a:ext>
            </a:extLst>
          </p:cNvPr>
          <p:cNvSpPr/>
          <p:nvPr/>
        </p:nvSpPr>
        <p:spPr>
          <a:xfrm>
            <a:off x="0" y="863651"/>
            <a:ext cx="4589808" cy="1297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4290" tIns="27432" rIns="34290" bIns="27432" rtlCol="0" anchor="ctr"/>
          <a:lstStyle/>
          <a:p>
            <a:pPr marL="540000">
              <a:defRPr/>
            </a:pPr>
            <a:r>
              <a:rPr lang="en-US" sz="12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Bulk Data Creation Platform</a:t>
            </a:r>
          </a:p>
        </p:txBody>
      </p:sp>
    </p:spTree>
    <p:extLst>
      <p:ext uri="{BB962C8B-B14F-4D97-AF65-F5344CB8AC3E}">
        <p14:creationId xmlns:p14="http://schemas.microsoft.com/office/powerpoint/2010/main" val="3664710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7302A-F8B1-2631-2CA8-D28F7E0BE8B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5C7568-6F10-35F1-2804-FA7F2469665C}"/>
              </a:ext>
            </a:extLst>
          </p:cNvPr>
          <p:cNvPicPr>
            <a:picLocks noChangeAspect="1"/>
          </p:cNvPicPr>
          <p:nvPr/>
        </p:nvPicPr>
        <p:blipFill rotWithShape="1">
          <a:blip r:embed="rId4">
            <a:extLst>
              <a:ext uri="{28A0092B-C50C-407E-A947-70E740481C1C}">
                <a14:useLocalDpi xmlns:a14="http://schemas.microsoft.com/office/drawing/2010/main" val="0"/>
              </a:ext>
            </a:extLst>
          </a:blip>
          <a:srcRect l="35428" t="13546" r="5325" b="13546"/>
          <a:stretch>
            <a:fillRect/>
          </a:stretch>
        </p:blipFill>
        <p:spPr>
          <a:xfrm>
            <a:off x="3923928" y="0"/>
            <a:ext cx="5220072" cy="5143500"/>
          </a:xfrm>
          <a:prstGeom prst="rect">
            <a:avLst/>
          </a:prstGeom>
        </p:spPr>
      </p:pic>
      <p:pic>
        <p:nvPicPr>
          <p:cNvPr id="4" name="Picture 3">
            <a:extLst>
              <a:ext uri="{FF2B5EF4-FFF2-40B4-BE49-F238E27FC236}">
                <a16:creationId xmlns:a16="http://schemas.microsoft.com/office/drawing/2014/main" id="{BB70900F-7EC9-53D7-E4D4-371AFCAC329C}"/>
              </a:ext>
            </a:extLst>
          </p:cNvPr>
          <p:cNvPicPr>
            <a:picLocks noChangeAspect="1"/>
          </p:cNvPicPr>
          <p:nvPr/>
        </p:nvPicPr>
        <p:blipFill>
          <a:blip r:embed="rId5"/>
          <a:srcRect l="20826" r="3539" b="36309"/>
          <a:stretch>
            <a:fillRect/>
          </a:stretch>
        </p:blipFill>
        <p:spPr>
          <a:xfrm>
            <a:off x="0" y="-7403"/>
            <a:ext cx="9157161" cy="5150903"/>
          </a:xfrm>
          <a:prstGeom prst="rect">
            <a:avLst/>
          </a:prstGeom>
        </p:spPr>
      </p:pic>
      <p:graphicFrame>
        <p:nvGraphicFramePr>
          <p:cNvPr id="6" name="think-cell data - do not delete" hidden="1">
            <a:extLst>
              <a:ext uri="{FF2B5EF4-FFF2-40B4-BE49-F238E27FC236}">
                <a16:creationId xmlns:a16="http://schemas.microsoft.com/office/drawing/2014/main" id="{B62F4D85-05E4-DCFE-DA54-D53482BD48CE}"/>
              </a:ext>
            </a:extLst>
          </p:cNvPr>
          <p:cNvGraphicFramePr>
            <a:graphicFrameLocks/>
          </p:cNvGraphicFramePr>
          <p:nvPr>
            <p:custDataLst>
              <p:tags r:id="rId1"/>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think-cell data - do not delete" hidden="1">
                        <a:extLst>
                          <a:ext uri="{FF2B5EF4-FFF2-40B4-BE49-F238E27FC236}">
                            <a16:creationId xmlns:a16="http://schemas.microsoft.com/office/drawing/2014/main" id="{443EE4F1-5D2C-1755-8260-E8DC9E9B6C3A}"/>
                          </a:ext>
                        </a:extLst>
                      </p:cNvPr>
                      <p:cNvPicPr/>
                      <p:nvPr/>
                    </p:nvPicPr>
                    <p:blipFill>
                      <a:blip r:embed="rId7"/>
                      <a:stretch>
                        <a:fillRect/>
                      </a:stretch>
                    </p:blipFill>
                    <p:spPr>
                      <a:xfrm>
                        <a:off x="1191" y="1191"/>
                        <a:ext cx="1191" cy="1191"/>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23915974-32C5-92F9-51C5-DA3383E84A2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2901" y="316095"/>
            <a:ext cx="928686" cy="504974"/>
          </a:xfrm>
          <a:prstGeom prst="rect">
            <a:avLst/>
          </a:prstGeom>
        </p:spPr>
      </p:pic>
      <p:sp>
        <p:nvSpPr>
          <p:cNvPr id="13" name="Title 2">
            <a:extLst>
              <a:ext uri="{FF2B5EF4-FFF2-40B4-BE49-F238E27FC236}">
                <a16:creationId xmlns:a16="http://schemas.microsoft.com/office/drawing/2014/main" id="{230DAD33-455C-4A1D-FC00-684D90F8AD37}"/>
              </a:ext>
            </a:extLst>
          </p:cNvPr>
          <p:cNvSpPr txBox="1">
            <a:spLocks/>
          </p:cNvSpPr>
          <p:nvPr/>
        </p:nvSpPr>
        <p:spPr>
          <a:xfrm>
            <a:off x="153734" y="1986459"/>
            <a:ext cx="4697126" cy="380682"/>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2400" dirty="0">
                <a:solidFill>
                  <a:srgbClr val="EC1B3D"/>
                </a:solidFill>
                <a:latin typeface="Aptos" panose="020B0004020202020204" pitchFamily="34" charset="0"/>
                <a:cs typeface="Arial" panose="020B0604020202020204" pitchFamily="34" charset="0"/>
              </a:rPr>
              <a:t>3. AI Driven Test Script Generation</a:t>
            </a:r>
            <a:endParaRPr lang="en-US" sz="2400" dirty="0">
              <a:solidFill>
                <a:srgbClr val="231F20"/>
              </a:solidFill>
              <a:latin typeface="Aptos" panose="020B0004020202020204" pitchFamily="34" charset="0"/>
              <a:cs typeface="Arial" panose="020B0604020202020204" pitchFamily="34" charset="0"/>
            </a:endParaRPr>
          </a:p>
        </p:txBody>
      </p:sp>
      <p:sp>
        <p:nvSpPr>
          <p:cNvPr id="14" name="Title 2">
            <a:extLst>
              <a:ext uri="{FF2B5EF4-FFF2-40B4-BE49-F238E27FC236}">
                <a16:creationId xmlns:a16="http://schemas.microsoft.com/office/drawing/2014/main" id="{5C7A2572-0BFB-6F9F-663A-8D780A1457DA}"/>
              </a:ext>
            </a:extLst>
          </p:cNvPr>
          <p:cNvSpPr txBox="1">
            <a:spLocks/>
          </p:cNvSpPr>
          <p:nvPr/>
        </p:nvSpPr>
        <p:spPr>
          <a:xfrm>
            <a:off x="153734" y="2386117"/>
            <a:ext cx="4337112" cy="527132"/>
          </a:xfrm>
          <a:prstGeom prst="rect">
            <a:avLst/>
          </a:prstGeom>
        </p:spPr>
        <p:txBody>
          <a:bodyPr vert="horz" wrap="square" lIns="0" tIns="45720" rIns="0" bIns="0" rtlCol="0" anchor="ctr" anchorCtr="0">
            <a:spAutoFit/>
          </a:bodyPr>
          <a:lstStyle>
            <a:lvl1pPr marL="0" indent="0" algn="l" defTabSz="685783" rtl="0" eaLnBrk="1" latinLnBrk="0" hangingPunct="1">
              <a:lnSpc>
                <a:spcPct val="90000"/>
              </a:lnSpc>
              <a:spcBef>
                <a:spcPct val="0"/>
              </a:spcBef>
              <a:buNone/>
              <a:defRPr sz="3600" b="1" kern="1200" cap="none" baseline="0">
                <a:solidFill>
                  <a:schemeClr val="tx1"/>
                </a:solidFill>
                <a:latin typeface="+mj-lt"/>
                <a:ea typeface="+mj-ea"/>
                <a:cs typeface="+mj-cs"/>
              </a:defRPr>
            </a:lvl1pPr>
          </a:lstStyle>
          <a:p>
            <a:pPr defTabSz="685749">
              <a:spcBef>
                <a:spcPts val="450"/>
              </a:spcBef>
              <a:defRPr/>
            </a:pPr>
            <a:r>
              <a:rPr lang="en-US" sz="1500" dirty="0">
                <a:solidFill>
                  <a:srgbClr val="000000"/>
                </a:solidFill>
                <a:latin typeface="Aptos" panose="020B0004020202020204" pitchFamily="34" charset="0"/>
                <a:cs typeface="Arial" panose="020B0604020202020204" pitchFamily="34" charset="0"/>
              </a:rPr>
              <a:t>Darshan Trivedi</a:t>
            </a:r>
          </a:p>
          <a:p>
            <a:pPr defTabSz="685749">
              <a:spcBef>
                <a:spcPts val="450"/>
              </a:spcBef>
              <a:defRPr/>
            </a:pPr>
            <a:r>
              <a:rPr lang="en-SG" sz="1500" dirty="0">
                <a:solidFill>
                  <a:srgbClr val="000000"/>
                </a:solidFill>
                <a:latin typeface="Aptos" panose="020B0004020202020204" pitchFamily="34" charset="0"/>
                <a:cs typeface="Arial" panose="020B0604020202020204" pitchFamily="34" charset="0"/>
              </a:rPr>
              <a:t>Ritesh Singh</a:t>
            </a:r>
            <a:endParaRPr lang="en-US" sz="1500" dirty="0">
              <a:solidFill>
                <a:srgbClr val="000000"/>
              </a:solidFill>
              <a:latin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496492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FAFA8-9C6C-8F14-0732-881F262A1534}"/>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08305EC4-1432-9886-7D76-C98E10C32E13}"/>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AFF74A58-5AF9-0733-1547-534E94F6A3EC}"/>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Current State</a:t>
            </a:r>
            <a:endParaRPr lang="en-SG" sz="1800" b="1" dirty="0">
              <a:solidFill>
                <a:srgbClr val="FFFFFF"/>
              </a:solidFill>
              <a:latin typeface="Calibri" pitchFamily="34" charset="0"/>
              <a:ea typeface="Calibri" pitchFamily="34" charset="-122"/>
              <a:cs typeface="Calibri" pitchFamily="34" charset="-120"/>
            </a:endParaRPr>
          </a:p>
        </p:txBody>
      </p:sp>
      <p:sp>
        <p:nvSpPr>
          <p:cNvPr id="21" name="Freeform: Shape 20">
            <a:extLst>
              <a:ext uri="{FF2B5EF4-FFF2-40B4-BE49-F238E27FC236}">
                <a16:creationId xmlns:a16="http://schemas.microsoft.com/office/drawing/2014/main" id="{79EF82D0-3534-1EBE-4487-411D65F141DE}"/>
              </a:ext>
            </a:extLst>
          </p:cNvPr>
          <p:cNvSpPr/>
          <p:nvPr/>
        </p:nvSpPr>
        <p:spPr>
          <a:xfrm>
            <a:off x="308610" y="780893"/>
            <a:ext cx="5120640" cy="1953369"/>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2" name="Freeform: Shape 21">
            <a:extLst>
              <a:ext uri="{FF2B5EF4-FFF2-40B4-BE49-F238E27FC236}">
                <a16:creationId xmlns:a16="http://schemas.microsoft.com/office/drawing/2014/main" id="{F4869A4A-D534-D80F-AB45-637C77955A29}"/>
              </a:ext>
            </a:extLst>
          </p:cNvPr>
          <p:cNvSpPr/>
          <p:nvPr/>
        </p:nvSpPr>
        <p:spPr>
          <a:xfrm>
            <a:off x="308610" y="780893"/>
            <a:ext cx="5120640" cy="1953369"/>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23" name="Freeform: Shape 22">
            <a:extLst>
              <a:ext uri="{FF2B5EF4-FFF2-40B4-BE49-F238E27FC236}">
                <a16:creationId xmlns:a16="http://schemas.microsoft.com/office/drawing/2014/main" id="{EAFF233C-A918-24F0-30EC-48786BEB4247}"/>
              </a:ext>
            </a:extLst>
          </p:cNvPr>
          <p:cNvSpPr/>
          <p:nvPr/>
        </p:nvSpPr>
        <p:spPr>
          <a:xfrm>
            <a:off x="308609" y="780892"/>
            <a:ext cx="110916" cy="1953369"/>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4" name="Text 2">
            <a:extLst>
              <a:ext uri="{FF2B5EF4-FFF2-40B4-BE49-F238E27FC236}">
                <a16:creationId xmlns:a16="http://schemas.microsoft.com/office/drawing/2014/main" id="{B12D011E-5D48-5FFE-9D23-FA59E33F32E9}"/>
              </a:ext>
            </a:extLst>
          </p:cNvPr>
          <p:cNvSpPr/>
          <p:nvPr/>
        </p:nvSpPr>
        <p:spPr>
          <a:xfrm>
            <a:off x="504021" y="919155"/>
            <a:ext cx="4472100" cy="213196"/>
          </a:xfrm>
          <a:prstGeom prst="rect">
            <a:avLst/>
          </a:prstGeom>
          <a:noFill/>
          <a:ln/>
        </p:spPr>
        <p:txBody>
          <a:bodyPr wrap="none" lIns="0" tIns="0" rIns="0" bIns="0" rtlCol="0" anchor="t"/>
          <a:lstStyle/>
          <a:p>
            <a:pPr defTabSz="914378">
              <a:lnSpc>
                <a:spcPct val="104000"/>
              </a:lnSpc>
              <a:defRPr/>
            </a:pPr>
            <a:r>
              <a:rPr lang="en-US" sz="1298" b="1" kern="0" dirty="0">
                <a:latin typeface="Calibri" panose="020F0502020204030204" pitchFamily="34" charset="0"/>
                <a:ea typeface="Calibri" panose="020F0502020204030204" pitchFamily="34" charset="0"/>
                <a:cs typeface="Calibri" panose="020F0502020204030204" pitchFamily="34" charset="0"/>
              </a:rPr>
              <a:t>Current Landscape</a:t>
            </a:r>
            <a:endParaRPr lang="en-US" sz="1298" kern="0"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 3">
            <a:extLst>
              <a:ext uri="{FF2B5EF4-FFF2-40B4-BE49-F238E27FC236}">
                <a16:creationId xmlns:a16="http://schemas.microsoft.com/office/drawing/2014/main" id="{E7991F18-30A7-6309-9E7F-2F9C147F12F5}"/>
              </a:ext>
            </a:extLst>
          </p:cNvPr>
          <p:cNvSpPr/>
          <p:nvPr/>
        </p:nvSpPr>
        <p:spPr>
          <a:xfrm>
            <a:off x="530058" y="1055848"/>
            <a:ext cx="4420024" cy="1389236"/>
          </a:xfrm>
          <a:prstGeom prst="rect">
            <a:avLst/>
          </a:prstGeom>
          <a:noFill/>
          <a:ln/>
        </p:spPr>
        <p:txBody>
          <a:bodyPr wrap="square" lIns="0" tIns="0" rIns="0" bIns="0" rtlCol="0" anchor="t">
            <a:noAutofit/>
          </a:bodyPr>
          <a:lstStyle/>
          <a:p>
            <a:pPr marL="214313" indent="-214313">
              <a:lnSpc>
                <a:spcPct val="200000"/>
              </a:lnSpc>
              <a:buFont typeface="Wingdings" panose="05000000000000000000" pitchFamily="2" charset="2"/>
              <a:buChar char="§"/>
            </a:pPr>
            <a:r>
              <a:rPr lang="en-SG" sz="1050" kern="0" dirty="0">
                <a:latin typeface="Calibri" panose="020F0502020204030204" pitchFamily="34" charset="0"/>
                <a:ea typeface="Calibri" panose="020F0502020204030204" pitchFamily="34" charset="0"/>
                <a:cs typeface="Calibri" panose="020F0502020204030204" pitchFamily="34" charset="0"/>
              </a:rPr>
              <a:t>Focus on Regression Automation across EIT, CIT, EP</a:t>
            </a:r>
          </a:p>
          <a:p>
            <a:pPr marL="214313" indent="-214313">
              <a:lnSpc>
                <a:spcPct val="200000"/>
              </a:lnSpc>
              <a:buFont typeface="Wingdings" panose="05000000000000000000" pitchFamily="2" charset="2"/>
              <a:buChar char="§"/>
            </a:pPr>
            <a:r>
              <a:rPr lang="en-SG" sz="1050" kern="0" dirty="0">
                <a:latin typeface="Calibri" panose="020F0502020204030204" pitchFamily="34" charset="0"/>
                <a:ea typeface="Calibri" panose="020F0502020204030204" pitchFamily="34" charset="0"/>
                <a:cs typeface="Calibri" panose="020F0502020204030204" pitchFamily="34" charset="0"/>
              </a:rPr>
              <a:t>Hybrid teams taking care of Automation and Functional Testing</a:t>
            </a:r>
          </a:p>
          <a:p>
            <a:pPr marL="214313" indent="-214313">
              <a:lnSpc>
                <a:spcPct val="200000"/>
              </a:lnSpc>
              <a:buFont typeface="Wingdings" panose="05000000000000000000" pitchFamily="2" charset="2"/>
              <a:buChar char="§"/>
            </a:pPr>
            <a:r>
              <a:rPr lang="en-SG" sz="1050" kern="0" dirty="0">
                <a:latin typeface="Calibri" panose="020F0502020204030204" pitchFamily="34" charset="0"/>
                <a:ea typeface="Calibri" panose="020F0502020204030204" pitchFamily="34" charset="0"/>
                <a:cs typeface="Calibri" panose="020F0502020204030204" pitchFamily="34" charset="0"/>
              </a:rPr>
              <a:t>Web Automation: Serenity BDD + Selenium, Browser Stack</a:t>
            </a:r>
          </a:p>
          <a:p>
            <a:pPr marL="214313" indent="-214313">
              <a:lnSpc>
                <a:spcPct val="200000"/>
              </a:lnSpc>
              <a:buFont typeface="Wingdings" panose="05000000000000000000" pitchFamily="2" charset="2"/>
              <a:buChar char="§"/>
            </a:pPr>
            <a:r>
              <a:rPr lang="en-SG" sz="1050" kern="0" dirty="0">
                <a:latin typeface="Calibri" panose="020F0502020204030204" pitchFamily="34" charset="0"/>
                <a:ea typeface="Calibri" panose="020F0502020204030204" pitchFamily="34" charset="0"/>
                <a:cs typeface="Calibri" panose="020F0502020204030204" pitchFamily="34" charset="0"/>
              </a:rPr>
              <a:t>API Testing: REST Assured</a:t>
            </a:r>
          </a:p>
          <a:p>
            <a:pPr marL="214313" indent="-214313">
              <a:lnSpc>
                <a:spcPct val="200000"/>
              </a:lnSpc>
              <a:buFont typeface="Wingdings" panose="05000000000000000000" pitchFamily="2" charset="2"/>
              <a:buChar char="§"/>
            </a:pPr>
            <a:r>
              <a:rPr lang="en-SG" sz="1050" kern="0" dirty="0">
                <a:latin typeface="Calibri" panose="020F0502020204030204" pitchFamily="34" charset="0"/>
                <a:ea typeface="Calibri" panose="020F0502020204030204" pitchFamily="34" charset="0"/>
                <a:cs typeface="Calibri" panose="020F0502020204030204" pitchFamily="34" charset="0"/>
              </a:rPr>
              <a:t>Mobile Automation: Appium, Browser Stack</a:t>
            </a:r>
          </a:p>
        </p:txBody>
      </p:sp>
      <p:sp>
        <p:nvSpPr>
          <p:cNvPr id="26" name="Freeform: Shape 25">
            <a:extLst>
              <a:ext uri="{FF2B5EF4-FFF2-40B4-BE49-F238E27FC236}">
                <a16:creationId xmlns:a16="http://schemas.microsoft.com/office/drawing/2014/main" id="{019D015B-0CCC-B4DB-CE51-19C1F404B4C3}"/>
              </a:ext>
            </a:extLst>
          </p:cNvPr>
          <p:cNvSpPr/>
          <p:nvPr/>
        </p:nvSpPr>
        <p:spPr>
          <a:xfrm>
            <a:off x="308609" y="2960051"/>
            <a:ext cx="5120640" cy="1704683"/>
          </a:xfrm>
          <a:custGeom>
            <a:avLst/>
            <a:gdLst>
              <a:gd name="csX0" fmla="*/ 76088 w 3512740"/>
              <a:gd name="csY0" fmla="*/ 0 h 2604492"/>
              <a:gd name="csX1" fmla="*/ 3454937 w 3512740"/>
              <a:gd name="csY1" fmla="*/ 0 h 2604492"/>
              <a:gd name="csX2" fmla="*/ 3512740 w 3512740"/>
              <a:gd name="csY2" fmla="*/ 57770 h 2604492"/>
              <a:gd name="csX3" fmla="*/ 3512740 w 3512740"/>
              <a:gd name="csY3" fmla="*/ 2546723 h 2604492"/>
              <a:gd name="csX4" fmla="*/ 3454937 w 3512740"/>
              <a:gd name="csY4" fmla="*/ 2604492 h 2604492"/>
              <a:gd name="csX5" fmla="*/ 76088 w 3512740"/>
              <a:gd name="csY5" fmla="*/ 2604492 h 2604492"/>
              <a:gd name="csX6" fmla="*/ 0 w 3512740"/>
              <a:gd name="csY6" fmla="*/ 2528449 h 2604492"/>
              <a:gd name="csX7" fmla="*/ 0 w 3512740"/>
              <a:gd name="csY7" fmla="*/ 76044 h 2604492"/>
              <a:gd name="csX8" fmla="*/ 76088 w 3512740"/>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12740" h="2604492">
                <a:moveTo>
                  <a:pt x="76088" y="0"/>
                </a:move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0" y="34046"/>
                  <a:pt x="34066" y="0"/>
                  <a:pt x="76088" y="0"/>
                </a:cubicBezTo>
              </a:path>
            </a:pathLst>
          </a:custGeom>
          <a:solidFill>
            <a:schemeClr val="bg1">
              <a:lumMod val="95000"/>
            </a:schemeClr>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7" name="Freeform: Shape 26">
            <a:extLst>
              <a:ext uri="{FF2B5EF4-FFF2-40B4-BE49-F238E27FC236}">
                <a16:creationId xmlns:a16="http://schemas.microsoft.com/office/drawing/2014/main" id="{CD3B98B6-17D5-6C99-938D-29D59C531104}"/>
              </a:ext>
            </a:extLst>
          </p:cNvPr>
          <p:cNvSpPr/>
          <p:nvPr/>
        </p:nvSpPr>
        <p:spPr>
          <a:xfrm>
            <a:off x="308609" y="2960051"/>
            <a:ext cx="5120640" cy="1704683"/>
          </a:xfrm>
          <a:custGeom>
            <a:avLst/>
            <a:gdLst>
              <a:gd name="csX0" fmla="*/ 22288 w 3512740"/>
              <a:gd name="csY0" fmla="*/ 22274 h 2604492"/>
              <a:gd name="csX1" fmla="*/ 76088 w 3512740"/>
              <a:gd name="csY1" fmla="*/ 0 h 2604492"/>
              <a:gd name="csX2" fmla="*/ 3454937 w 3512740"/>
              <a:gd name="csY2" fmla="*/ 0 h 2604492"/>
              <a:gd name="csX3" fmla="*/ 3512740 w 3512740"/>
              <a:gd name="csY3" fmla="*/ 57770 h 2604492"/>
              <a:gd name="csX4" fmla="*/ 3512740 w 3512740"/>
              <a:gd name="csY4" fmla="*/ 2546723 h 2604492"/>
              <a:gd name="csX5" fmla="*/ 3454937 w 3512740"/>
              <a:gd name="csY5" fmla="*/ 2604492 h 2604492"/>
              <a:gd name="csX6" fmla="*/ 76088 w 3512740"/>
              <a:gd name="csY6" fmla="*/ 2604492 h 2604492"/>
              <a:gd name="csX7" fmla="*/ 0 w 3512740"/>
              <a:gd name="csY7" fmla="*/ 2528449 h 2604492"/>
              <a:gd name="csX8" fmla="*/ 0 w 3512740"/>
              <a:gd name="csY8" fmla="*/ 76044 h 2604492"/>
              <a:gd name="csX9" fmla="*/ 22288 w 3512740"/>
              <a:gd name="csY9" fmla="*/ 22274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12740" h="2604492">
                <a:moveTo>
                  <a:pt x="22288" y="22274"/>
                </a:moveTo>
                <a:cubicBezTo>
                  <a:pt x="36556" y="8013"/>
                  <a:pt x="55909" y="1"/>
                  <a:pt x="76088" y="0"/>
                </a:cubicBezTo>
                <a:lnTo>
                  <a:pt x="3454937" y="0"/>
                </a:lnTo>
                <a:cubicBezTo>
                  <a:pt x="3486861" y="0"/>
                  <a:pt x="3512740" y="25864"/>
                  <a:pt x="3512740" y="57770"/>
                </a:cubicBezTo>
                <a:lnTo>
                  <a:pt x="3512740" y="2546723"/>
                </a:lnTo>
                <a:cubicBezTo>
                  <a:pt x="3512740" y="2578628"/>
                  <a:pt x="3486861" y="2604492"/>
                  <a:pt x="3454937" y="2604492"/>
                </a:cubicBezTo>
                <a:lnTo>
                  <a:pt x="76088" y="2604492"/>
                </a:lnTo>
                <a:cubicBezTo>
                  <a:pt x="34066" y="2604492"/>
                  <a:pt x="0" y="2570446"/>
                  <a:pt x="0" y="2528449"/>
                </a:cubicBezTo>
                <a:lnTo>
                  <a:pt x="0" y="76044"/>
                </a:lnTo>
                <a:cubicBezTo>
                  <a:pt x="1" y="55876"/>
                  <a:pt x="8018" y="36535"/>
                  <a:pt x="22288" y="22274"/>
                </a:cubicBezTo>
              </a:path>
            </a:pathLst>
          </a:custGeom>
          <a:noFill/>
          <a:ln w="37962" cap="flat">
            <a:solidFill>
              <a:srgbClr val="C6BDDA"/>
            </a:solidFill>
            <a:prstDash val="solid"/>
            <a:miter/>
          </a:ln>
        </p:spPr>
        <p:txBody>
          <a:bodyPr/>
          <a:lstStyle/>
          <a:p>
            <a:pPr>
              <a:defRPr/>
            </a:pPr>
            <a:endParaRPr lang="en-US">
              <a:solidFill>
                <a:srgbClr val="000000"/>
              </a:solidFill>
              <a:latin typeface="Calibri" panose="020F0502020204030204"/>
            </a:endParaRPr>
          </a:p>
        </p:txBody>
      </p:sp>
      <p:sp>
        <p:nvSpPr>
          <p:cNvPr id="28" name="Freeform: Shape 27">
            <a:extLst>
              <a:ext uri="{FF2B5EF4-FFF2-40B4-BE49-F238E27FC236}">
                <a16:creationId xmlns:a16="http://schemas.microsoft.com/office/drawing/2014/main" id="{24D84616-F0E0-00C9-00BD-E3B883A95A55}"/>
              </a:ext>
            </a:extLst>
          </p:cNvPr>
          <p:cNvSpPr/>
          <p:nvPr/>
        </p:nvSpPr>
        <p:spPr>
          <a:xfrm>
            <a:off x="308609" y="2960050"/>
            <a:ext cx="110916" cy="1704683"/>
          </a:xfrm>
          <a:custGeom>
            <a:avLst/>
            <a:gdLst>
              <a:gd name="csX0" fmla="*/ 57803 w 76088"/>
              <a:gd name="csY0" fmla="*/ 0 h 2604492"/>
              <a:gd name="csX1" fmla="*/ 76088 w 76088"/>
              <a:gd name="csY1" fmla="*/ 0 h 2604492"/>
              <a:gd name="csX2" fmla="*/ 76088 w 76088"/>
              <a:gd name="csY2" fmla="*/ 0 h 2604492"/>
              <a:gd name="csX3" fmla="*/ 76088 w 76088"/>
              <a:gd name="csY3" fmla="*/ 2604492 h 2604492"/>
              <a:gd name="csX4" fmla="*/ 76088 w 76088"/>
              <a:gd name="csY4" fmla="*/ 2604492 h 2604492"/>
              <a:gd name="csX5" fmla="*/ 57803 w 76088"/>
              <a:gd name="csY5" fmla="*/ 2604492 h 2604492"/>
              <a:gd name="csX6" fmla="*/ 0 w 76088"/>
              <a:gd name="csY6" fmla="*/ 2546723 h 2604492"/>
              <a:gd name="csX7" fmla="*/ 0 w 76088"/>
              <a:gd name="csY7" fmla="*/ 57770 h 2604492"/>
              <a:gd name="csX8" fmla="*/ 57803 w 76088"/>
              <a:gd name="csY8" fmla="*/ 0 h 2604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6088" h="2604492">
                <a:moveTo>
                  <a:pt x="57803" y="0"/>
                </a:moveTo>
                <a:lnTo>
                  <a:pt x="76088" y="0"/>
                </a:lnTo>
                <a:lnTo>
                  <a:pt x="76088" y="0"/>
                </a:lnTo>
                <a:lnTo>
                  <a:pt x="76088" y="2604492"/>
                </a:lnTo>
                <a:lnTo>
                  <a:pt x="76088" y="2604492"/>
                </a:lnTo>
                <a:lnTo>
                  <a:pt x="57803" y="2604492"/>
                </a:lnTo>
                <a:cubicBezTo>
                  <a:pt x="25879" y="2604492"/>
                  <a:pt x="0" y="2578628"/>
                  <a:pt x="0" y="2546723"/>
                </a:cubicBezTo>
                <a:lnTo>
                  <a:pt x="0" y="57770"/>
                </a:lnTo>
                <a:cubicBezTo>
                  <a:pt x="0" y="25864"/>
                  <a:pt x="25879" y="0"/>
                  <a:pt x="57803" y="0"/>
                </a:cubicBezTo>
              </a:path>
            </a:pathLst>
          </a:custGeom>
          <a:solidFill>
            <a:srgbClr val="C00000"/>
          </a:solidFill>
          <a:ln w="6327" cap="flat">
            <a:noFill/>
            <a:prstDash val="solid"/>
            <a:miter/>
          </a:ln>
        </p:spPr>
        <p:txBody>
          <a:bodyPr/>
          <a:lstStyle/>
          <a:p>
            <a:pPr>
              <a:defRPr/>
            </a:pPr>
            <a:endParaRPr lang="en-US">
              <a:solidFill>
                <a:srgbClr val="000000"/>
              </a:solidFill>
              <a:latin typeface="Calibri" panose="020F0502020204030204"/>
            </a:endParaRPr>
          </a:p>
        </p:txBody>
      </p:sp>
      <p:sp>
        <p:nvSpPr>
          <p:cNvPr id="29" name="Text 2">
            <a:extLst>
              <a:ext uri="{FF2B5EF4-FFF2-40B4-BE49-F238E27FC236}">
                <a16:creationId xmlns:a16="http://schemas.microsoft.com/office/drawing/2014/main" id="{7EA47BAB-40FC-1FD6-BA7F-58D3CE693EA4}"/>
              </a:ext>
            </a:extLst>
          </p:cNvPr>
          <p:cNvSpPr/>
          <p:nvPr/>
        </p:nvSpPr>
        <p:spPr>
          <a:xfrm>
            <a:off x="504020" y="3098314"/>
            <a:ext cx="4472100" cy="186053"/>
          </a:xfrm>
          <a:prstGeom prst="rect">
            <a:avLst/>
          </a:prstGeom>
          <a:noFill/>
          <a:ln/>
        </p:spPr>
        <p:txBody>
          <a:bodyPr wrap="none" lIns="0" tIns="0" rIns="0" bIns="0" rtlCol="0" anchor="t"/>
          <a:lstStyle/>
          <a:p>
            <a:pPr defTabSz="914378">
              <a:lnSpc>
                <a:spcPct val="104000"/>
              </a:lnSpc>
              <a:defRPr/>
            </a:pPr>
            <a:r>
              <a:rPr lang="en-US" sz="1300" b="1" kern="0" dirty="0">
                <a:latin typeface="Calibri" panose="020F0502020204030204" pitchFamily="34" charset="0"/>
                <a:ea typeface="Calibri" panose="020F0502020204030204" pitchFamily="34" charset="0"/>
                <a:cs typeface="Calibri" panose="020F0502020204030204" pitchFamily="34" charset="0"/>
              </a:rPr>
              <a:t>Opportunities</a:t>
            </a:r>
            <a:endParaRPr lang="en-US" sz="1300" kern="0"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 3">
            <a:extLst>
              <a:ext uri="{FF2B5EF4-FFF2-40B4-BE49-F238E27FC236}">
                <a16:creationId xmlns:a16="http://schemas.microsoft.com/office/drawing/2014/main" id="{6AC294D2-3CD5-688C-D85B-FF63E1819CC2}"/>
              </a:ext>
            </a:extLst>
          </p:cNvPr>
          <p:cNvSpPr/>
          <p:nvPr/>
        </p:nvSpPr>
        <p:spPr>
          <a:xfrm>
            <a:off x="504020" y="3385924"/>
            <a:ext cx="4472100" cy="1212371"/>
          </a:xfrm>
          <a:prstGeom prst="rect">
            <a:avLst/>
          </a:prstGeom>
          <a:noFill/>
          <a:ln/>
        </p:spPr>
        <p:txBody>
          <a:bodyPr wrap="square" lIns="0" tIns="0" rIns="0" bIns="0" rtlCol="0" anchor="t">
            <a:normAutofit/>
          </a:bodyPr>
          <a:lstStyle/>
          <a:p>
            <a:pPr defTabSz="914378">
              <a:lnSpc>
                <a:spcPct val="133000"/>
              </a:lnSpc>
              <a:defRPr/>
            </a:pPr>
            <a:endParaRPr lang="en-US" sz="950" kern="0">
              <a:solidFill>
                <a:srgbClr val="002060"/>
              </a:solidFill>
              <a:latin typeface="Calibri" panose="020F0502020204030204"/>
            </a:endParaRPr>
          </a:p>
        </p:txBody>
      </p:sp>
      <p:sp>
        <p:nvSpPr>
          <p:cNvPr id="31" name="Text 3">
            <a:extLst>
              <a:ext uri="{FF2B5EF4-FFF2-40B4-BE49-F238E27FC236}">
                <a16:creationId xmlns:a16="http://schemas.microsoft.com/office/drawing/2014/main" id="{5191A124-1DA2-CA60-CB4B-022ECFBA3493}"/>
              </a:ext>
            </a:extLst>
          </p:cNvPr>
          <p:cNvSpPr/>
          <p:nvPr/>
        </p:nvSpPr>
        <p:spPr>
          <a:xfrm>
            <a:off x="504020" y="3385924"/>
            <a:ext cx="4790356" cy="1274096"/>
          </a:xfrm>
          <a:prstGeom prst="rect">
            <a:avLst/>
          </a:prstGeom>
          <a:noFill/>
          <a:ln/>
        </p:spPr>
        <p:txBody>
          <a:bodyPr wrap="square" lIns="0" tIns="0" rIns="0" bIns="0" rtlCol="0" anchor="t">
            <a:normAutofit/>
          </a:bodyPr>
          <a:lstStyle/>
          <a:p>
            <a:pPr marL="214313" indent="-214313">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Fragmented Automation Scripts</a:t>
            </a:r>
          </a:p>
          <a:p>
            <a:pPr marL="214313" indent="-214313">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Flaky Execution &amp; High Maintenance Cost</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Longer Test Scripting Effort – Average 4 </a:t>
            </a:r>
            <a:r>
              <a:rPr lang="en-US" sz="1050" kern="0" dirty="0" err="1">
                <a:latin typeface="Calibri" panose="020F0502020204030204" pitchFamily="34" charset="0"/>
                <a:ea typeface="Calibri" panose="020F0502020204030204" pitchFamily="34" charset="0"/>
                <a:cs typeface="Calibri" panose="020F0502020204030204" pitchFamily="34" charset="0"/>
              </a:rPr>
              <a:t>Hrs</a:t>
            </a:r>
            <a:r>
              <a:rPr lang="en-US" sz="1050" kern="0" dirty="0">
                <a:latin typeface="Calibri" panose="020F0502020204030204" pitchFamily="34" charset="0"/>
                <a:ea typeface="Calibri" panose="020F0502020204030204" pitchFamily="34" charset="0"/>
                <a:cs typeface="Calibri" panose="020F0502020204030204" pitchFamily="34" charset="0"/>
              </a:rPr>
              <a:t> / Test Script</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Longer Onboarding</a:t>
            </a:r>
          </a:p>
          <a:p>
            <a:pPr marL="214313" indent="-214313" defTabSz="914378">
              <a:lnSpc>
                <a:spcPct val="150000"/>
              </a:lnSpc>
              <a:buFont typeface="Wingdings" panose="05000000000000000000" pitchFamily="2" charset="2"/>
              <a:buChar char="§"/>
              <a:defRPr/>
            </a:pPr>
            <a:r>
              <a:rPr lang="en-US" sz="1050" kern="0" dirty="0">
                <a:latin typeface="Calibri" panose="020F0502020204030204" pitchFamily="34" charset="0"/>
                <a:ea typeface="Calibri" panose="020F0502020204030204" pitchFamily="34" charset="0"/>
                <a:cs typeface="Calibri" panose="020F0502020204030204" pitchFamily="34" charset="0"/>
              </a:rPr>
              <a:t>Low </a:t>
            </a:r>
            <a:r>
              <a:rPr lang="en-US" sz="1050" kern="0" dirty="0" err="1">
                <a:latin typeface="Calibri" panose="020F0502020204030204" pitchFamily="34" charset="0"/>
                <a:ea typeface="Calibri" panose="020F0502020204030204" pitchFamily="34" charset="0"/>
                <a:cs typeface="Calibri" panose="020F0502020204030204" pitchFamily="34" charset="0"/>
              </a:rPr>
              <a:t>RoI</a:t>
            </a:r>
            <a:r>
              <a:rPr lang="en-US" sz="1050" kern="0" dirty="0">
                <a:latin typeface="Calibri" panose="020F0502020204030204" pitchFamily="34" charset="0"/>
                <a:ea typeface="Calibri" panose="020F0502020204030204" pitchFamily="34" charset="0"/>
                <a:cs typeface="Calibri" panose="020F0502020204030204" pitchFamily="34" charset="0"/>
              </a:rPr>
              <a:t> for Progressive Automation</a:t>
            </a:r>
          </a:p>
        </p:txBody>
      </p:sp>
      <p:pic>
        <p:nvPicPr>
          <p:cNvPr id="32" name="Picture 31" descr="A person sitting in a chair working on a computer&#10;&#10;AI-generated content may be incorrect.">
            <a:extLst>
              <a:ext uri="{FF2B5EF4-FFF2-40B4-BE49-F238E27FC236}">
                <a16:creationId xmlns:a16="http://schemas.microsoft.com/office/drawing/2014/main" id="{1236B32B-C8D9-DFB6-813B-F5DCC6AD2323}"/>
              </a:ext>
            </a:extLst>
          </p:cNvPr>
          <p:cNvPicPr>
            <a:picLocks noChangeAspect="1"/>
          </p:cNvPicPr>
          <p:nvPr/>
        </p:nvPicPr>
        <p:blipFill>
          <a:blip r:embed="rId3"/>
          <a:stretch>
            <a:fillRect/>
          </a:stretch>
        </p:blipFill>
        <p:spPr>
          <a:xfrm>
            <a:off x="5643982" y="1476493"/>
            <a:ext cx="3354047" cy="2515536"/>
          </a:xfrm>
          <a:prstGeom prst="roundRect">
            <a:avLst>
              <a:gd name="adj" fmla="val 13586"/>
            </a:avLst>
          </a:prstGeom>
        </p:spPr>
      </p:pic>
      <p:sp>
        <p:nvSpPr>
          <p:cNvPr id="33" name="Rectangle: Rounded Corners 32">
            <a:extLst>
              <a:ext uri="{FF2B5EF4-FFF2-40B4-BE49-F238E27FC236}">
                <a16:creationId xmlns:a16="http://schemas.microsoft.com/office/drawing/2014/main" id="{6D626625-1988-1827-98E2-29018830A269}"/>
              </a:ext>
            </a:extLst>
          </p:cNvPr>
          <p:cNvSpPr/>
          <p:nvPr/>
        </p:nvSpPr>
        <p:spPr>
          <a:xfrm>
            <a:off x="5643334" y="1475629"/>
            <a:ext cx="3354047" cy="2515536"/>
          </a:xfrm>
          <a:prstGeom prst="roundRect">
            <a:avLst>
              <a:gd name="adj" fmla="val 12638"/>
            </a:avLst>
          </a:prstGeom>
          <a:gradFill flip="none" rotWithShape="1">
            <a:gsLst>
              <a:gs pos="100000">
                <a:srgbClr val="E7FFFF"/>
              </a:gs>
              <a:gs pos="36000">
                <a:schemeClr val="bg2">
                  <a:shade val="98000"/>
                  <a:satMod val="120000"/>
                  <a:lumMod val="98000"/>
                  <a:alpha val="0"/>
                </a:schemeClr>
              </a:gs>
            </a:gsLst>
            <a:lin ang="108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13"/>
          </a:p>
        </p:txBody>
      </p:sp>
    </p:spTree>
    <p:extLst>
      <p:ext uri="{BB962C8B-B14F-4D97-AF65-F5344CB8AC3E}">
        <p14:creationId xmlns:p14="http://schemas.microsoft.com/office/powerpoint/2010/main" val="1967189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C3794-2E40-56F6-A3E5-71EC72C34CD7}"/>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9C7D35BE-F8ED-914A-B140-8D286DD74050}"/>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E2290D87-E7CC-102F-CB75-6A0BC2C8DBFA}"/>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Proposed Solution</a:t>
            </a:r>
            <a:endParaRPr lang="en-SG" sz="1800" b="1" dirty="0">
              <a:solidFill>
                <a:srgbClr val="FFFFFF"/>
              </a:solidFill>
              <a:latin typeface="Calibri" pitchFamily="34" charset="0"/>
              <a:ea typeface="Calibri" pitchFamily="34" charset="-122"/>
              <a:cs typeface="Calibri" pitchFamily="34" charset="-120"/>
            </a:endParaRPr>
          </a:p>
        </p:txBody>
      </p:sp>
      <p:sp>
        <p:nvSpPr>
          <p:cNvPr id="21" name="Rounded Rectangle 1">
            <a:extLst>
              <a:ext uri="{FF2B5EF4-FFF2-40B4-BE49-F238E27FC236}">
                <a16:creationId xmlns:a16="http://schemas.microsoft.com/office/drawing/2014/main" id="{0EE318C9-E285-6EEF-CD6F-F41A19FEC439}"/>
              </a:ext>
            </a:extLst>
          </p:cNvPr>
          <p:cNvSpPr/>
          <p:nvPr/>
        </p:nvSpPr>
        <p:spPr>
          <a:xfrm>
            <a:off x="1117395" y="840819"/>
            <a:ext cx="1319111" cy="1718844"/>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INPUTS</a:t>
            </a:r>
          </a:p>
          <a:p>
            <a:pPr algn="ctr">
              <a:defRPr sz="1600" b="1"/>
            </a:pPr>
            <a:endPar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API Specs</a:t>
            </a:r>
          </a:p>
          <a:p>
            <a:pPr marL="214313" indent="-214313" algn="ctr">
              <a:buFont typeface="Arial" panose="020B0604020202020204" pitchFamily="34" charset="0"/>
              <a:buChar char="•"/>
              <a:defRPr sz="1600" b="1"/>
            </a:pPr>
            <a:endPar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Framework Architecture </a:t>
            </a:r>
            <a:b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Natural language Prompts</a:t>
            </a:r>
          </a:p>
          <a:p>
            <a:pPr algn="ctr">
              <a:defRPr sz="1600" b="1"/>
            </a:pPr>
            <a:endPar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Rounded Rectangle 2">
            <a:extLst>
              <a:ext uri="{FF2B5EF4-FFF2-40B4-BE49-F238E27FC236}">
                <a16:creationId xmlns:a16="http://schemas.microsoft.com/office/drawing/2014/main" id="{96849070-B1FB-B368-A713-8B8426D595D5}"/>
              </a:ext>
            </a:extLst>
          </p:cNvPr>
          <p:cNvSpPr/>
          <p:nvPr/>
        </p:nvSpPr>
        <p:spPr>
          <a:xfrm>
            <a:off x="2740664" y="840818"/>
            <a:ext cx="3291245" cy="672654"/>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1050" dirty="0">
                <a:latin typeface="Calibri" panose="020F0502020204030204" pitchFamily="34" charset="0"/>
                <a:ea typeface="Calibri" panose="020F0502020204030204" pitchFamily="34" charset="0"/>
                <a:cs typeface="Calibri" panose="020F0502020204030204" pitchFamily="34" charset="0"/>
              </a:rPr>
              <a:t> </a:t>
            </a:r>
            <a:r>
              <a:rPr lang="en-IN" sz="1050" dirty="0">
                <a:solidFill>
                  <a:schemeClr val="tx1"/>
                </a:solidFill>
                <a:latin typeface="Calibri" panose="020F0502020204030204" pitchFamily="34" charset="0"/>
                <a:ea typeface="Calibri" panose="020F0502020204030204" pitchFamily="34" charset="0"/>
                <a:cs typeface="Calibri" panose="020F0502020204030204" pitchFamily="34" charset="0"/>
              </a:rPr>
              <a:t>AI Automation Orchestration</a:t>
            </a:r>
          </a:p>
          <a:p>
            <a:pPr algn="ctr">
              <a:defRPr sz="1600" b="1"/>
            </a:pPr>
            <a:endParaRPr lang="en-IN"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600" b="1"/>
            </a:pPr>
            <a:r>
              <a:rPr lang="en-IN" sz="1050" dirty="0">
                <a:solidFill>
                  <a:schemeClr val="tx1"/>
                </a:solidFill>
                <a:latin typeface="Calibri" panose="020F0502020204030204" pitchFamily="34" charset="0"/>
                <a:ea typeface="Calibri" panose="020F0502020204030204" pitchFamily="34" charset="0"/>
                <a:cs typeface="Calibri" panose="020F0502020204030204" pitchFamily="34" charset="0"/>
              </a:rPr>
              <a:t>   Planner|             Generator |          Healer </a:t>
            </a:r>
          </a:p>
        </p:txBody>
      </p:sp>
      <p:sp>
        <p:nvSpPr>
          <p:cNvPr id="23" name="Rounded Rectangle 3">
            <a:extLst>
              <a:ext uri="{FF2B5EF4-FFF2-40B4-BE49-F238E27FC236}">
                <a16:creationId xmlns:a16="http://schemas.microsoft.com/office/drawing/2014/main" id="{C604A158-9A9E-F0FF-F18B-0EDAB655F789}"/>
              </a:ext>
            </a:extLst>
          </p:cNvPr>
          <p:cNvSpPr/>
          <p:nvPr/>
        </p:nvSpPr>
        <p:spPr>
          <a:xfrm>
            <a:off x="2740664" y="1702005"/>
            <a:ext cx="3291245" cy="467653"/>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sz="900" dirty="0">
                <a:solidFill>
                  <a:schemeClr val="tx1"/>
                </a:solidFill>
                <a:latin typeface="Calibri" panose="020F0502020204030204" pitchFamily="34" charset="0"/>
                <a:ea typeface="Calibri" panose="020F0502020204030204" pitchFamily="34" charset="0"/>
                <a:cs typeface="Calibri" panose="020F0502020204030204" pitchFamily="34" charset="0"/>
              </a:rPr>
              <a:t>AI-GENERATED TESTS</a:t>
            </a:r>
            <a:endPar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Rounded Rectangle 4">
            <a:extLst>
              <a:ext uri="{FF2B5EF4-FFF2-40B4-BE49-F238E27FC236}">
                <a16:creationId xmlns:a16="http://schemas.microsoft.com/office/drawing/2014/main" id="{4D3BE006-6870-6210-F7B4-0AE888EE2841}"/>
              </a:ext>
            </a:extLst>
          </p:cNvPr>
          <p:cNvSpPr/>
          <p:nvPr/>
        </p:nvSpPr>
        <p:spPr>
          <a:xfrm>
            <a:off x="2740664" y="2349403"/>
            <a:ext cx="3291245" cy="610030"/>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050" dirty="0">
                <a:latin typeface="Calibri" panose="020F0502020204030204" pitchFamily="34" charset="0"/>
                <a:ea typeface="Calibri" panose="020F0502020204030204" pitchFamily="34" charset="0"/>
                <a:cs typeface="Calibri" panose="020F0502020204030204" pitchFamily="34" charset="0"/>
              </a:rPr>
              <a:t>⚙️</a:t>
            </a:r>
            <a:r>
              <a:rPr lang="en-IN" sz="825" dirty="0">
                <a:latin typeface="Calibri" panose="020F0502020204030204" pitchFamily="34" charset="0"/>
                <a:ea typeface="Calibri" panose="020F0502020204030204" pitchFamily="34" charset="0"/>
                <a:cs typeface="Calibri" panose="020F0502020204030204" pitchFamily="34" charset="0"/>
              </a:rPr>
              <a:t> </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AUTOMATION</a:t>
            </a:r>
            <a:r>
              <a:rPr sz="900" dirty="0">
                <a:solidFill>
                  <a:schemeClr val="tx1"/>
                </a:solidFill>
                <a:latin typeface="Calibri" panose="020F0502020204030204" pitchFamily="34" charset="0"/>
                <a:ea typeface="Calibri" panose="020F0502020204030204" pitchFamily="34" charset="0"/>
                <a:cs typeface="Calibri" panose="020F0502020204030204" pitchFamily="34" charset="0"/>
              </a:rPr>
              <a:t> ENGINE</a:t>
            </a:r>
            <a:endParaRPr sz="825"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100"/>
            </a:pPr>
            <a:r>
              <a:rPr lang="en-IN" sz="675" b="1" dirty="0">
                <a:solidFill>
                  <a:schemeClr val="tx1"/>
                </a:solidFill>
                <a:latin typeface="Calibri" panose="020F0502020204030204" pitchFamily="34" charset="0"/>
                <a:ea typeface="Calibri" panose="020F0502020204030204" pitchFamily="34" charset="0"/>
                <a:cs typeface="Calibri" panose="020F0502020204030204" pitchFamily="34" charset="0"/>
              </a:rPr>
              <a:t>API </a:t>
            </a:r>
            <a:r>
              <a:rPr sz="675"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675" b="1" dirty="0">
                <a:solidFill>
                  <a:schemeClr val="tx1"/>
                </a:solidFill>
                <a:latin typeface="Calibri" panose="020F0502020204030204" pitchFamily="34" charset="0"/>
                <a:ea typeface="Calibri" panose="020F0502020204030204" pitchFamily="34" charset="0"/>
                <a:cs typeface="Calibri" panose="020F0502020204030204" pitchFamily="34" charset="0"/>
              </a:rPr>
              <a:t>UI </a:t>
            </a:r>
            <a:r>
              <a:rPr sz="675" b="1" dirty="0">
                <a:solidFill>
                  <a:schemeClr val="tx1"/>
                </a:solidFill>
                <a:latin typeface="Calibri" panose="020F0502020204030204" pitchFamily="34" charset="0"/>
                <a:ea typeface="Calibri" panose="020F0502020204030204" pitchFamily="34" charset="0"/>
                <a:cs typeface="Calibri" panose="020F0502020204030204" pitchFamily="34" charset="0"/>
              </a:rPr>
              <a:t>| UI+API | Parallel</a:t>
            </a:r>
          </a:p>
        </p:txBody>
      </p:sp>
      <p:sp>
        <p:nvSpPr>
          <p:cNvPr id="25" name="Rounded Rectangle 5">
            <a:extLst>
              <a:ext uri="{FF2B5EF4-FFF2-40B4-BE49-F238E27FC236}">
                <a16:creationId xmlns:a16="http://schemas.microsoft.com/office/drawing/2014/main" id="{F1D5C33F-398A-D36E-ABB4-55E10DBEB40A}"/>
              </a:ext>
            </a:extLst>
          </p:cNvPr>
          <p:cNvSpPr/>
          <p:nvPr/>
        </p:nvSpPr>
        <p:spPr>
          <a:xfrm>
            <a:off x="6544762" y="2319872"/>
            <a:ext cx="1481839" cy="669091"/>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825" dirty="0">
                <a:latin typeface="Calibri" panose="020F0502020204030204" pitchFamily="34" charset="0"/>
                <a:ea typeface="Calibri" panose="020F0502020204030204" pitchFamily="34" charset="0"/>
                <a:cs typeface="Calibri" panose="020F0502020204030204" pitchFamily="34" charset="0"/>
              </a:rPr>
              <a:t> </a:t>
            </a:r>
            <a:r>
              <a:rPr lang="en-SG" sz="825" dirty="0">
                <a:solidFill>
                  <a:schemeClr val="tx1"/>
                </a:solidFill>
                <a:latin typeface="Calibri" panose="020F0502020204030204" pitchFamily="34" charset="0"/>
                <a:ea typeface="Calibri" panose="020F0502020204030204" pitchFamily="34" charset="0"/>
                <a:cs typeface="Calibri" panose="020F0502020204030204" pitchFamily="34" charset="0"/>
              </a:rPr>
              <a:t>UI / API Applications</a:t>
            </a:r>
            <a:endParaRPr sz="675"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Rounded Rectangle 6">
            <a:extLst>
              <a:ext uri="{FF2B5EF4-FFF2-40B4-BE49-F238E27FC236}">
                <a16:creationId xmlns:a16="http://schemas.microsoft.com/office/drawing/2014/main" id="{62AA731F-35A3-A7F2-37A0-0C32D20A3EEE}"/>
              </a:ext>
            </a:extLst>
          </p:cNvPr>
          <p:cNvSpPr/>
          <p:nvPr/>
        </p:nvSpPr>
        <p:spPr>
          <a:xfrm>
            <a:off x="2474822" y="3139178"/>
            <a:ext cx="968128" cy="569258"/>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API </a:t>
            </a:r>
            <a:r>
              <a:rPr sz="900" dirty="0">
                <a:solidFill>
                  <a:schemeClr val="tx1"/>
                </a:solidFill>
                <a:latin typeface="Calibri" panose="020F0502020204030204" pitchFamily="34" charset="0"/>
                <a:ea typeface="Calibri" panose="020F0502020204030204" pitchFamily="34" charset="0"/>
                <a:cs typeface="Calibri" panose="020F0502020204030204" pitchFamily="34" charset="0"/>
              </a:rPr>
              <a:t>TESTING</a:t>
            </a:r>
          </a:p>
          <a:p>
            <a:pPr algn="ctr">
              <a:defRPr sz="1100"/>
            </a:pPr>
            <a:r>
              <a:rPr sz="750" b="1" dirty="0">
                <a:solidFill>
                  <a:schemeClr val="tx1"/>
                </a:solidFill>
                <a:latin typeface="Calibri" panose="020F0502020204030204" pitchFamily="34" charset="0"/>
                <a:ea typeface="Calibri" panose="020F0502020204030204" pitchFamily="34" charset="0"/>
                <a:cs typeface="Calibri" panose="020F0502020204030204" pitchFamily="34" charset="0"/>
              </a:rPr>
              <a:t>Detect </a:t>
            </a:r>
            <a:r>
              <a:rPr lang="en-IN" sz="750" b="1" dirty="0">
                <a:solidFill>
                  <a:schemeClr val="tx1"/>
                </a:solidFill>
                <a:latin typeface="Calibri" panose="020F0502020204030204" pitchFamily="34" charset="0"/>
                <a:ea typeface="Calibri" panose="020F0502020204030204" pitchFamily="34" charset="0"/>
                <a:cs typeface="Calibri" panose="020F0502020204030204" pitchFamily="34" charset="0"/>
              </a:rPr>
              <a:t>API</a:t>
            </a:r>
            <a:r>
              <a:rPr sz="750" b="1" dirty="0">
                <a:solidFill>
                  <a:schemeClr val="tx1"/>
                </a:solidFill>
                <a:latin typeface="Calibri" panose="020F0502020204030204" pitchFamily="34" charset="0"/>
                <a:ea typeface="Calibri" panose="020F0502020204030204" pitchFamily="34" charset="0"/>
                <a:cs typeface="Calibri" panose="020F0502020204030204" pitchFamily="34" charset="0"/>
              </a:rPr>
              <a:t> changes</a:t>
            </a:r>
          </a:p>
        </p:txBody>
      </p:sp>
      <p:sp>
        <p:nvSpPr>
          <p:cNvPr id="27" name="Rounded Rectangle 7">
            <a:extLst>
              <a:ext uri="{FF2B5EF4-FFF2-40B4-BE49-F238E27FC236}">
                <a16:creationId xmlns:a16="http://schemas.microsoft.com/office/drawing/2014/main" id="{4655FA8B-BDD7-AFE5-7945-716E16F8CDB5}"/>
              </a:ext>
            </a:extLst>
          </p:cNvPr>
          <p:cNvSpPr/>
          <p:nvPr/>
        </p:nvSpPr>
        <p:spPr>
          <a:xfrm>
            <a:off x="3845883" y="3139179"/>
            <a:ext cx="1080807" cy="575914"/>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UI TESTING</a:t>
            </a:r>
            <a:endParaRPr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100"/>
            </a:pPr>
            <a:r>
              <a:rPr sz="788" b="1" dirty="0">
                <a:solidFill>
                  <a:schemeClr val="tx1"/>
                </a:solidFill>
                <a:latin typeface="Calibri" panose="020F0502020204030204" pitchFamily="34" charset="0"/>
                <a:ea typeface="Calibri" panose="020F0502020204030204" pitchFamily="34" charset="0"/>
                <a:cs typeface="Calibri" panose="020F0502020204030204" pitchFamily="34" charset="0"/>
              </a:rPr>
              <a:t>Run </a:t>
            </a:r>
            <a:r>
              <a:rPr lang="en-IN" sz="788" b="1" dirty="0" err="1">
                <a:solidFill>
                  <a:schemeClr val="tx1"/>
                </a:solidFill>
                <a:latin typeface="Calibri" panose="020F0502020204030204" pitchFamily="34" charset="0"/>
                <a:ea typeface="Calibri" panose="020F0502020204030204" pitchFamily="34" charset="0"/>
                <a:cs typeface="Calibri" panose="020F0502020204030204" pitchFamily="34" charset="0"/>
              </a:rPr>
              <a:t>ri</a:t>
            </a:r>
            <a:r>
              <a:rPr sz="788" b="1" dirty="0" err="1">
                <a:solidFill>
                  <a:schemeClr val="tx1"/>
                </a:solidFill>
                <a:latin typeface="Calibri" panose="020F0502020204030204" pitchFamily="34" charset="0"/>
                <a:ea typeface="Calibri" panose="020F0502020204030204" pitchFamily="34" charset="0"/>
                <a:cs typeface="Calibri" panose="020F0502020204030204" pitchFamily="34" charset="0"/>
              </a:rPr>
              <a:t>ght</a:t>
            </a:r>
            <a:r>
              <a:rPr sz="788" b="1" dirty="0">
                <a:solidFill>
                  <a:schemeClr val="tx1"/>
                </a:solidFill>
                <a:latin typeface="Calibri" panose="020F0502020204030204" pitchFamily="34" charset="0"/>
                <a:ea typeface="Calibri" panose="020F0502020204030204" pitchFamily="34" charset="0"/>
                <a:cs typeface="Calibri" panose="020F0502020204030204" pitchFamily="34" charset="0"/>
              </a:rPr>
              <a:t> test</a:t>
            </a:r>
            <a:r>
              <a:rPr lang="en-IN" sz="788" b="1" dirty="0">
                <a:solidFill>
                  <a:schemeClr val="tx1"/>
                </a:solidFill>
                <a:latin typeface="Calibri" panose="020F0502020204030204" pitchFamily="34" charset="0"/>
                <a:ea typeface="Calibri" panose="020F0502020204030204" pitchFamily="34" charset="0"/>
                <a:cs typeface="Calibri" panose="020F0502020204030204" pitchFamily="34" charset="0"/>
              </a:rPr>
              <a:t>s</a:t>
            </a:r>
            <a:endParaRPr sz="788"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Rounded Rectangle 8">
            <a:extLst>
              <a:ext uri="{FF2B5EF4-FFF2-40B4-BE49-F238E27FC236}">
                <a16:creationId xmlns:a16="http://schemas.microsoft.com/office/drawing/2014/main" id="{978A67BD-CE72-D381-310F-5F407238CBA6}"/>
              </a:ext>
            </a:extLst>
          </p:cNvPr>
          <p:cNvSpPr/>
          <p:nvPr/>
        </p:nvSpPr>
        <p:spPr>
          <a:xfrm>
            <a:off x="5185993" y="3139178"/>
            <a:ext cx="1175690" cy="575879"/>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lang="en-IN" sz="900" dirty="0">
                <a:solidFill>
                  <a:schemeClr val="tx1"/>
                </a:solidFill>
                <a:latin typeface="Calibri" panose="020F0502020204030204" pitchFamily="34" charset="0"/>
                <a:ea typeface="Calibri" panose="020F0502020204030204" pitchFamily="34" charset="0"/>
                <a:cs typeface="Calibri" panose="020F0502020204030204" pitchFamily="34" charset="0"/>
              </a:rPr>
              <a:t>SHARED TESTING</a:t>
            </a:r>
            <a:endParaRPr sz="9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defRPr sz="1100"/>
            </a:pPr>
            <a:r>
              <a:rPr lang="en-IN" sz="788" b="1" dirty="0">
                <a:solidFill>
                  <a:schemeClr val="tx1"/>
                </a:solidFill>
                <a:latin typeface="Calibri" panose="020F0502020204030204" pitchFamily="34" charset="0"/>
                <a:ea typeface="Calibri" panose="020F0502020204030204" pitchFamily="34" charset="0"/>
                <a:cs typeface="Calibri" panose="020F0502020204030204" pitchFamily="34" charset="0"/>
              </a:rPr>
              <a:t>End to End run</a:t>
            </a:r>
            <a:endParaRPr sz="788"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ounded Rectangle 9">
            <a:extLst>
              <a:ext uri="{FF2B5EF4-FFF2-40B4-BE49-F238E27FC236}">
                <a16:creationId xmlns:a16="http://schemas.microsoft.com/office/drawing/2014/main" id="{27ACAA29-5663-5EE8-097D-761C98203591}"/>
              </a:ext>
            </a:extLst>
          </p:cNvPr>
          <p:cNvSpPr/>
          <p:nvPr/>
        </p:nvSpPr>
        <p:spPr>
          <a:xfrm>
            <a:off x="1310983" y="3746727"/>
            <a:ext cx="1042753" cy="585850"/>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sz="900" dirty="0">
                <a:solidFill>
                  <a:schemeClr val="tx1"/>
                </a:solidFill>
                <a:latin typeface="Calibri" panose="020F0502020204030204" pitchFamily="34" charset="0"/>
                <a:ea typeface="Calibri" panose="020F0502020204030204" pitchFamily="34" charset="0"/>
                <a:cs typeface="Calibri" panose="020F0502020204030204" pitchFamily="34" charset="0"/>
              </a:rPr>
              <a:t>CI/CD PIPELINE</a:t>
            </a:r>
          </a:p>
          <a:p>
            <a:pPr algn="ctr">
              <a:defRPr sz="1100"/>
            </a:pPr>
            <a:r>
              <a:rPr sz="750" b="1" dirty="0">
                <a:solidFill>
                  <a:schemeClr val="tx1"/>
                </a:solidFill>
                <a:latin typeface="Calibri" panose="020F0502020204030204" pitchFamily="34" charset="0"/>
                <a:ea typeface="Calibri" panose="020F0502020204030204" pitchFamily="34" charset="0"/>
                <a:cs typeface="Calibri" panose="020F0502020204030204" pitchFamily="34" charset="0"/>
              </a:rPr>
              <a:t>Continuous Integration</a:t>
            </a:r>
          </a:p>
        </p:txBody>
      </p:sp>
      <p:sp>
        <p:nvSpPr>
          <p:cNvPr id="30" name="Rounded Rectangle 10">
            <a:extLst>
              <a:ext uri="{FF2B5EF4-FFF2-40B4-BE49-F238E27FC236}">
                <a16:creationId xmlns:a16="http://schemas.microsoft.com/office/drawing/2014/main" id="{4EAB605F-BDED-879C-F872-35889FB4E301}"/>
              </a:ext>
            </a:extLst>
          </p:cNvPr>
          <p:cNvSpPr/>
          <p:nvPr/>
        </p:nvSpPr>
        <p:spPr>
          <a:xfrm>
            <a:off x="3126539" y="3973091"/>
            <a:ext cx="2400300" cy="465167"/>
          </a:xfrm>
          <a:prstGeom prst="roundRect">
            <a:avLst/>
          </a:prstGeom>
          <a:solidFill>
            <a:srgbClr val="FFFFFF"/>
          </a:solidFill>
          <a:ln w="285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200" dirty="0">
                <a:latin typeface="Calibri" panose="020F0502020204030204" pitchFamily="34" charset="0"/>
                <a:ea typeface="Calibri" panose="020F0502020204030204" pitchFamily="34" charset="0"/>
                <a:cs typeface="Calibri" panose="020F0502020204030204" pitchFamily="34" charset="0"/>
              </a:rPr>
              <a:t>📊</a:t>
            </a:r>
            <a:r>
              <a:rPr lang="en-IN" sz="900" dirty="0">
                <a:latin typeface="Calibri" panose="020F0502020204030204" pitchFamily="34" charset="0"/>
                <a:ea typeface="Calibri" panose="020F0502020204030204" pitchFamily="34" charset="0"/>
                <a:cs typeface="Calibri" panose="020F0502020204030204" pitchFamily="34" charset="0"/>
              </a:rPr>
              <a:t> </a:t>
            </a:r>
            <a:r>
              <a:rPr sz="900" dirty="0">
                <a:solidFill>
                  <a:schemeClr val="tx1"/>
                </a:solidFill>
                <a:latin typeface="Calibri" panose="020F0502020204030204" pitchFamily="34" charset="0"/>
                <a:ea typeface="Calibri" panose="020F0502020204030204" pitchFamily="34" charset="0"/>
                <a:cs typeface="Calibri" panose="020F0502020204030204" pitchFamily="34" charset="0"/>
              </a:rPr>
              <a:t>REPORTS &amp; INSIGHTS</a:t>
            </a:r>
          </a:p>
          <a:p>
            <a:pPr algn="ctr">
              <a:defRPr sz="1100"/>
            </a:pPr>
            <a:r>
              <a:rPr lang="en-IN" sz="750" b="1" dirty="0">
                <a:solidFill>
                  <a:schemeClr val="tx1"/>
                </a:solidFill>
                <a:latin typeface="Calibri" panose="020F0502020204030204" pitchFamily="34" charset="0"/>
                <a:ea typeface="Calibri" panose="020F0502020204030204" pitchFamily="34" charset="0"/>
                <a:cs typeface="Calibri" panose="020F0502020204030204" pitchFamily="34" charset="0"/>
              </a:rPr>
              <a:t>Allure Reporting</a:t>
            </a:r>
            <a:endParaRPr sz="75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31" name="Straight Arrow Connector 30">
            <a:extLst>
              <a:ext uri="{FF2B5EF4-FFF2-40B4-BE49-F238E27FC236}">
                <a16:creationId xmlns:a16="http://schemas.microsoft.com/office/drawing/2014/main" id="{6FEB814B-4BD7-6061-A924-1E7082E6B782}"/>
              </a:ext>
            </a:extLst>
          </p:cNvPr>
          <p:cNvCxnSpPr>
            <a:cxnSpLocks/>
          </p:cNvCxnSpPr>
          <p:nvPr/>
        </p:nvCxnSpPr>
        <p:spPr>
          <a:xfrm>
            <a:off x="2438525" y="1164293"/>
            <a:ext cx="302140"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A182D93-C6A1-4ACB-A494-32512366C301}"/>
              </a:ext>
            </a:extLst>
          </p:cNvPr>
          <p:cNvCxnSpPr>
            <a:cxnSpLocks/>
          </p:cNvCxnSpPr>
          <p:nvPr/>
        </p:nvCxnSpPr>
        <p:spPr>
          <a:xfrm>
            <a:off x="4331362" y="2169657"/>
            <a:ext cx="0" cy="18853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A77967E-16BB-6FEC-871B-26DCC8DFE3EA}"/>
              </a:ext>
            </a:extLst>
          </p:cNvPr>
          <p:cNvCxnSpPr>
            <a:cxnSpLocks/>
          </p:cNvCxnSpPr>
          <p:nvPr/>
        </p:nvCxnSpPr>
        <p:spPr>
          <a:xfrm>
            <a:off x="4331362" y="2959433"/>
            <a:ext cx="0" cy="18853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03F8EE4-A145-FFC6-40B4-6DBB321EEA19}"/>
              </a:ext>
            </a:extLst>
          </p:cNvPr>
          <p:cNvCxnSpPr>
            <a:cxnSpLocks/>
            <a:endCxn id="30" idx="0"/>
          </p:cNvCxnSpPr>
          <p:nvPr/>
        </p:nvCxnSpPr>
        <p:spPr>
          <a:xfrm>
            <a:off x="4326689" y="3715057"/>
            <a:ext cx="0" cy="25803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64D9BE6-2068-38A9-2930-16C06D86A168}"/>
              </a:ext>
            </a:extLst>
          </p:cNvPr>
          <p:cNvCxnSpPr>
            <a:cxnSpLocks/>
            <a:stCxn id="24" idx="3"/>
            <a:endCxn id="25" idx="1"/>
          </p:cNvCxnSpPr>
          <p:nvPr/>
        </p:nvCxnSpPr>
        <p:spPr>
          <a:xfrm flipV="1">
            <a:off x="6031909" y="2654418"/>
            <a:ext cx="512853" cy="1"/>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134D019-F98F-8E90-CD3E-5F8F600CC8DF}"/>
              </a:ext>
            </a:extLst>
          </p:cNvPr>
          <p:cNvCxnSpPr>
            <a:cxnSpLocks/>
          </p:cNvCxnSpPr>
          <p:nvPr/>
        </p:nvCxnSpPr>
        <p:spPr>
          <a:xfrm flipV="1">
            <a:off x="1776950" y="2627412"/>
            <a:ext cx="0" cy="1023533"/>
          </a:xfrm>
          <a:prstGeom prst="straightConnector1">
            <a:avLst/>
          </a:prstGeom>
          <a:ln>
            <a:solidFill>
              <a:schemeClr val="tx2"/>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ADFD1F4-C2F4-3872-BD7F-0990CFFA7666}"/>
              </a:ext>
            </a:extLst>
          </p:cNvPr>
          <p:cNvCxnSpPr>
            <a:cxnSpLocks/>
          </p:cNvCxnSpPr>
          <p:nvPr/>
        </p:nvCxnSpPr>
        <p:spPr>
          <a:xfrm>
            <a:off x="2397032" y="4205000"/>
            <a:ext cx="671024" cy="0"/>
          </a:xfrm>
          <a:prstGeom prst="straightConnector1">
            <a:avLst/>
          </a:prstGeom>
          <a:ln>
            <a:solidFill>
              <a:schemeClr val="tx2"/>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2" name="Left Bracket 51">
            <a:extLst>
              <a:ext uri="{FF2B5EF4-FFF2-40B4-BE49-F238E27FC236}">
                <a16:creationId xmlns:a16="http://schemas.microsoft.com/office/drawing/2014/main" id="{DA42B452-16C1-C4D3-CE22-8812757202BE}"/>
              </a:ext>
            </a:extLst>
          </p:cNvPr>
          <p:cNvSpPr/>
          <p:nvPr/>
        </p:nvSpPr>
        <p:spPr>
          <a:xfrm rot="16200000">
            <a:off x="4311862" y="2266459"/>
            <a:ext cx="109103" cy="3006299"/>
          </a:xfrm>
          <a:prstGeom prst="leftBracket">
            <a:avLst>
              <a:gd name="adj" fmla="val 145835"/>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013">
              <a:latin typeface="Calibri" panose="020F0502020204030204" pitchFamily="34" charset="0"/>
              <a:ea typeface="Calibri" panose="020F0502020204030204" pitchFamily="34" charset="0"/>
              <a:cs typeface="Calibri" panose="020F0502020204030204" pitchFamily="34" charset="0"/>
            </a:endParaRPr>
          </a:p>
        </p:txBody>
      </p:sp>
      <p:sp>
        <p:nvSpPr>
          <p:cNvPr id="53" name="Left Bracket 52">
            <a:extLst>
              <a:ext uri="{FF2B5EF4-FFF2-40B4-BE49-F238E27FC236}">
                <a16:creationId xmlns:a16="http://schemas.microsoft.com/office/drawing/2014/main" id="{AD5628CE-9155-EFE4-1215-5215A3D18B25}"/>
              </a:ext>
            </a:extLst>
          </p:cNvPr>
          <p:cNvSpPr/>
          <p:nvPr/>
        </p:nvSpPr>
        <p:spPr>
          <a:xfrm rot="5400000">
            <a:off x="4291670" y="1561287"/>
            <a:ext cx="115725" cy="3040061"/>
          </a:xfrm>
          <a:prstGeom prst="leftBracket">
            <a:avLst>
              <a:gd name="adj" fmla="val 145835"/>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1013">
              <a:latin typeface="Calibri" panose="020F0502020204030204" pitchFamily="34" charset="0"/>
              <a:ea typeface="Calibri" panose="020F0502020204030204" pitchFamily="34" charset="0"/>
              <a:cs typeface="Calibri" panose="020F0502020204030204" pitchFamily="34" charset="0"/>
            </a:endParaRPr>
          </a:p>
        </p:txBody>
      </p:sp>
      <p:pic>
        <p:nvPicPr>
          <p:cNvPr id="54" name="Image 1" descr="Cmd Terminal with solid fill">
            <a:extLst>
              <a:ext uri="{FF2B5EF4-FFF2-40B4-BE49-F238E27FC236}">
                <a16:creationId xmlns:a16="http://schemas.microsoft.com/office/drawing/2014/main" id="{BB0D3C6B-85C8-265F-9425-8FD584A419D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874143" y="1223680"/>
            <a:ext cx="247947" cy="247947"/>
          </a:xfrm>
          <a:prstGeom prst="rect">
            <a:avLst/>
          </a:prstGeom>
        </p:spPr>
      </p:pic>
      <p:pic>
        <p:nvPicPr>
          <p:cNvPr id="55" name="Image 1" descr="Clipboard with solid fill">
            <a:extLst>
              <a:ext uri="{FF2B5EF4-FFF2-40B4-BE49-F238E27FC236}">
                <a16:creationId xmlns:a16="http://schemas.microsoft.com/office/drawing/2014/main" id="{1E08C135-4110-4680-CD7B-195BE81D978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046831" y="1223680"/>
            <a:ext cx="247947" cy="247947"/>
          </a:xfrm>
          <a:prstGeom prst="rect">
            <a:avLst/>
          </a:prstGeom>
        </p:spPr>
      </p:pic>
      <p:pic>
        <p:nvPicPr>
          <p:cNvPr id="56" name="Image 1" descr="Adhesive Bandage with solid fill">
            <a:extLst>
              <a:ext uri="{FF2B5EF4-FFF2-40B4-BE49-F238E27FC236}">
                <a16:creationId xmlns:a16="http://schemas.microsoft.com/office/drawing/2014/main" id="{B3841506-5CE2-2348-3F45-9A25660B55C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4938046" y="1229364"/>
            <a:ext cx="247947" cy="247947"/>
          </a:xfrm>
          <a:prstGeom prst="rect">
            <a:avLst/>
          </a:prstGeom>
        </p:spPr>
      </p:pic>
      <p:cxnSp>
        <p:nvCxnSpPr>
          <p:cNvPr id="57" name="Straight Arrow Connector 56">
            <a:extLst>
              <a:ext uri="{FF2B5EF4-FFF2-40B4-BE49-F238E27FC236}">
                <a16:creationId xmlns:a16="http://schemas.microsoft.com/office/drawing/2014/main" id="{53FF8262-69C8-4227-BCA5-A4C9F844AB05}"/>
              </a:ext>
            </a:extLst>
          </p:cNvPr>
          <p:cNvCxnSpPr/>
          <p:nvPr/>
        </p:nvCxnSpPr>
        <p:spPr>
          <a:xfrm>
            <a:off x="4326689" y="1513472"/>
            <a:ext cx="0" cy="162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86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B2834-2DD6-15E5-C26D-E4434D074F9E}"/>
            </a:ext>
          </a:extLst>
        </p:cNvPr>
        <p:cNvGrpSpPr/>
        <p:nvPr/>
      </p:nvGrpSpPr>
      <p:grpSpPr>
        <a:xfrm>
          <a:off x="0" y="0"/>
          <a:ext cx="0" cy="0"/>
          <a:chOff x="0" y="0"/>
          <a:chExt cx="0" cy="0"/>
        </a:xfrm>
      </p:grpSpPr>
      <p:sp>
        <p:nvSpPr>
          <p:cNvPr id="84" name="Shape 0">
            <a:extLst>
              <a:ext uri="{FF2B5EF4-FFF2-40B4-BE49-F238E27FC236}">
                <a16:creationId xmlns:a16="http://schemas.microsoft.com/office/drawing/2014/main" id="{B7135FC8-E13B-0FB3-61C1-BA897976E4B7}"/>
              </a:ext>
            </a:extLst>
          </p:cNvPr>
          <p:cNvSpPr/>
          <p:nvPr/>
        </p:nvSpPr>
        <p:spPr>
          <a:xfrm>
            <a:off x="0" y="0"/>
            <a:ext cx="9144000" cy="492868"/>
          </a:xfrm>
          <a:prstGeom prst="rect">
            <a:avLst/>
          </a:prstGeom>
          <a:solidFill>
            <a:srgbClr val="C00000"/>
          </a:solidFill>
          <a:ln w="12700">
            <a:noFill/>
            <a:prstDash val="solid"/>
          </a:ln>
        </p:spPr>
        <p:txBody>
          <a:bodyPr/>
          <a:lstStyle/>
          <a:p>
            <a:endParaRPr lang="en-SG"/>
          </a:p>
        </p:txBody>
      </p:sp>
      <p:sp>
        <p:nvSpPr>
          <p:cNvPr id="3" name="Text 1">
            <a:extLst>
              <a:ext uri="{FF2B5EF4-FFF2-40B4-BE49-F238E27FC236}">
                <a16:creationId xmlns:a16="http://schemas.microsoft.com/office/drawing/2014/main" id="{6CE9226E-7B56-06C0-61B9-A3A86EA82B02}"/>
              </a:ext>
            </a:extLst>
          </p:cNvPr>
          <p:cNvSpPr/>
          <p:nvPr/>
        </p:nvSpPr>
        <p:spPr>
          <a:xfrm>
            <a:off x="274319" y="0"/>
            <a:ext cx="4297681" cy="389106"/>
          </a:xfrm>
          <a:prstGeom prst="rect">
            <a:avLst/>
          </a:prstGeom>
          <a:noFill/>
          <a:ln/>
        </p:spPr>
        <p:txBody>
          <a:bodyPr wrap="square" lIns="0" tIns="0" rIns="0" bIns="0" rtlCol="0" anchor="ctr"/>
          <a:lstStyle/>
          <a:p>
            <a:pPr marL="0" indent="0">
              <a:buNone/>
            </a:pPr>
            <a:r>
              <a:rPr lang="en-SG" b="1" dirty="0">
                <a:solidFill>
                  <a:srgbClr val="FFFFFF"/>
                </a:solidFill>
                <a:latin typeface="Calibri" pitchFamily="34" charset="0"/>
                <a:ea typeface="Calibri" pitchFamily="34" charset="-122"/>
                <a:cs typeface="Calibri" pitchFamily="34" charset="-120"/>
              </a:rPr>
              <a:t>Projected Benefits</a:t>
            </a:r>
            <a:endParaRPr lang="en-SG" sz="1800" b="1" dirty="0">
              <a:solidFill>
                <a:srgbClr val="FFFFFF"/>
              </a:solidFill>
              <a:latin typeface="Calibri" pitchFamily="34" charset="0"/>
              <a:ea typeface="Calibri" pitchFamily="34" charset="-122"/>
              <a:cs typeface="Calibri" pitchFamily="34" charset="-120"/>
            </a:endParaRPr>
          </a:p>
        </p:txBody>
      </p:sp>
      <p:sp>
        <p:nvSpPr>
          <p:cNvPr id="4" name="Text 11">
            <a:extLst>
              <a:ext uri="{FF2B5EF4-FFF2-40B4-BE49-F238E27FC236}">
                <a16:creationId xmlns:a16="http://schemas.microsoft.com/office/drawing/2014/main" id="{A27F0C3B-BD8C-9459-FE1B-E275EB1E1585}"/>
              </a:ext>
            </a:extLst>
          </p:cNvPr>
          <p:cNvSpPr/>
          <p:nvPr/>
        </p:nvSpPr>
        <p:spPr>
          <a:xfrm>
            <a:off x="454741" y="1036216"/>
            <a:ext cx="2660237" cy="232747"/>
          </a:xfrm>
          <a:prstGeom prst="rect">
            <a:avLst/>
          </a:prstGeom>
          <a:noFill/>
          <a:ln/>
        </p:spPr>
        <p:txBody>
          <a:bodyPr wrap="square" lIns="0" tIns="0" rIns="0" bIns="0" rtlCol="0" anchor="t">
            <a:normAutofit/>
          </a:bodyPr>
          <a:lstStyle/>
          <a:p>
            <a:pPr>
              <a:lnSpc>
                <a:spcPct val="124000"/>
              </a:lnSpc>
              <a:buSzPct val="100000"/>
            </a:pPr>
            <a:r>
              <a:rPr lang="en-US" sz="1050" b="1" dirty="0">
                <a:latin typeface="Calibri" panose="020F0502020204030204" pitchFamily="34" charset="0"/>
                <a:ea typeface="Calibri" panose="020F0502020204030204" pitchFamily="34" charset="0"/>
                <a:cs typeface="Calibri" panose="020F0502020204030204" pitchFamily="34" charset="0"/>
              </a:rPr>
              <a:t>Faster Automation script development</a:t>
            </a:r>
          </a:p>
        </p:txBody>
      </p:sp>
      <p:pic>
        <p:nvPicPr>
          <p:cNvPr id="5" name="Image 1" descr="preencoded.png">
            <a:extLst>
              <a:ext uri="{FF2B5EF4-FFF2-40B4-BE49-F238E27FC236}">
                <a16:creationId xmlns:a16="http://schemas.microsoft.com/office/drawing/2014/main" id="{82632350-BBC7-6E60-928D-968F505671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669" y="1031858"/>
            <a:ext cx="247947" cy="247947"/>
          </a:xfrm>
          <a:prstGeom prst="rect">
            <a:avLst/>
          </a:prstGeom>
        </p:spPr>
      </p:pic>
      <p:sp>
        <p:nvSpPr>
          <p:cNvPr id="6" name="Text 11">
            <a:extLst>
              <a:ext uri="{FF2B5EF4-FFF2-40B4-BE49-F238E27FC236}">
                <a16:creationId xmlns:a16="http://schemas.microsoft.com/office/drawing/2014/main" id="{1BE71372-E5B8-048A-52E7-DE1B3E02DA6A}"/>
              </a:ext>
            </a:extLst>
          </p:cNvPr>
          <p:cNvSpPr/>
          <p:nvPr/>
        </p:nvSpPr>
        <p:spPr>
          <a:xfrm>
            <a:off x="3368787" y="1047058"/>
            <a:ext cx="2660237" cy="232747"/>
          </a:xfrm>
          <a:prstGeom prst="rect">
            <a:avLst/>
          </a:prstGeom>
          <a:noFill/>
          <a:ln/>
        </p:spPr>
        <p:txBody>
          <a:bodyPr wrap="square" lIns="0" tIns="0" rIns="0" bIns="0" rtlCol="0" anchor="t">
            <a:normAutofit/>
          </a:bodyPr>
          <a:lstStyle/>
          <a:p>
            <a:pPr>
              <a:lnSpc>
                <a:spcPct val="124000"/>
              </a:lnSpc>
              <a:buSzPct val="100000"/>
            </a:pPr>
            <a:r>
              <a:rPr lang="en-US" sz="1050" b="1" dirty="0">
                <a:latin typeface="Calibri" panose="020F0502020204030204" pitchFamily="34" charset="0"/>
                <a:ea typeface="Calibri" panose="020F0502020204030204" pitchFamily="34" charset="0"/>
                <a:cs typeface="Calibri" panose="020F0502020204030204" pitchFamily="34" charset="0"/>
              </a:rPr>
              <a:t>Reduced manual coding effort</a:t>
            </a:r>
          </a:p>
        </p:txBody>
      </p:sp>
      <p:sp>
        <p:nvSpPr>
          <p:cNvPr id="7" name="Text 11">
            <a:extLst>
              <a:ext uri="{FF2B5EF4-FFF2-40B4-BE49-F238E27FC236}">
                <a16:creationId xmlns:a16="http://schemas.microsoft.com/office/drawing/2014/main" id="{12E5F852-33FE-81CE-925D-3BD0BE08CA71}"/>
              </a:ext>
            </a:extLst>
          </p:cNvPr>
          <p:cNvSpPr/>
          <p:nvPr/>
        </p:nvSpPr>
        <p:spPr>
          <a:xfrm>
            <a:off x="454741" y="1447182"/>
            <a:ext cx="2660237" cy="232747"/>
          </a:xfrm>
          <a:prstGeom prst="rect">
            <a:avLst/>
          </a:prstGeom>
          <a:noFill/>
          <a:ln/>
        </p:spPr>
        <p:txBody>
          <a:bodyPr wrap="square" lIns="0" tIns="0" rIns="0" bIns="0" rtlCol="0" anchor="t">
            <a:normAutofit/>
          </a:bodyPr>
          <a:lstStyle/>
          <a:p>
            <a:pPr>
              <a:lnSpc>
                <a:spcPct val="124000"/>
              </a:lnSpc>
              <a:buSzPct val="100000"/>
            </a:pPr>
            <a:r>
              <a:rPr lang="en-US" sz="1050" b="1" dirty="0">
                <a:latin typeface="Calibri" panose="020F0502020204030204" pitchFamily="34" charset="0"/>
                <a:ea typeface="Calibri" panose="020F0502020204030204" pitchFamily="34" charset="0"/>
                <a:cs typeface="Calibri" panose="020F0502020204030204" pitchFamily="34" charset="0"/>
              </a:rPr>
              <a:t>Consistent and Standardized code</a:t>
            </a:r>
          </a:p>
          <a:p>
            <a:pPr>
              <a:lnSpc>
                <a:spcPct val="124000"/>
              </a:lnSpc>
              <a:buSzPct val="100000"/>
            </a:pPr>
            <a:endParaRPr lang="en-US" sz="1200"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11">
            <a:extLst>
              <a:ext uri="{FF2B5EF4-FFF2-40B4-BE49-F238E27FC236}">
                <a16:creationId xmlns:a16="http://schemas.microsoft.com/office/drawing/2014/main" id="{3E5FB6CC-628E-8116-1EBB-67BA82980C2A}"/>
              </a:ext>
            </a:extLst>
          </p:cNvPr>
          <p:cNvSpPr/>
          <p:nvPr/>
        </p:nvSpPr>
        <p:spPr>
          <a:xfrm>
            <a:off x="3368787" y="1447182"/>
            <a:ext cx="2660237" cy="232747"/>
          </a:xfrm>
          <a:prstGeom prst="rect">
            <a:avLst/>
          </a:prstGeom>
          <a:noFill/>
          <a:ln/>
        </p:spPr>
        <p:txBody>
          <a:bodyPr wrap="square" lIns="0" tIns="0" rIns="0" bIns="0" rtlCol="0" anchor="t">
            <a:normAutofit/>
          </a:bodyPr>
          <a:lstStyle/>
          <a:p>
            <a:pPr>
              <a:lnSpc>
                <a:spcPct val="124000"/>
              </a:lnSpc>
              <a:buSzPct val="100000"/>
            </a:pPr>
            <a:r>
              <a:rPr lang="en-US" sz="1050" b="1" dirty="0">
                <a:latin typeface="Calibri" panose="020F0502020204030204" pitchFamily="34" charset="0"/>
                <a:ea typeface="Calibri" panose="020F0502020204030204" pitchFamily="34" charset="0"/>
                <a:cs typeface="Calibri" panose="020F0502020204030204" pitchFamily="34" charset="0"/>
              </a:rPr>
              <a:t>Improved QA productivity</a:t>
            </a:r>
          </a:p>
        </p:txBody>
      </p:sp>
      <p:sp>
        <p:nvSpPr>
          <p:cNvPr id="9" name="Text 11">
            <a:extLst>
              <a:ext uri="{FF2B5EF4-FFF2-40B4-BE49-F238E27FC236}">
                <a16:creationId xmlns:a16="http://schemas.microsoft.com/office/drawing/2014/main" id="{3F2F11EC-4107-D097-0CE1-3A988998986B}"/>
              </a:ext>
            </a:extLst>
          </p:cNvPr>
          <p:cNvSpPr/>
          <p:nvPr/>
        </p:nvSpPr>
        <p:spPr>
          <a:xfrm>
            <a:off x="5811007" y="1057339"/>
            <a:ext cx="2660237" cy="232747"/>
          </a:xfrm>
          <a:prstGeom prst="rect">
            <a:avLst/>
          </a:prstGeom>
          <a:noFill/>
          <a:ln/>
        </p:spPr>
        <p:txBody>
          <a:bodyPr wrap="square" lIns="0" tIns="0" rIns="0" bIns="0" rtlCol="0" anchor="t">
            <a:normAutofit/>
          </a:bodyPr>
          <a:lstStyle/>
          <a:p>
            <a:pPr>
              <a:lnSpc>
                <a:spcPct val="124000"/>
              </a:lnSpc>
              <a:buSzPct val="100000"/>
            </a:pPr>
            <a:r>
              <a:rPr lang="en-US" sz="1050" b="1" dirty="0">
                <a:latin typeface="Calibri" panose="020F0502020204030204" pitchFamily="34" charset="0"/>
                <a:ea typeface="Calibri" panose="020F0502020204030204" pitchFamily="34" charset="0"/>
                <a:cs typeface="Calibri" panose="020F0502020204030204" pitchFamily="34" charset="0"/>
              </a:rPr>
              <a:t>Accelerated automation delivery</a:t>
            </a:r>
          </a:p>
        </p:txBody>
      </p:sp>
      <p:sp>
        <p:nvSpPr>
          <p:cNvPr id="10" name="TextBox 9">
            <a:extLst>
              <a:ext uri="{FF2B5EF4-FFF2-40B4-BE49-F238E27FC236}">
                <a16:creationId xmlns:a16="http://schemas.microsoft.com/office/drawing/2014/main" id="{9FFA9805-A948-20AE-F6D5-9D04F266EA35}"/>
              </a:ext>
            </a:extLst>
          </p:cNvPr>
          <p:cNvSpPr txBox="1"/>
          <p:nvPr/>
        </p:nvSpPr>
        <p:spPr>
          <a:xfrm>
            <a:off x="2981470" y="1001720"/>
            <a:ext cx="434942" cy="248209"/>
          </a:xfrm>
          <a:prstGeom prst="rect">
            <a:avLst/>
          </a:prstGeom>
          <a:noFill/>
        </p:spPr>
        <p:txBody>
          <a:bodyPr wrap="square">
            <a:spAutoFit/>
          </a:bodyPr>
          <a:lstStyle/>
          <a:p>
            <a:r>
              <a:rPr lang="en-IN" sz="1013" dirty="0">
                <a:latin typeface="Calibri" panose="020F0502020204030204" pitchFamily="34" charset="0"/>
                <a:ea typeface="Calibri" panose="020F0502020204030204" pitchFamily="34" charset="0"/>
                <a:cs typeface="Calibri" panose="020F0502020204030204" pitchFamily="34" charset="0"/>
              </a:rPr>
              <a:t>👨‍💻</a:t>
            </a:r>
          </a:p>
        </p:txBody>
      </p:sp>
      <p:sp>
        <p:nvSpPr>
          <p:cNvPr id="11" name="TextBox 10">
            <a:extLst>
              <a:ext uri="{FF2B5EF4-FFF2-40B4-BE49-F238E27FC236}">
                <a16:creationId xmlns:a16="http://schemas.microsoft.com/office/drawing/2014/main" id="{53843886-7D85-075E-8911-F85F9BD3A69E}"/>
              </a:ext>
            </a:extLst>
          </p:cNvPr>
          <p:cNvSpPr txBox="1"/>
          <p:nvPr/>
        </p:nvSpPr>
        <p:spPr>
          <a:xfrm>
            <a:off x="64096" y="1451977"/>
            <a:ext cx="507131" cy="248209"/>
          </a:xfrm>
          <a:prstGeom prst="rect">
            <a:avLst/>
          </a:prstGeom>
          <a:noFill/>
        </p:spPr>
        <p:txBody>
          <a:bodyPr wrap="square">
            <a:spAutoFit/>
          </a:bodyPr>
          <a:lstStyle/>
          <a:p>
            <a:r>
              <a:rPr lang="en-IN" sz="1013" dirty="0">
                <a:latin typeface="Calibri" panose="020F0502020204030204" pitchFamily="34" charset="0"/>
                <a:ea typeface="Calibri" panose="020F0502020204030204" pitchFamily="34" charset="0"/>
                <a:cs typeface="Calibri" panose="020F0502020204030204" pitchFamily="34" charset="0"/>
              </a:rPr>
              <a:t>📄</a:t>
            </a:r>
          </a:p>
        </p:txBody>
      </p:sp>
      <p:sp>
        <p:nvSpPr>
          <p:cNvPr id="12" name="TextBox 11">
            <a:extLst>
              <a:ext uri="{FF2B5EF4-FFF2-40B4-BE49-F238E27FC236}">
                <a16:creationId xmlns:a16="http://schemas.microsoft.com/office/drawing/2014/main" id="{17AB10F5-FDF8-5B6E-EE4B-22DC25EFB987}"/>
              </a:ext>
            </a:extLst>
          </p:cNvPr>
          <p:cNvSpPr txBox="1"/>
          <p:nvPr/>
        </p:nvSpPr>
        <p:spPr>
          <a:xfrm>
            <a:off x="2978141" y="1469581"/>
            <a:ext cx="434942" cy="248209"/>
          </a:xfrm>
          <a:prstGeom prst="rect">
            <a:avLst/>
          </a:prstGeom>
          <a:noFill/>
        </p:spPr>
        <p:txBody>
          <a:bodyPr wrap="square">
            <a:spAutoFit/>
          </a:bodyPr>
          <a:lstStyle/>
          <a:p>
            <a:r>
              <a:rPr lang="en-IN" sz="1013" dirty="0">
                <a:latin typeface="Calibri" panose="020F0502020204030204" pitchFamily="34" charset="0"/>
                <a:ea typeface="Calibri" panose="020F0502020204030204" pitchFamily="34" charset="0"/>
                <a:cs typeface="Calibri" panose="020F0502020204030204" pitchFamily="34" charset="0"/>
              </a:rPr>
              <a:t>🚀</a:t>
            </a:r>
          </a:p>
        </p:txBody>
      </p:sp>
      <p:sp>
        <p:nvSpPr>
          <p:cNvPr id="13" name="TextBox 12">
            <a:extLst>
              <a:ext uri="{FF2B5EF4-FFF2-40B4-BE49-F238E27FC236}">
                <a16:creationId xmlns:a16="http://schemas.microsoft.com/office/drawing/2014/main" id="{140E0315-77D0-F63C-ED82-2B99B5C69606}"/>
              </a:ext>
            </a:extLst>
          </p:cNvPr>
          <p:cNvSpPr txBox="1"/>
          <p:nvPr/>
        </p:nvSpPr>
        <p:spPr>
          <a:xfrm>
            <a:off x="5420361" y="1057339"/>
            <a:ext cx="434942" cy="248209"/>
          </a:xfrm>
          <a:prstGeom prst="rect">
            <a:avLst/>
          </a:prstGeom>
          <a:noFill/>
        </p:spPr>
        <p:txBody>
          <a:bodyPr wrap="square">
            <a:spAutoFit/>
          </a:bodyPr>
          <a:lstStyle/>
          <a:p>
            <a:r>
              <a:rPr lang="en-IN" sz="1013" dirty="0">
                <a:latin typeface="Calibri" panose="020F0502020204030204" pitchFamily="34" charset="0"/>
                <a:ea typeface="Calibri" panose="020F0502020204030204" pitchFamily="34" charset="0"/>
                <a:cs typeface="Calibri" panose="020F0502020204030204" pitchFamily="34" charset="0"/>
              </a:rPr>
              <a:t>✅</a:t>
            </a:r>
          </a:p>
        </p:txBody>
      </p:sp>
      <p:graphicFrame>
        <p:nvGraphicFramePr>
          <p:cNvPr id="14" name="Table 13">
            <a:extLst>
              <a:ext uri="{FF2B5EF4-FFF2-40B4-BE49-F238E27FC236}">
                <a16:creationId xmlns:a16="http://schemas.microsoft.com/office/drawing/2014/main" id="{68BF9F07-C3F8-4994-3EC3-BD82ED480088}"/>
              </a:ext>
            </a:extLst>
          </p:cNvPr>
          <p:cNvGraphicFramePr>
            <a:graphicFrameLocks noGrp="1"/>
          </p:cNvGraphicFramePr>
          <p:nvPr>
            <p:extLst>
              <p:ext uri="{D42A27DB-BD31-4B8C-83A1-F6EECF244321}">
                <p14:modId xmlns:p14="http://schemas.microsoft.com/office/powerpoint/2010/main" val="2377255515"/>
              </p:ext>
            </p:extLst>
          </p:nvPr>
        </p:nvGraphicFramePr>
        <p:xfrm>
          <a:off x="2082578" y="2590902"/>
          <a:ext cx="5232653" cy="1028182"/>
        </p:xfrm>
        <a:graphic>
          <a:graphicData uri="http://schemas.openxmlformats.org/drawingml/2006/table">
            <a:tbl>
              <a:tblPr firstRow="1" bandRow="1">
                <a:tableStyleId>{5C22544A-7EE6-4342-B048-85BDC9FD1C3A}</a:tableStyleId>
              </a:tblPr>
              <a:tblGrid>
                <a:gridCol w="1644059">
                  <a:extLst>
                    <a:ext uri="{9D8B030D-6E8A-4147-A177-3AD203B41FA5}">
                      <a16:colId xmlns:a16="http://schemas.microsoft.com/office/drawing/2014/main" val="973039702"/>
                    </a:ext>
                  </a:extLst>
                </a:gridCol>
                <a:gridCol w="1368842">
                  <a:extLst>
                    <a:ext uri="{9D8B030D-6E8A-4147-A177-3AD203B41FA5}">
                      <a16:colId xmlns:a16="http://schemas.microsoft.com/office/drawing/2014/main" val="2314222394"/>
                    </a:ext>
                  </a:extLst>
                </a:gridCol>
                <a:gridCol w="2219752">
                  <a:extLst>
                    <a:ext uri="{9D8B030D-6E8A-4147-A177-3AD203B41FA5}">
                      <a16:colId xmlns:a16="http://schemas.microsoft.com/office/drawing/2014/main" val="3225539016"/>
                    </a:ext>
                  </a:extLst>
                </a:gridCol>
              </a:tblGrid>
              <a:tr h="343863">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Metric</a:t>
                      </a:r>
                    </a:p>
                  </a:txBody>
                  <a:tcPr marL="68580" marR="68580" marT="34290" marB="34290"/>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Before AI</a:t>
                      </a:r>
                    </a:p>
                  </a:txBody>
                  <a:tcPr marL="68580" marR="68580" marT="34290" marB="34290"/>
                </a:tc>
                <a:tc>
                  <a:txBody>
                    <a:bodyPr/>
                    <a:lstStyle/>
                    <a:p>
                      <a:pPr algn="ctr"/>
                      <a:r>
                        <a:rPr lang="en-SG" sz="1000" dirty="0">
                          <a:latin typeface="Calibri" panose="020F0502020204030204" pitchFamily="34" charset="0"/>
                          <a:ea typeface="Calibri" panose="020F0502020204030204" pitchFamily="34" charset="0"/>
                          <a:cs typeface="Calibri" panose="020F0502020204030204" pitchFamily="34" charset="0"/>
                        </a:rPr>
                        <a:t>With AI</a:t>
                      </a:r>
                    </a:p>
                  </a:txBody>
                  <a:tcPr marL="68580" marR="68580" marT="34290" marB="34290"/>
                </a:tc>
                <a:extLst>
                  <a:ext uri="{0D108BD9-81ED-4DB2-BD59-A6C34878D82A}">
                    <a16:rowId xmlns:a16="http://schemas.microsoft.com/office/drawing/2014/main" val="2534260266"/>
                  </a:ext>
                </a:extLst>
              </a:tr>
              <a:tr h="280459">
                <a:tc>
                  <a:txBody>
                    <a:bodyPr/>
                    <a:lstStyle/>
                    <a:p>
                      <a:r>
                        <a:rPr lang="en-SG" sz="1100" dirty="0">
                          <a:latin typeface="Calibri" panose="020F0502020204030204" pitchFamily="34" charset="0"/>
                          <a:ea typeface="Calibri" panose="020F0502020204030204" pitchFamily="34" charset="0"/>
                          <a:cs typeface="Calibri" panose="020F0502020204030204" pitchFamily="34" charset="0"/>
                        </a:rPr>
                        <a:t>New Script Creation</a:t>
                      </a:r>
                    </a:p>
                  </a:txBody>
                  <a:tcPr marL="68580" marR="68580" marT="34290" marB="34290"/>
                </a:tc>
                <a:tc>
                  <a:txBody>
                    <a:bodyPr/>
                    <a:lstStyle/>
                    <a:p>
                      <a:r>
                        <a:rPr lang="en-SG" sz="1100" dirty="0">
                          <a:latin typeface="Calibri" panose="020F0502020204030204" pitchFamily="34" charset="0"/>
                          <a:ea typeface="Calibri" panose="020F0502020204030204" pitchFamily="34" charset="0"/>
                          <a:cs typeface="Calibri" panose="020F0502020204030204" pitchFamily="34" charset="0"/>
                        </a:rPr>
                        <a:t>3-4 Hours</a:t>
                      </a:r>
                    </a:p>
                  </a:txBody>
                  <a:tcPr marL="68580" marR="68580" marT="34290" marB="34290"/>
                </a:tc>
                <a:tc>
                  <a:txBody>
                    <a:bodyPr/>
                    <a:lstStyle/>
                    <a:p>
                      <a:r>
                        <a:rPr lang="en-US" sz="1100" kern="1200" dirty="0">
                          <a:solidFill>
                            <a:schemeClr val="dk1"/>
                          </a:solidFill>
                          <a:latin typeface="Calibri" panose="020F0502020204030204" pitchFamily="34" charset="0"/>
                          <a:ea typeface="Calibri" panose="020F0502020204030204" pitchFamily="34" charset="0"/>
                          <a:cs typeface="Calibri" panose="020F0502020204030204" pitchFamily="34" charset="0"/>
                        </a:rPr>
                        <a:t>1–2 hours</a:t>
                      </a:r>
                      <a:endParaRPr lang="en-SG" sz="1100" kern="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tc>
                <a:extLst>
                  <a:ext uri="{0D108BD9-81ED-4DB2-BD59-A6C34878D82A}">
                    <a16:rowId xmlns:a16="http://schemas.microsoft.com/office/drawing/2014/main" val="1029902065"/>
                  </a:ext>
                </a:extLst>
              </a:tr>
              <a:tr h="280459">
                <a:tc>
                  <a:txBody>
                    <a:bodyPr/>
                    <a:lstStyle/>
                    <a:p>
                      <a:r>
                        <a:rPr lang="en-SG" sz="1100" dirty="0">
                          <a:latin typeface="Calibri" panose="020F0502020204030204" pitchFamily="34" charset="0"/>
                          <a:ea typeface="Calibri" panose="020F0502020204030204" pitchFamily="34" charset="0"/>
                          <a:cs typeface="Calibri" panose="020F0502020204030204" pitchFamily="34" charset="0"/>
                        </a:rPr>
                        <a:t>Maintenance Effort</a:t>
                      </a:r>
                    </a:p>
                  </a:txBody>
                  <a:tcPr marL="68580" marR="68580" marT="34290" marB="34290"/>
                </a:tc>
                <a:tc>
                  <a:txBody>
                    <a:bodyPr/>
                    <a:lstStyle/>
                    <a:p>
                      <a:r>
                        <a:rPr lang="en-SG" sz="1100" dirty="0">
                          <a:latin typeface="Calibri" panose="020F0502020204030204" pitchFamily="34" charset="0"/>
                          <a:ea typeface="Calibri" panose="020F0502020204030204" pitchFamily="34" charset="0"/>
                          <a:cs typeface="Calibri" panose="020F0502020204030204" pitchFamily="34" charset="0"/>
                        </a:rPr>
                        <a:t>High</a:t>
                      </a:r>
                    </a:p>
                  </a:txBody>
                  <a:tcPr marL="68580" marR="68580" marT="34290" marB="34290"/>
                </a:tc>
                <a:tc>
                  <a:txBody>
                    <a:bodyPr/>
                    <a:lstStyle/>
                    <a:p>
                      <a:pPr marL="0" algn="l" defTabSz="914400" rtl="0" eaLnBrk="1" latinLnBrk="0" hangingPunct="1"/>
                      <a:r>
                        <a:rPr lang="en-US" sz="1100" kern="1200" dirty="0">
                          <a:solidFill>
                            <a:schemeClr val="dk1"/>
                          </a:solidFill>
                          <a:latin typeface="Calibri" panose="020F0502020204030204" pitchFamily="34" charset="0"/>
                          <a:ea typeface="Calibri" panose="020F0502020204030204" pitchFamily="34" charset="0"/>
                          <a:cs typeface="Calibri" panose="020F0502020204030204" pitchFamily="34" charset="0"/>
                        </a:rPr>
                        <a:t>Reduced by up to 70% through standardized, reusable,</a:t>
                      </a:r>
                      <a:endParaRPr lang="en-SG" sz="1100" kern="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tc>
                <a:extLst>
                  <a:ext uri="{0D108BD9-81ED-4DB2-BD59-A6C34878D82A}">
                    <a16:rowId xmlns:a16="http://schemas.microsoft.com/office/drawing/2014/main" val="293120325"/>
                  </a:ext>
                </a:extLst>
              </a:tr>
            </a:tbl>
          </a:graphicData>
        </a:graphic>
      </p:graphicFrame>
    </p:spTree>
    <p:extLst>
      <p:ext uri="{BB962C8B-B14F-4D97-AF65-F5344CB8AC3E}">
        <p14:creationId xmlns:p14="http://schemas.microsoft.com/office/powerpoint/2010/main" val="2939225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4F05C75-28F2-36B4-18E0-9EC9AD1C588C}"/>
              </a:ext>
            </a:extLst>
          </p:cNvPr>
          <p:cNvSpPr>
            <a:spLocks noGrp="1"/>
          </p:cNvSpPr>
          <p:nvPr>
            <p:ph type="body" sz="quarter" idx="22"/>
          </p:nvPr>
        </p:nvSpPr>
        <p:spPr/>
        <p:txBody>
          <a:bodyPr/>
          <a:lstStyle/>
          <a:p>
            <a:r>
              <a:rPr lang="en-US">
                <a:solidFill>
                  <a:srgbClr val="8589A1"/>
                </a:solidFill>
              </a:rPr>
              <a:t>Disclaimer: This material that follows is a presentation of general background information about Singtel’s activities current at the date of the presentation. The information contained in this document is intended only for use during the presentation and should not be disseminated or distributed to parties outside the presentation. It is information given in summary form and does not purport to be complete. It is not to be relied upon as to advice to investors or potential investors and does not take into Singapore Telecommunications Limited Company registration number: 199201624D.</a:t>
            </a:r>
          </a:p>
        </p:txBody>
      </p:sp>
    </p:spTree>
    <p:extLst>
      <p:ext uri="{BB962C8B-B14F-4D97-AF65-F5344CB8AC3E}">
        <p14:creationId xmlns:p14="http://schemas.microsoft.com/office/powerpoint/2010/main" val="4631660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ingtel Red Base">
  <a:themeElements>
    <a:clrScheme name="Primary Red Base">
      <a:dk1>
        <a:srgbClr val="000000"/>
      </a:dk1>
      <a:lt1>
        <a:srgbClr val="FFFFFF"/>
      </a:lt1>
      <a:dk2>
        <a:srgbClr val="000000"/>
      </a:dk2>
      <a:lt2>
        <a:srgbClr val="F8F8F8"/>
      </a:lt2>
      <a:accent1>
        <a:srgbClr val="810F25"/>
      </a:accent1>
      <a:accent2>
        <a:srgbClr val="D61035"/>
      </a:accent2>
      <a:accent3>
        <a:srgbClr val="EC1C3E"/>
      </a:accent3>
      <a:accent4>
        <a:srgbClr val="1D3444"/>
      </a:accent4>
      <a:accent5>
        <a:srgbClr val="8589A1"/>
      </a:accent5>
      <a:accent6>
        <a:srgbClr val="C0C2C4"/>
      </a:accent6>
      <a:hlink>
        <a:srgbClr val="00B0F0"/>
      </a:hlink>
      <a:folHlink>
        <a:srgbClr val="BDBDBD"/>
      </a:folHlink>
    </a:clrScheme>
    <a:fontScheme name="Singtel 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SG Red Template.pptx" id="{D1FC789D-992B-478A-AEA8-5FC64494AE24}" vid="{BCC5481A-2FE6-428E-B966-96010D08F92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73E504031F3C4082630FFBD2690D84" ma:contentTypeVersion="9" ma:contentTypeDescription="Create a new document." ma:contentTypeScope="" ma:versionID="1b3647e8673ef66c0970281e45898b7a">
  <xsd:schema xmlns:xsd="http://www.w3.org/2001/XMLSchema" xmlns:xs="http://www.w3.org/2001/XMLSchema" xmlns:p="http://schemas.microsoft.com/office/2006/metadata/properties" xmlns:ns3="5470b20b-ef29-41c8-b16d-10e63aa6f248" targetNamespace="http://schemas.microsoft.com/office/2006/metadata/properties" ma:root="true" ma:fieldsID="56fda3b53d49f3626fdfdd42945f7451" ns3:_="">
    <xsd:import namespace="5470b20b-ef29-41c8-b16d-10e63aa6f24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70b20b-ef29-41c8-b16d-10e63aa6f24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470b20b-ef29-41c8-b16d-10e63aa6f248" xsi:nil="true"/>
  </documentManagement>
</p:properties>
</file>

<file path=customXml/itemProps1.xml><?xml version="1.0" encoding="utf-8"?>
<ds:datastoreItem xmlns:ds="http://schemas.openxmlformats.org/officeDocument/2006/customXml" ds:itemID="{729855AB-B73C-40F5-9BD6-0BF93864A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70b20b-ef29-41c8-b16d-10e63aa6f2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600E2E-069C-4412-8B5C-452051E27DE8}">
  <ds:schemaRefs>
    <ds:schemaRef ds:uri="http://schemas.microsoft.com/sharepoint/v3/contenttype/forms"/>
  </ds:schemaRefs>
</ds:datastoreItem>
</file>

<file path=customXml/itemProps3.xml><?xml version="1.0" encoding="utf-8"?>
<ds:datastoreItem xmlns:ds="http://schemas.openxmlformats.org/officeDocument/2006/customXml" ds:itemID="{0106C3DF-ECA3-43A5-99FB-9B5C3421D9C0}">
  <ds:schemaRefs>
    <ds:schemaRef ds:uri="5470b20b-ef29-41c8-b16d-10e63aa6f248"/>
    <ds:schemaRef ds:uri="http://purl.org/dc/dcmitype/"/>
    <ds:schemaRef ds:uri="http://purl.org/dc/term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eb276ac-6e9f-498e-8e31-019ee666decd}" enabled="0" method="" siteId="{beb276ac-6e9f-498e-8e31-019ee666decd}" removed="1"/>
</clbl:labelList>
</file>

<file path=docProps/app.xml><?xml version="1.0" encoding="utf-8"?>
<Properties xmlns="http://schemas.openxmlformats.org/officeDocument/2006/extended-properties" xmlns:vt="http://schemas.openxmlformats.org/officeDocument/2006/docPropsVTypes">
  <TotalTime>8936</TotalTime>
  <Words>871</Words>
  <Application>Microsoft Office PowerPoint</Application>
  <PresentationFormat>On-screen Show (16:9)</PresentationFormat>
  <Paragraphs>199</Paragraphs>
  <Slides>16</Slides>
  <Notes>15</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8" baseType="lpstr">
      <vt:lpstr>Aptos</vt:lpstr>
      <vt:lpstr>Aptos Display</vt:lpstr>
      <vt:lpstr>Arial</vt:lpstr>
      <vt:lpstr>Avenir Next LT Pro</vt:lpstr>
      <vt:lpstr>Calibri</vt:lpstr>
      <vt:lpstr>Graphik</vt:lpstr>
      <vt:lpstr>Segoe UI</vt:lpstr>
      <vt:lpstr>Ubuntu</vt:lpstr>
      <vt:lpstr>Wingdings</vt:lpstr>
      <vt:lpstr>Singtel Red Base</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Thought Leadership Program</dc:title>
  <dc:subject>PptxGenJS Presentation</dc:subject>
  <dc:creator>PptxGenJS</dc:creator>
  <cp:lastModifiedBy>Gaurav Rohra</cp:lastModifiedBy>
  <cp:revision>45</cp:revision>
  <dcterms:created xsi:type="dcterms:W3CDTF">2026-06-16T01:44:53Z</dcterms:created>
  <dcterms:modified xsi:type="dcterms:W3CDTF">2026-08-09T15:09:35Z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0x010100B073E504031F3C4082630FFBD2690D84</vt:lpwstr>
  </property>
</Properties>
</file>